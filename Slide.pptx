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8288000" cy="10287000"/>
  <p:notesSz cx="6858000" cy="9144000"/>
  <p:embeddedFontLst>
    <p:embeddedFont>
      <p:font typeface="Montserrat" panose="00000500000000000000" pitchFamily="2" charset="0"/>
      <p:regular r:id="rId27"/>
    </p:embeddedFont>
    <p:embeddedFont>
      <p:font typeface="Montserrat Bold" panose="020B0604020202020204" charset="0"/>
      <p:regular r:id="rId28"/>
    </p:embeddedFont>
    <p:embeddedFont>
      <p:font typeface="Open Sans" panose="020B0606030504020204" pitchFamily="34" charset="0"/>
      <p:regular r:id="rId29"/>
    </p:embeddedFont>
    <p:embeddedFont>
      <p:font typeface="Open Sans Bold" panose="020B0604020202020204" charset="0"/>
      <p:regular r:id="rId30"/>
    </p:embeddedFont>
    <p:embeddedFont>
      <p:font typeface="Open Sans Italics"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0" d="100"/>
          <a:sy n="70" d="100"/>
        </p:scale>
        <p:origin x="77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9.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6.png"/><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3.png"/><Relationship Id="rId7" Type="http://schemas.openxmlformats.org/officeDocument/2006/relationships/image" Target="../media/image50.png"/><Relationship Id="rId12" Type="http://schemas.openxmlformats.org/officeDocument/2006/relationships/image" Target="../media/image55.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5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sp>
        <p:nvSpPr>
          <p:cNvPr id="4" name="TextBox 4"/>
          <p:cNvSpPr txBox="1"/>
          <p:nvPr/>
        </p:nvSpPr>
        <p:spPr>
          <a:xfrm>
            <a:off x="1785938" y="5183981"/>
            <a:ext cx="15644812" cy="609600"/>
          </a:xfrm>
          <a:prstGeom prst="rect">
            <a:avLst/>
          </a:prstGeom>
        </p:spPr>
        <p:txBody>
          <a:bodyPr lIns="0" tIns="0" rIns="0" bIns="0" rtlCol="0" anchor="t">
            <a:spAutoFit/>
          </a:bodyPr>
          <a:lstStyle/>
          <a:p>
            <a:pPr algn="l">
              <a:lnSpc>
                <a:spcPts val="4320"/>
              </a:lnSpc>
            </a:pPr>
            <a:r>
              <a:rPr lang="en-US" sz="2250">
                <a:solidFill>
                  <a:srgbClr val="FFFFFF"/>
                </a:solidFill>
                <a:latin typeface="Open Sans"/>
                <a:ea typeface="Open Sans"/>
                <a:cs typeface="Open Sans"/>
                <a:sym typeface="Open Sans"/>
              </a:rPr>
              <a:t>Nhóm thực hiện:</a:t>
            </a:r>
          </a:p>
        </p:txBody>
      </p:sp>
      <p:sp>
        <p:nvSpPr>
          <p:cNvPr id="5" name="TextBox 5"/>
          <p:cNvSpPr txBox="1"/>
          <p:nvPr/>
        </p:nvSpPr>
        <p:spPr>
          <a:xfrm>
            <a:off x="1785938" y="5865019"/>
            <a:ext cx="15644698" cy="454723"/>
          </a:xfrm>
          <a:prstGeom prst="rect">
            <a:avLst/>
          </a:prstGeom>
        </p:spPr>
        <p:txBody>
          <a:bodyPr lIns="0" tIns="0" rIns="0" bIns="0" rtlCol="0" anchor="t">
            <a:spAutoFit/>
          </a:bodyPr>
          <a:lstStyle/>
          <a:p>
            <a:pPr algn="l">
              <a:lnSpc>
                <a:spcPts val="3887"/>
              </a:lnSpc>
            </a:pPr>
            <a:r>
              <a:rPr lang="en-US" sz="2025">
                <a:solidFill>
                  <a:srgbClr val="FFFFFF"/>
                </a:solidFill>
                <a:latin typeface="Open Sans"/>
                <a:ea typeface="Open Sans"/>
                <a:cs typeface="Open Sans"/>
                <a:sym typeface="Open Sans"/>
              </a:rPr>
              <a:t>Phạm Hùng Quốc Việt — MSSV: 23521783 </a:t>
            </a:r>
          </a:p>
        </p:txBody>
      </p:sp>
      <p:sp>
        <p:nvSpPr>
          <p:cNvPr id="6" name="TextBox 6"/>
          <p:cNvSpPr txBox="1"/>
          <p:nvPr/>
        </p:nvSpPr>
        <p:spPr>
          <a:xfrm>
            <a:off x="1785938" y="6347889"/>
            <a:ext cx="15644812" cy="443550"/>
          </a:xfrm>
          <a:prstGeom prst="rect">
            <a:avLst/>
          </a:prstGeom>
        </p:spPr>
        <p:txBody>
          <a:bodyPr lIns="0" tIns="0" rIns="0" bIns="0" rtlCol="0" anchor="t">
            <a:spAutoFit/>
          </a:bodyPr>
          <a:lstStyle/>
          <a:p>
            <a:pPr algn="l">
              <a:lnSpc>
                <a:spcPts val="3887"/>
              </a:lnSpc>
            </a:pPr>
            <a:r>
              <a:rPr lang="en-US" sz="2025">
                <a:solidFill>
                  <a:srgbClr val="FFFFFF"/>
                </a:solidFill>
                <a:latin typeface="Open Sans"/>
                <a:ea typeface="Open Sans"/>
                <a:cs typeface="Open Sans"/>
                <a:sym typeface="Open Sans"/>
              </a:rPr>
              <a:t>Lê Ngô Minh Hoàng — MSSV: 23520523</a:t>
            </a:r>
          </a:p>
        </p:txBody>
      </p:sp>
      <p:sp>
        <p:nvSpPr>
          <p:cNvPr id="7" name="TextBox 7"/>
          <p:cNvSpPr txBox="1"/>
          <p:nvPr/>
        </p:nvSpPr>
        <p:spPr>
          <a:xfrm>
            <a:off x="1785938" y="7045071"/>
            <a:ext cx="15644812" cy="554307"/>
          </a:xfrm>
          <a:prstGeom prst="rect">
            <a:avLst/>
          </a:prstGeom>
        </p:spPr>
        <p:txBody>
          <a:bodyPr lIns="0" tIns="0" rIns="0" bIns="0" rtlCol="0" anchor="t">
            <a:spAutoFit/>
          </a:bodyPr>
          <a:lstStyle/>
          <a:p>
            <a:pPr algn="l">
              <a:lnSpc>
                <a:spcPts val="3887"/>
              </a:lnSpc>
            </a:pPr>
            <a:r>
              <a:rPr lang="en-US" sz="2025">
                <a:solidFill>
                  <a:srgbClr val="FFFFFF"/>
                </a:solidFill>
                <a:latin typeface="Open Sans"/>
                <a:ea typeface="Open Sans"/>
                <a:cs typeface="Open Sans"/>
                <a:sym typeface="Open Sans"/>
              </a:rPr>
              <a:t>Cán bộ hướng dẫn: ThS. Nguyễn Hồ Duy Tri</a:t>
            </a:r>
          </a:p>
        </p:txBody>
      </p:sp>
      <p:sp>
        <p:nvSpPr>
          <p:cNvPr id="8" name="TextBox 8"/>
          <p:cNvSpPr txBox="1"/>
          <p:nvPr/>
        </p:nvSpPr>
        <p:spPr>
          <a:xfrm>
            <a:off x="1785938" y="8018488"/>
            <a:ext cx="15644698" cy="581920"/>
          </a:xfrm>
          <a:prstGeom prst="rect">
            <a:avLst/>
          </a:prstGeom>
        </p:spPr>
        <p:txBody>
          <a:bodyPr lIns="0" tIns="0" rIns="0" bIns="0" rtlCol="0" anchor="t">
            <a:spAutoFit/>
          </a:bodyPr>
          <a:lstStyle/>
          <a:p>
            <a:pPr algn="l">
              <a:lnSpc>
                <a:spcPts val="2303"/>
              </a:lnSpc>
            </a:pPr>
            <a:r>
              <a:rPr lang="en-US" sz="1800">
                <a:solidFill>
                  <a:srgbClr val="FFFFFF"/>
                </a:solidFill>
                <a:latin typeface="Open Sans"/>
                <a:ea typeface="Open Sans"/>
                <a:cs typeface="Open Sans"/>
                <a:sym typeface="Open Sans"/>
              </a:rPr>
              <a:t>Trường ĐH Công Nghệ Thông Tin — ĐHQG TP.HCM</a:t>
            </a:r>
          </a:p>
          <a:p>
            <a:pPr algn="l">
              <a:lnSpc>
                <a:spcPts val="2303"/>
              </a:lnSpc>
            </a:pPr>
            <a:r>
              <a:rPr lang="en-US" sz="1800">
                <a:solidFill>
                  <a:srgbClr val="FFFFFF"/>
                </a:solidFill>
                <a:latin typeface="Open Sans"/>
                <a:ea typeface="Open Sans"/>
                <a:cs typeface="Open Sans"/>
                <a:sym typeface="Open Sans"/>
              </a:rPr>
              <a:t> Tháng 6/2026</a:t>
            </a:r>
          </a:p>
        </p:txBody>
      </p:sp>
      <p:grpSp>
        <p:nvGrpSpPr>
          <p:cNvPr id="9" name="Group 9"/>
          <p:cNvGrpSpPr>
            <a:grpSpLocks noChangeAspect="1"/>
          </p:cNvGrpSpPr>
          <p:nvPr/>
        </p:nvGrpSpPr>
        <p:grpSpPr>
          <a:xfrm>
            <a:off x="8875361" y="4770477"/>
            <a:ext cx="9146584" cy="5246370"/>
            <a:chOff x="0" y="0"/>
            <a:chExt cx="7981950" cy="4578350"/>
          </a:xfrm>
        </p:grpSpPr>
        <p:sp>
          <p:nvSpPr>
            <p:cNvPr id="10" name="Freeform 10"/>
            <p:cNvSpPr/>
            <p:nvPr/>
          </p:nvSpPr>
          <p:spPr>
            <a:xfrm>
              <a:off x="765810" y="21590"/>
              <a:ext cx="6451600" cy="4326890"/>
            </a:xfrm>
            <a:custGeom>
              <a:avLst/>
              <a:gdLst/>
              <a:ahLst/>
              <a:cxnLst/>
              <a:rect l="l" t="t" r="r" b="b"/>
              <a:pathLst>
                <a:path w="6451600" h="432689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242424"/>
            </a:solidFill>
          </p:spPr>
          <p:txBody>
            <a:bodyPr/>
            <a:lstStyle/>
            <a:p>
              <a:endParaRPr lang="vi-VN"/>
            </a:p>
          </p:txBody>
        </p:sp>
        <p:sp>
          <p:nvSpPr>
            <p:cNvPr id="11" name="Freeform 11"/>
            <p:cNvSpPr/>
            <p:nvPr/>
          </p:nvSpPr>
          <p:spPr>
            <a:xfrm>
              <a:off x="0" y="0"/>
              <a:ext cx="7981950" cy="4542790"/>
            </a:xfrm>
            <a:custGeom>
              <a:avLst/>
              <a:gdLst/>
              <a:ahLst/>
              <a:cxnLst/>
              <a:rect l="l" t="t" r="r" b="b"/>
              <a:pathLst>
                <a:path w="7981950" h="454279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p:spPr>
          <p:txBody>
            <a:bodyPr/>
            <a:lstStyle/>
            <a:p>
              <a:endParaRPr lang="vi-VN"/>
            </a:p>
          </p:txBody>
        </p:sp>
        <p:sp>
          <p:nvSpPr>
            <p:cNvPr id="12" name="Freeform 12"/>
            <p:cNvSpPr/>
            <p:nvPr/>
          </p:nvSpPr>
          <p:spPr>
            <a:xfrm>
              <a:off x="3460750" y="4349750"/>
              <a:ext cx="1059180" cy="96520"/>
            </a:xfrm>
            <a:custGeom>
              <a:avLst/>
              <a:gdLst/>
              <a:ahLst/>
              <a:cxnLst/>
              <a:rect l="l" t="t" r="r" b="b"/>
              <a:pathLst>
                <a:path w="1059180" h="9652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p:spPr>
          <p:txBody>
            <a:bodyPr/>
            <a:lstStyle/>
            <a:p>
              <a:endParaRPr lang="vi-VN"/>
            </a:p>
          </p:txBody>
        </p:sp>
        <p:sp>
          <p:nvSpPr>
            <p:cNvPr id="13" name="Freeform 13"/>
            <p:cNvSpPr/>
            <p:nvPr/>
          </p:nvSpPr>
          <p:spPr>
            <a:xfrm>
              <a:off x="163830" y="4542790"/>
              <a:ext cx="7654290" cy="35560"/>
            </a:xfrm>
            <a:custGeom>
              <a:avLst/>
              <a:gdLst/>
              <a:ahLst/>
              <a:cxnLst/>
              <a:rect l="l" t="t" r="r" b="b"/>
              <a:pathLst>
                <a:path w="7654290" h="3556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p:spPr>
          <p:txBody>
            <a:bodyPr/>
            <a:lstStyle/>
            <a:p>
              <a:endParaRPr lang="vi-VN"/>
            </a:p>
          </p:txBody>
        </p:sp>
        <p:sp>
          <p:nvSpPr>
            <p:cNvPr id="14" name="Freeform 14"/>
            <p:cNvSpPr/>
            <p:nvPr/>
          </p:nvSpPr>
          <p:spPr>
            <a:xfrm>
              <a:off x="962660" y="276860"/>
              <a:ext cx="6055360" cy="3789680"/>
            </a:xfrm>
            <a:custGeom>
              <a:avLst/>
              <a:gdLst/>
              <a:ahLst/>
              <a:cxnLst/>
              <a:rect l="l" t="t" r="r" b="b"/>
              <a:pathLst>
                <a:path w="6055360" h="3789680">
                  <a:moveTo>
                    <a:pt x="0" y="0"/>
                  </a:moveTo>
                  <a:lnTo>
                    <a:pt x="6055360" y="0"/>
                  </a:lnTo>
                  <a:lnTo>
                    <a:pt x="6055360" y="3789680"/>
                  </a:lnTo>
                  <a:lnTo>
                    <a:pt x="0" y="3789680"/>
                  </a:lnTo>
                  <a:close/>
                </a:path>
              </a:pathLst>
            </a:custGeom>
            <a:blipFill>
              <a:blip r:embed="rId4"/>
              <a:stretch>
                <a:fillRect t="-332" b="-332"/>
              </a:stretch>
            </a:blipFill>
          </p:spPr>
          <p:txBody>
            <a:bodyPr/>
            <a:lstStyle/>
            <a:p>
              <a:endParaRPr lang="vi-VN"/>
            </a:p>
          </p:txBody>
        </p:sp>
      </p:grpSp>
      <p:sp>
        <p:nvSpPr>
          <p:cNvPr id="15" name="TextBox 15"/>
          <p:cNvSpPr txBox="1"/>
          <p:nvPr/>
        </p:nvSpPr>
        <p:spPr>
          <a:xfrm>
            <a:off x="1785938" y="1199036"/>
            <a:ext cx="16427053" cy="1622974"/>
          </a:xfrm>
          <a:prstGeom prst="rect">
            <a:avLst/>
          </a:prstGeom>
        </p:spPr>
        <p:txBody>
          <a:bodyPr lIns="0" tIns="0" rIns="0" bIns="0" rtlCol="0" anchor="t">
            <a:spAutoFit/>
          </a:bodyPr>
          <a:lstStyle/>
          <a:p>
            <a:pPr algn="l">
              <a:lnSpc>
                <a:spcPts val="7126"/>
              </a:lnSpc>
            </a:pPr>
            <a:r>
              <a:rPr lang="en-US" sz="4950" b="1">
                <a:solidFill>
                  <a:srgbClr val="FFFFFF"/>
                </a:solidFill>
                <a:latin typeface="Montserrat Bold"/>
                <a:ea typeface="Montserrat Bold"/>
                <a:cs typeface="Montserrat Bold"/>
                <a:sym typeface="Montserrat Bold"/>
              </a:rPr>
              <a:t>PHÁT HIỆN BẤT THƯỜNG THỜI GIAN THỰC</a:t>
            </a:r>
          </a:p>
          <a:p>
            <a:pPr algn="l">
              <a:lnSpc>
                <a:spcPts val="7126"/>
              </a:lnSpc>
            </a:pPr>
            <a:r>
              <a:rPr lang="en-US" sz="4950" b="1">
                <a:solidFill>
                  <a:srgbClr val="FFFFFF"/>
                </a:solidFill>
                <a:latin typeface="Montserrat Bold"/>
                <a:ea typeface="Montserrat Bold"/>
                <a:cs typeface="Montserrat Bold"/>
                <a:sym typeface="Montserrat Bold"/>
              </a:rPr>
              <a:t> TRONG DỮ LIỆU TAXI NYC</a:t>
            </a:r>
          </a:p>
        </p:txBody>
      </p:sp>
      <p:sp>
        <p:nvSpPr>
          <p:cNvPr id="16" name="TextBox 16"/>
          <p:cNvSpPr txBox="1"/>
          <p:nvPr/>
        </p:nvSpPr>
        <p:spPr>
          <a:xfrm>
            <a:off x="1785938" y="2917250"/>
            <a:ext cx="15644812" cy="739007"/>
          </a:xfrm>
          <a:prstGeom prst="rect">
            <a:avLst/>
          </a:prstGeom>
        </p:spPr>
        <p:txBody>
          <a:bodyPr lIns="0" tIns="0" rIns="0" bIns="0" rtlCol="0" anchor="t">
            <a:spAutoFit/>
          </a:bodyPr>
          <a:lstStyle/>
          <a:p>
            <a:pPr algn="l">
              <a:lnSpc>
                <a:spcPts val="5182"/>
              </a:lnSpc>
            </a:pPr>
            <a:r>
              <a:rPr lang="en-US" sz="2700">
                <a:solidFill>
                  <a:srgbClr val="48A6D8"/>
                </a:solidFill>
                <a:latin typeface="Open Sans"/>
                <a:ea typeface="Open Sans"/>
                <a:cs typeface="Open Sans"/>
                <a:sym typeface="Open Sans"/>
              </a:rPr>
              <a:t>Sử dụng Kiến trúc Streaming Đa luồng &amp; Mô hình Học máy Kết hợp</a:t>
            </a:r>
          </a:p>
        </p:txBody>
      </p:sp>
      <p:sp>
        <p:nvSpPr>
          <p:cNvPr id="17" name="TextBox 17"/>
          <p:cNvSpPr txBox="1"/>
          <p:nvPr/>
        </p:nvSpPr>
        <p:spPr>
          <a:xfrm>
            <a:off x="1785938" y="3799132"/>
            <a:ext cx="15644812" cy="965749"/>
          </a:xfrm>
          <a:prstGeom prst="rect">
            <a:avLst/>
          </a:prstGeom>
        </p:spPr>
        <p:txBody>
          <a:bodyPr lIns="0" tIns="0" rIns="0" bIns="0" rtlCol="0" anchor="t">
            <a:spAutoFit/>
          </a:bodyPr>
          <a:lstStyle/>
          <a:p>
            <a:pPr algn="l">
              <a:lnSpc>
                <a:spcPts val="3887"/>
              </a:lnSpc>
            </a:pPr>
            <a:r>
              <a:rPr lang="en-US" sz="2025" i="1">
                <a:solidFill>
                  <a:srgbClr val="CBD5E1"/>
                </a:solidFill>
                <a:latin typeface="Open Sans Italics"/>
                <a:ea typeface="Open Sans Italics"/>
                <a:cs typeface="Open Sans Italics"/>
                <a:sym typeface="Open Sans Italics"/>
              </a:rPr>
              <a:t>Real-Time Anomaly Detection in NYC Taxi Data Using a Multi-Stream Streaming Architecture and a Hybrid Machine Learning Model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grpSp>
        <p:nvGrpSpPr>
          <p:cNvPr id="4" name="Group 4"/>
          <p:cNvGrpSpPr/>
          <p:nvPr/>
        </p:nvGrpSpPr>
        <p:grpSpPr>
          <a:xfrm>
            <a:off x="1128936" y="8869277"/>
            <a:ext cx="7159850" cy="1318854"/>
            <a:chOff x="0" y="0"/>
            <a:chExt cx="13223697" cy="2435822"/>
          </a:xfrm>
        </p:grpSpPr>
        <p:sp>
          <p:nvSpPr>
            <p:cNvPr id="5" name="Freeform 5" descr="image.png"/>
            <p:cNvSpPr/>
            <p:nvPr/>
          </p:nvSpPr>
          <p:spPr>
            <a:xfrm>
              <a:off x="0" y="0"/>
              <a:ext cx="13223697" cy="2435812"/>
            </a:xfrm>
            <a:custGeom>
              <a:avLst/>
              <a:gdLst/>
              <a:ahLst/>
              <a:cxnLst/>
              <a:rect l="l" t="t" r="r" b="b"/>
              <a:pathLst>
                <a:path w="13223697" h="2435812">
                  <a:moveTo>
                    <a:pt x="0" y="0"/>
                  </a:moveTo>
                  <a:lnTo>
                    <a:pt x="13223697" y="0"/>
                  </a:lnTo>
                  <a:lnTo>
                    <a:pt x="13223697" y="2435812"/>
                  </a:lnTo>
                  <a:lnTo>
                    <a:pt x="0" y="2435812"/>
                  </a:lnTo>
                  <a:lnTo>
                    <a:pt x="0" y="0"/>
                  </a:lnTo>
                  <a:close/>
                </a:path>
              </a:pathLst>
            </a:custGeom>
            <a:blipFill>
              <a:blip r:embed="rId4"/>
              <a:stretch>
                <a:fillRect t="-25899" b="-27673"/>
              </a:stretch>
            </a:blipFill>
          </p:spPr>
          <p:txBody>
            <a:bodyPr/>
            <a:lstStyle/>
            <a:p>
              <a:endParaRPr lang="vi-VN"/>
            </a:p>
          </p:txBody>
        </p:sp>
      </p:grpSp>
      <p:grpSp>
        <p:nvGrpSpPr>
          <p:cNvPr id="6" name="Group 6"/>
          <p:cNvGrpSpPr/>
          <p:nvPr/>
        </p:nvGrpSpPr>
        <p:grpSpPr>
          <a:xfrm>
            <a:off x="857250" y="2114550"/>
            <a:ext cx="7929562" cy="28575"/>
            <a:chOff x="0" y="0"/>
            <a:chExt cx="10572750" cy="38100"/>
          </a:xfrm>
        </p:grpSpPr>
        <p:sp>
          <p:nvSpPr>
            <p:cNvPr id="7" name="Freeform 7"/>
            <p:cNvSpPr/>
            <p:nvPr/>
          </p:nvSpPr>
          <p:spPr>
            <a:xfrm>
              <a:off x="0" y="0"/>
              <a:ext cx="10572750" cy="38100"/>
            </a:xfrm>
            <a:custGeom>
              <a:avLst/>
              <a:gdLst/>
              <a:ahLst/>
              <a:cxnLst/>
              <a:rect l="l" t="t" r="r" b="b"/>
              <a:pathLst>
                <a:path w="10572750" h="38100">
                  <a:moveTo>
                    <a:pt x="0" y="0"/>
                  </a:moveTo>
                  <a:lnTo>
                    <a:pt x="10572750" y="0"/>
                  </a:lnTo>
                  <a:lnTo>
                    <a:pt x="10572750" y="38100"/>
                  </a:lnTo>
                  <a:lnTo>
                    <a:pt x="0" y="38100"/>
                  </a:lnTo>
                  <a:close/>
                </a:path>
              </a:pathLst>
            </a:custGeom>
            <a:solidFill>
              <a:srgbClr val="48A6D8"/>
            </a:solidFill>
          </p:spPr>
          <p:txBody>
            <a:bodyPr/>
            <a:lstStyle/>
            <a:p>
              <a:endParaRPr lang="vi-VN"/>
            </a:p>
          </p:txBody>
        </p:sp>
      </p:grpSp>
      <p:grpSp>
        <p:nvGrpSpPr>
          <p:cNvPr id="8" name="Group 8"/>
          <p:cNvGrpSpPr/>
          <p:nvPr/>
        </p:nvGrpSpPr>
        <p:grpSpPr>
          <a:xfrm>
            <a:off x="9501188" y="0"/>
            <a:ext cx="8786812" cy="10287000"/>
            <a:chOff x="0" y="0"/>
            <a:chExt cx="11715750" cy="13716000"/>
          </a:xfrm>
        </p:grpSpPr>
        <p:sp>
          <p:nvSpPr>
            <p:cNvPr id="9" name="Freeform 9"/>
            <p:cNvSpPr/>
            <p:nvPr/>
          </p:nvSpPr>
          <p:spPr>
            <a:xfrm>
              <a:off x="0" y="0"/>
              <a:ext cx="11715750" cy="13716000"/>
            </a:xfrm>
            <a:custGeom>
              <a:avLst/>
              <a:gdLst/>
              <a:ahLst/>
              <a:cxnLst/>
              <a:rect l="l" t="t" r="r" b="b"/>
              <a:pathLst>
                <a:path w="11715750" h="13716000">
                  <a:moveTo>
                    <a:pt x="0" y="0"/>
                  </a:moveTo>
                  <a:lnTo>
                    <a:pt x="11715750" y="0"/>
                  </a:lnTo>
                  <a:lnTo>
                    <a:pt x="11715750" y="13716000"/>
                  </a:lnTo>
                  <a:lnTo>
                    <a:pt x="0" y="13716000"/>
                  </a:lnTo>
                  <a:lnTo>
                    <a:pt x="0" y="0"/>
                  </a:lnTo>
                  <a:close/>
                </a:path>
              </a:pathLst>
            </a:custGeom>
            <a:blipFill>
              <a:blip r:embed="rId5"/>
              <a:stretch>
                <a:fillRect l="-37531" r="-37531"/>
              </a:stretch>
            </a:blipFill>
          </p:spPr>
          <p:txBody>
            <a:bodyPr/>
            <a:lstStyle/>
            <a:p>
              <a:endParaRPr lang="vi-VN"/>
            </a:p>
          </p:txBody>
        </p:sp>
      </p:grpSp>
      <p:sp>
        <p:nvSpPr>
          <p:cNvPr id="10" name="TextBox 10"/>
          <p:cNvSpPr txBox="1"/>
          <p:nvPr/>
        </p:nvSpPr>
        <p:spPr>
          <a:xfrm>
            <a:off x="857250" y="857250"/>
            <a:ext cx="8326041" cy="1143000"/>
          </a:xfrm>
          <a:prstGeom prst="rect">
            <a:avLst/>
          </a:prstGeom>
        </p:spPr>
        <p:txBody>
          <a:bodyPr lIns="0" tIns="0" rIns="0" bIns="0" rtlCol="0" anchor="t">
            <a:spAutoFit/>
          </a:bodyPr>
          <a:lstStyle/>
          <a:p>
            <a:pPr algn="l">
              <a:lnSpc>
                <a:spcPts val="4320"/>
              </a:lnSpc>
            </a:pPr>
            <a:r>
              <a:rPr lang="en-US" sz="3600" b="1">
                <a:solidFill>
                  <a:srgbClr val="164673"/>
                </a:solidFill>
                <a:latin typeface="Montserrat Bold"/>
                <a:ea typeface="Montserrat Bold"/>
                <a:cs typeface="Montserrat Bold"/>
                <a:sym typeface="Montserrat Bold"/>
              </a:rPr>
              <a:t>TẠI SAO CẦN XỬ LÝ THỜI GIAN THỰC?</a:t>
            </a:r>
          </a:p>
        </p:txBody>
      </p:sp>
      <p:sp>
        <p:nvSpPr>
          <p:cNvPr id="11" name="TextBox 11"/>
          <p:cNvSpPr txBox="1"/>
          <p:nvPr/>
        </p:nvSpPr>
        <p:spPr>
          <a:xfrm>
            <a:off x="857250" y="2428875"/>
            <a:ext cx="7929562" cy="1415233"/>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Thách thức độ trễ:</a:t>
            </a:r>
            <a:r>
              <a:rPr lang="en-US" sz="2025">
                <a:solidFill>
                  <a:srgbClr val="475569"/>
                </a:solidFill>
                <a:latin typeface="Open Sans"/>
                <a:ea typeface="Open Sans"/>
                <a:cs typeface="Open Sans"/>
                <a:sym typeface="Open Sans"/>
              </a:rPr>
              <a:t> Dữ liệu taxi NYC phát sinh liên tục. Xử lý theo lô (batch) tạo ra độ trễ phát hiện đến </a:t>
            </a:r>
            <a:r>
              <a:rPr lang="en-US" sz="2025">
                <a:solidFill>
                  <a:srgbClr val="1E293B"/>
                </a:solidFill>
                <a:latin typeface="Open Sans"/>
                <a:ea typeface="Open Sans"/>
                <a:cs typeface="Open Sans"/>
                <a:sym typeface="Open Sans"/>
              </a:rPr>
              <a:t>vài giờ </a:t>
            </a:r>
            <a:r>
              <a:rPr lang="en-US" sz="2025">
                <a:solidFill>
                  <a:srgbClr val="475569"/>
                </a:solidFill>
                <a:latin typeface="Open Sans"/>
                <a:ea typeface="Open Sans"/>
                <a:cs typeface="Open Sans"/>
                <a:sym typeface="Open Sans"/>
              </a:rPr>
              <a:t> — không đáp ứng nhu cầu giám sát thực tế.</a:t>
            </a:r>
          </a:p>
        </p:txBody>
      </p:sp>
      <p:sp>
        <p:nvSpPr>
          <p:cNvPr id="12" name="TextBox 12"/>
          <p:cNvSpPr txBox="1"/>
          <p:nvPr/>
        </p:nvSpPr>
        <p:spPr>
          <a:xfrm>
            <a:off x="857250" y="3877494"/>
            <a:ext cx="7929562" cy="965749"/>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Quy mô dữ liệu:</a:t>
            </a:r>
            <a:r>
              <a:rPr lang="en-US" sz="2025">
                <a:solidFill>
                  <a:srgbClr val="475569"/>
                </a:solidFill>
                <a:latin typeface="Open Sans"/>
                <a:ea typeface="Open Sans"/>
                <a:cs typeface="Open Sans"/>
                <a:sym typeface="Open Sans"/>
              </a:rPr>
              <a:t> Bộ dữ liệu NYC TLC tháng 3/2026 gồm </a:t>
            </a:r>
            <a:r>
              <a:rPr lang="en-US" sz="2025">
                <a:solidFill>
                  <a:srgbClr val="1E293B"/>
                </a:solidFill>
                <a:latin typeface="Open Sans"/>
                <a:ea typeface="Open Sans"/>
                <a:cs typeface="Open Sans"/>
                <a:sym typeface="Open Sans"/>
              </a:rPr>
              <a:t>3.996.659 bản ghi</a:t>
            </a:r>
            <a:r>
              <a:rPr lang="en-US" sz="2025">
                <a:solidFill>
                  <a:srgbClr val="475569"/>
                </a:solidFill>
                <a:latin typeface="Open Sans"/>
                <a:ea typeface="Open Sans"/>
                <a:cs typeface="Open Sans"/>
                <a:sym typeface="Open Sans"/>
              </a:rPr>
              <a:t> (Yellow: 3.952.451 + Green: 44.208).</a:t>
            </a:r>
          </a:p>
        </p:txBody>
      </p:sp>
      <p:sp>
        <p:nvSpPr>
          <p:cNvPr id="13" name="TextBox 13"/>
          <p:cNvSpPr txBox="1"/>
          <p:nvPr/>
        </p:nvSpPr>
        <p:spPr>
          <a:xfrm>
            <a:off x="857250" y="4914681"/>
            <a:ext cx="7929562" cy="2386915"/>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Bản chất dữ liệu (Không nhãn &amp; hiếm): Dữ liệu gốc hoàn toàn không có nhãn. Hơn nữa, các hành vi gian lận/bất thường trong thực tế khá hiếm → Bắt buộc dùng học phi giám sát (Unsupervised Learning) thay vì các thuật toán có giám sát thông thường.</a:t>
            </a:r>
          </a:p>
        </p:txBody>
      </p:sp>
      <p:sp>
        <p:nvSpPr>
          <p:cNvPr id="14" name="TextBox 14"/>
          <p:cNvSpPr txBox="1"/>
          <p:nvPr/>
        </p:nvSpPr>
        <p:spPr>
          <a:xfrm>
            <a:off x="857250" y="7377796"/>
            <a:ext cx="7929562" cy="1377182"/>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Yêu cầu thực tiễn:</a:t>
            </a:r>
            <a:r>
              <a:rPr lang="en-US" sz="2025">
                <a:solidFill>
                  <a:srgbClr val="475569"/>
                </a:solidFill>
                <a:latin typeface="Open Sans"/>
                <a:ea typeface="Open Sans"/>
                <a:cs typeface="Open Sans"/>
                <a:sym typeface="Open Sans"/>
              </a:rPr>
              <a:t> Phát hiện gian lận cước, lái xe quá tốc độ, bất thường cước phí — trong vòng </a:t>
            </a:r>
            <a:r>
              <a:rPr lang="en-US" sz="2025">
                <a:solidFill>
                  <a:srgbClr val="1E293B"/>
                </a:solidFill>
                <a:latin typeface="Open Sans"/>
                <a:ea typeface="Open Sans"/>
                <a:cs typeface="Open Sans"/>
                <a:sym typeface="Open Sans"/>
              </a:rPr>
              <a:t>dưới 1 giây</a:t>
            </a:r>
            <a:r>
              <a:rPr lang="en-US" sz="2025">
                <a:solidFill>
                  <a:srgbClr val="475569"/>
                </a:solidFill>
                <a:latin typeface="Open Sans"/>
                <a:ea typeface="Open Sans"/>
                <a:cs typeface="Open Sans"/>
                <a:sym typeface="Open Sans"/>
              </a:rPr>
              <a:t> kể từ khi dữ liệu phát sinh.</a:t>
            </a:r>
          </a:p>
        </p:txBody>
      </p:sp>
      <p:sp>
        <p:nvSpPr>
          <p:cNvPr id="15" name="TextBox 15"/>
          <p:cNvSpPr txBox="1"/>
          <p:nvPr/>
        </p:nvSpPr>
        <p:spPr>
          <a:xfrm>
            <a:off x="1404524" y="8937355"/>
            <a:ext cx="6835015" cy="1077924"/>
          </a:xfrm>
          <a:prstGeom prst="rect">
            <a:avLst/>
          </a:prstGeom>
        </p:spPr>
        <p:txBody>
          <a:bodyPr lIns="0" tIns="0" rIns="0" bIns="0" rtlCol="0" anchor="t">
            <a:spAutoFit/>
          </a:bodyPr>
          <a:lstStyle/>
          <a:p>
            <a:pPr algn="l">
              <a:lnSpc>
                <a:spcPts val="2962"/>
              </a:lnSpc>
            </a:pPr>
            <a:r>
              <a:rPr lang="en-US" sz="1542" i="1">
                <a:solidFill>
                  <a:srgbClr val="164673"/>
                </a:solidFill>
                <a:latin typeface="Open Sans Italics"/>
                <a:ea typeface="Open Sans Italics"/>
                <a:cs typeface="Open Sans Italics"/>
                <a:sym typeface="Open Sans Italics"/>
              </a:rPr>
              <a:t>"The explosion in the amount of data generated and the requirement for actions to be taken as quickly as possible has led organizations to adopt a real-time data processing pipeline."</a:t>
            </a:r>
            <a:r>
              <a:rPr lang="en-US" sz="1542">
                <a:solidFill>
                  <a:srgbClr val="164673"/>
                </a:solidFill>
                <a:latin typeface="Open Sans"/>
                <a:ea typeface="Open Sans"/>
                <a:cs typeface="Open Sans"/>
                <a:sym typeface="Open Sans"/>
              </a:rPr>
              <a:t> - Nalla, 2025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grpSp>
        <p:nvGrpSpPr>
          <p:cNvPr id="4" name="Group 4"/>
          <p:cNvGrpSpPr/>
          <p:nvPr/>
        </p:nvGrpSpPr>
        <p:grpSpPr>
          <a:xfrm>
            <a:off x="857250" y="7751864"/>
            <a:ext cx="16573500" cy="1451524"/>
            <a:chOff x="0" y="0"/>
            <a:chExt cx="22098000" cy="1935366"/>
          </a:xfrm>
        </p:grpSpPr>
        <p:sp>
          <p:nvSpPr>
            <p:cNvPr id="5" name="Freeform 5" descr="image.png"/>
            <p:cNvSpPr/>
            <p:nvPr/>
          </p:nvSpPr>
          <p:spPr>
            <a:xfrm>
              <a:off x="0" y="0"/>
              <a:ext cx="22098000" cy="1935353"/>
            </a:xfrm>
            <a:custGeom>
              <a:avLst/>
              <a:gdLst/>
              <a:ahLst/>
              <a:cxnLst/>
              <a:rect l="l" t="t" r="r" b="b"/>
              <a:pathLst>
                <a:path w="22098000" h="1935353">
                  <a:moveTo>
                    <a:pt x="0" y="0"/>
                  </a:moveTo>
                  <a:lnTo>
                    <a:pt x="22098000" y="0"/>
                  </a:lnTo>
                  <a:lnTo>
                    <a:pt x="22098000" y="1935353"/>
                  </a:lnTo>
                  <a:lnTo>
                    <a:pt x="0" y="1935353"/>
                  </a:lnTo>
                  <a:lnTo>
                    <a:pt x="0" y="0"/>
                  </a:lnTo>
                  <a:close/>
                </a:path>
              </a:pathLst>
            </a:custGeom>
            <a:blipFill>
              <a:blip r:embed="rId4"/>
              <a:stretch>
                <a:fillRect b="-1384"/>
              </a:stretch>
            </a:blipFill>
          </p:spPr>
          <p:txBody>
            <a:bodyPr/>
            <a:lstStyle/>
            <a:p>
              <a:endParaRPr lang="vi-VN"/>
            </a:p>
          </p:txBody>
        </p:sp>
      </p:grpSp>
      <p:sp>
        <p:nvSpPr>
          <p:cNvPr id="6" name="TextBox 6"/>
          <p:cNvSpPr txBox="1"/>
          <p:nvPr/>
        </p:nvSpPr>
        <p:spPr>
          <a:xfrm>
            <a:off x="857250" y="1985963"/>
            <a:ext cx="16573500" cy="965749"/>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Mục tiêu:</a:t>
            </a:r>
            <a:r>
              <a:rPr lang="en-US" sz="2025">
                <a:solidFill>
                  <a:srgbClr val="475569"/>
                </a:solidFill>
                <a:latin typeface="Open Sans"/>
                <a:ea typeface="Open Sans"/>
                <a:cs typeface="Open Sans"/>
                <a:sym typeface="Open Sans"/>
              </a:rPr>
              <a:t> Xây dựng hệ thống phát hiện bất thường thời gian thực (end-to-end) trên dữ liệu taxi NYC, tích hợp kiến trúc Big Data hiện đại và mô hình học máy kết hợp — với độ trễ xử lý dưới 1 giây.</a:t>
            </a:r>
          </a:p>
        </p:txBody>
      </p:sp>
      <p:graphicFrame>
        <p:nvGraphicFramePr>
          <p:cNvPr id="7" name="Table 7"/>
          <p:cNvGraphicFramePr>
            <a:graphicFrameLocks noGrp="1"/>
          </p:cNvGraphicFramePr>
          <p:nvPr/>
        </p:nvGraphicFramePr>
        <p:xfrm>
          <a:off x="857250" y="3237457"/>
          <a:ext cx="16554450" cy="4114800"/>
        </p:xfrm>
        <a:graphic>
          <a:graphicData uri="http://schemas.openxmlformats.org/drawingml/2006/table">
            <a:tbl>
              <a:tblPr/>
              <a:tblGrid>
                <a:gridCol w="851858">
                  <a:extLst>
                    <a:ext uri="{9D8B030D-6E8A-4147-A177-3AD203B41FA5}">
                      <a16:colId xmlns:a16="http://schemas.microsoft.com/office/drawing/2014/main" val="20000"/>
                    </a:ext>
                  </a:extLst>
                </a:gridCol>
                <a:gridCol w="5792638">
                  <a:extLst>
                    <a:ext uri="{9D8B030D-6E8A-4147-A177-3AD203B41FA5}">
                      <a16:colId xmlns:a16="http://schemas.microsoft.com/office/drawing/2014/main" val="20001"/>
                    </a:ext>
                  </a:extLst>
                </a:gridCol>
                <a:gridCol w="9909954">
                  <a:extLst>
                    <a:ext uri="{9D8B030D-6E8A-4147-A177-3AD203B41FA5}">
                      <a16:colId xmlns:a16="http://schemas.microsoft.com/office/drawing/2014/main" val="20002"/>
                    </a:ext>
                  </a:extLst>
                </a:gridCol>
              </a:tblGrid>
              <a:tr h="685800">
                <a:tc>
                  <a:txBody>
                    <a:bodyPr/>
                    <a:lstStyle/>
                    <a:p>
                      <a:pPr algn="l">
                        <a:lnSpc>
                          <a:spcPts val="2160"/>
                        </a:lnSpc>
                        <a:defRPr/>
                      </a:pPr>
                      <a:r>
                        <a:rPr lang="en-US" sz="1800">
                          <a:solidFill>
                            <a:srgbClr val="FFFFFF"/>
                          </a:solidFill>
                          <a:latin typeface="Montserrat"/>
                          <a:ea typeface="Montserrat"/>
                          <a:cs typeface="Montserrat"/>
                          <a:sym typeface="Montserrat"/>
                        </a:rPr>
                        <a:t>#</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tc>
                  <a:txBody>
                    <a:bodyPr/>
                    <a:lstStyle/>
                    <a:p>
                      <a:pPr algn="l">
                        <a:lnSpc>
                          <a:spcPts val="2160"/>
                        </a:lnSpc>
                        <a:defRPr/>
                      </a:pPr>
                      <a:r>
                        <a:rPr lang="en-US" sz="1800">
                          <a:solidFill>
                            <a:srgbClr val="FFFFFF"/>
                          </a:solidFill>
                          <a:latin typeface="Montserrat"/>
                          <a:ea typeface="Montserrat"/>
                          <a:cs typeface="Montserrat"/>
                          <a:sym typeface="Montserrat"/>
                        </a:rPr>
                        <a:t>Đóng Góp Kỹ Thuật</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tc>
                  <a:txBody>
                    <a:bodyPr/>
                    <a:lstStyle/>
                    <a:p>
                      <a:pPr algn="l">
                        <a:lnSpc>
                          <a:spcPts val="2160"/>
                        </a:lnSpc>
                        <a:defRPr/>
                      </a:pPr>
                      <a:r>
                        <a:rPr lang="en-US" sz="1800">
                          <a:solidFill>
                            <a:srgbClr val="FFFFFF"/>
                          </a:solidFill>
                          <a:latin typeface="Montserrat"/>
                          <a:ea typeface="Montserrat"/>
                          <a:cs typeface="Montserrat"/>
                          <a:sym typeface="Montserrat"/>
                        </a:rPr>
                        <a:t>Mô Tả Ngắn</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extLst>
                  <a:ext uri="{0D108BD9-81ED-4DB2-BD59-A6C34878D82A}">
                    <a16:rowId xmlns:a16="http://schemas.microsoft.com/office/drawing/2014/main" val="10000"/>
                  </a:ext>
                </a:extLst>
              </a:tr>
              <a:tr h="685800">
                <a:tc>
                  <a:txBody>
                    <a:bodyPr/>
                    <a:lstStyle/>
                    <a:p>
                      <a:pPr algn="l">
                        <a:lnSpc>
                          <a:spcPts val="2160"/>
                        </a:lnSpc>
                        <a:defRPr/>
                      </a:pPr>
                      <a:r>
                        <a:rPr lang="en-US" sz="1800">
                          <a:solidFill>
                            <a:srgbClr val="475569"/>
                          </a:solidFill>
                          <a:latin typeface="Open Sans"/>
                          <a:ea typeface="Open Sans"/>
                          <a:cs typeface="Open Sans"/>
                          <a:sym typeface="Open Sans"/>
                        </a:rPr>
                        <a:t>1</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l">
                        <a:lnSpc>
                          <a:spcPts val="2160"/>
                        </a:lnSpc>
                        <a:defRPr/>
                      </a:pPr>
                      <a:r>
                        <a:rPr lang="en-US" sz="1800" b="1">
                          <a:solidFill>
                            <a:srgbClr val="475569"/>
                          </a:solidFill>
                          <a:latin typeface="Open Sans Bold"/>
                          <a:ea typeface="Open Sans Bold"/>
                          <a:cs typeface="Open Sans Bold"/>
                          <a:sym typeface="Open Sans Bold"/>
                        </a:rPr>
                        <a:t>Kiến trúc hai luồng song song</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l">
                        <a:lnSpc>
                          <a:spcPts val="2160"/>
                        </a:lnSpc>
                        <a:defRPr/>
                      </a:pPr>
                      <a:r>
                        <a:rPr lang="en-US" sz="1800">
                          <a:solidFill>
                            <a:srgbClr val="475569"/>
                          </a:solidFill>
                          <a:latin typeface="Open Sans"/>
                          <a:ea typeface="Open Sans"/>
                          <a:cs typeface="Open Sans"/>
                          <a:sym typeface="Open Sans"/>
                        </a:rPr>
                        <a:t>Yellow + Green Taxi chạy đồng thời qua Kafka</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1"/>
                  </a:ext>
                </a:extLst>
              </a:tr>
              <a:tr h="685800">
                <a:tc>
                  <a:txBody>
                    <a:bodyPr/>
                    <a:lstStyle/>
                    <a:p>
                      <a:pPr algn="l">
                        <a:lnSpc>
                          <a:spcPts val="2160"/>
                        </a:lnSpc>
                        <a:defRPr/>
                      </a:pPr>
                      <a:r>
                        <a:rPr lang="en-US" sz="1800">
                          <a:solidFill>
                            <a:srgbClr val="475569"/>
                          </a:solidFill>
                          <a:latin typeface="Open Sans"/>
                          <a:ea typeface="Open Sans"/>
                          <a:cs typeface="Open Sans"/>
                          <a:sym typeface="Open Sans"/>
                        </a:rPr>
                        <a:t>2</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l">
                        <a:lnSpc>
                          <a:spcPts val="2160"/>
                        </a:lnSpc>
                        <a:defRPr/>
                      </a:pPr>
                      <a:r>
                        <a:rPr lang="en-US" sz="1800" b="1">
                          <a:solidFill>
                            <a:srgbClr val="475569"/>
                          </a:solidFill>
                          <a:latin typeface="Open Sans Bold"/>
                          <a:ea typeface="Open Sans Bold"/>
                          <a:cs typeface="Open Sans Bold"/>
                          <a:sym typeface="Open Sans Bold"/>
                        </a:rPr>
                        <a:t>Strict Ensemble Voting (IF + MCD)</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l">
                        <a:lnSpc>
                          <a:spcPts val="2160"/>
                        </a:lnSpc>
                        <a:defRPr/>
                      </a:pPr>
                      <a:r>
                        <a:rPr lang="en-US" sz="1800">
                          <a:solidFill>
                            <a:srgbClr val="475569"/>
                          </a:solidFill>
                          <a:latin typeface="Open Sans"/>
                          <a:ea typeface="Open Sans"/>
                          <a:cs typeface="Open Sans"/>
                          <a:sym typeface="Open Sans"/>
                        </a:rPr>
                        <a:t>Chỉ flag anomaly khi CẢ HAI mô hình đồng thuận</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685800">
                <a:tc>
                  <a:txBody>
                    <a:bodyPr/>
                    <a:lstStyle/>
                    <a:p>
                      <a:pPr algn="l">
                        <a:lnSpc>
                          <a:spcPts val="2160"/>
                        </a:lnSpc>
                        <a:defRPr/>
                      </a:pPr>
                      <a:r>
                        <a:rPr lang="en-US" sz="1800">
                          <a:solidFill>
                            <a:srgbClr val="475569"/>
                          </a:solidFill>
                          <a:latin typeface="Open Sans"/>
                          <a:ea typeface="Open Sans"/>
                          <a:cs typeface="Open Sans"/>
                          <a:sym typeface="Open Sans"/>
                        </a:rPr>
                        <a:t>3</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l">
                        <a:lnSpc>
                          <a:spcPts val="2160"/>
                        </a:lnSpc>
                        <a:defRPr/>
                      </a:pPr>
                      <a:r>
                        <a:rPr lang="en-US" sz="1800" b="1">
                          <a:solidFill>
                            <a:srgbClr val="475569"/>
                          </a:solidFill>
                          <a:latin typeface="Open Sans Bold"/>
                          <a:ea typeface="Open Sans Bold"/>
                          <a:cs typeface="Open Sans Bold"/>
                          <a:sym typeface="Open Sans Bold"/>
                        </a:rPr>
                        <a:t>Feature Engineering 14 chiều</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l">
                        <a:lnSpc>
                          <a:spcPts val="2160"/>
                        </a:lnSpc>
                        <a:defRPr/>
                      </a:pPr>
                      <a:r>
                        <a:rPr lang="en-US" sz="1800">
                          <a:solidFill>
                            <a:srgbClr val="475569"/>
                          </a:solidFill>
                          <a:latin typeface="Open Sans"/>
                          <a:ea typeface="Open Sans"/>
                          <a:cs typeface="Open Sans"/>
                          <a:sym typeface="Open Sans"/>
                        </a:rPr>
                        <a:t>Cyclical encoding giờ, log transforms, interaction terms</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3"/>
                  </a:ext>
                </a:extLst>
              </a:tr>
              <a:tr h="685800">
                <a:tc>
                  <a:txBody>
                    <a:bodyPr/>
                    <a:lstStyle/>
                    <a:p>
                      <a:pPr algn="l">
                        <a:lnSpc>
                          <a:spcPts val="2160"/>
                        </a:lnSpc>
                        <a:defRPr/>
                      </a:pPr>
                      <a:r>
                        <a:rPr lang="en-US" sz="1800">
                          <a:solidFill>
                            <a:srgbClr val="475569"/>
                          </a:solidFill>
                          <a:latin typeface="Open Sans"/>
                          <a:ea typeface="Open Sans"/>
                          <a:cs typeface="Open Sans"/>
                          <a:sym typeface="Open Sans"/>
                        </a:rPr>
                        <a:t>4</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l">
                        <a:lnSpc>
                          <a:spcPts val="2160"/>
                        </a:lnSpc>
                        <a:defRPr/>
                      </a:pPr>
                      <a:r>
                        <a:rPr lang="en-US" sz="1800" b="1">
                          <a:solidFill>
                            <a:srgbClr val="475569"/>
                          </a:solidFill>
                          <a:latin typeface="Open Sans Bold"/>
                          <a:ea typeface="Open Sans Bold"/>
                          <a:cs typeface="Open Sans Bold"/>
                          <a:sym typeface="Open Sans Bold"/>
                        </a:rPr>
                        <a:t>Adaptive Contamination</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l">
                        <a:lnSpc>
                          <a:spcPts val="2160"/>
                        </a:lnSpc>
                        <a:defRPr/>
                      </a:pPr>
                      <a:r>
                        <a:rPr lang="en-US" sz="1800">
                          <a:solidFill>
                            <a:srgbClr val="475569"/>
                          </a:solidFill>
                          <a:latin typeface="Open Sans"/>
                          <a:ea typeface="Open Sans"/>
                          <a:cs typeface="Open Sans"/>
                          <a:sym typeface="Open Sans"/>
                        </a:rPr>
                        <a:t>Retrain tự động mỗi 25 batch, contamination tự điều chỉnh</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685800">
                <a:tc>
                  <a:txBody>
                    <a:bodyPr/>
                    <a:lstStyle/>
                    <a:p>
                      <a:pPr algn="l">
                        <a:lnSpc>
                          <a:spcPts val="2160"/>
                        </a:lnSpc>
                        <a:defRPr/>
                      </a:pPr>
                      <a:r>
                        <a:rPr lang="en-US" sz="1800">
                          <a:solidFill>
                            <a:srgbClr val="475569"/>
                          </a:solidFill>
                          <a:latin typeface="Open Sans"/>
                          <a:ea typeface="Open Sans"/>
                          <a:cs typeface="Open Sans"/>
                          <a:sym typeface="Open Sans"/>
                        </a:rPr>
                        <a:t>5</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l">
                        <a:lnSpc>
                          <a:spcPts val="2160"/>
                        </a:lnSpc>
                        <a:defRPr/>
                      </a:pPr>
                      <a:r>
                        <a:rPr lang="en-US" sz="1800" b="1">
                          <a:solidFill>
                            <a:srgbClr val="475569"/>
                          </a:solidFill>
                          <a:latin typeface="Open Sans Bold"/>
                          <a:ea typeface="Open Sans Bold"/>
                          <a:cs typeface="Open Sans Bold"/>
                          <a:sym typeface="Open Sans Bold"/>
                        </a:rPr>
                        <a:t>Hệ thống đánh giá 6 chiều</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l">
                        <a:lnSpc>
                          <a:spcPts val="2160"/>
                        </a:lnSpc>
                        <a:defRPr/>
                      </a:pPr>
                      <a:r>
                        <a:rPr lang="en-US" sz="1800">
                          <a:solidFill>
                            <a:srgbClr val="475569"/>
                          </a:solidFill>
                          <a:latin typeface="Open Sans"/>
                          <a:ea typeface="Open Sans"/>
                          <a:cs typeface="Open Sans"/>
                          <a:sym typeface="Open Sans"/>
                        </a:rPr>
                        <a:t>Định lượng chính xác không cần nhãn thực tế</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5"/>
                  </a:ext>
                </a:extLst>
              </a:tr>
            </a:tbl>
          </a:graphicData>
        </a:graphic>
      </p:graphicFrame>
      <p:sp>
        <p:nvSpPr>
          <p:cNvPr id="8" name="TextBox 8"/>
          <p:cNvSpPr txBox="1"/>
          <p:nvPr/>
        </p:nvSpPr>
        <p:spPr>
          <a:xfrm>
            <a:off x="1143000" y="7951889"/>
            <a:ext cx="16002000" cy="965749"/>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Quy mô thực nghiệm:</a:t>
            </a:r>
            <a:r>
              <a:rPr lang="en-US" sz="2025">
                <a:solidFill>
                  <a:srgbClr val="164673"/>
                </a:solidFill>
                <a:latin typeface="Open Sans"/>
                <a:ea typeface="Open Sans"/>
                <a:cs typeface="Open Sans"/>
                <a:sym typeface="Open Sans"/>
              </a:rPr>
              <a:t> 3.996.659 bản ghi thực từ NYC TLC tháng 3/2026. Throughput đạt ~400 rows/s, latency trung bình 230 ms. Phát hiện 8 loại bất thường với Cohen's d = 2,65 (EXCELLENT).</a:t>
            </a:r>
          </a:p>
        </p:txBody>
      </p:sp>
      <p:grpSp>
        <p:nvGrpSpPr>
          <p:cNvPr id="9" name="Group 9"/>
          <p:cNvGrpSpPr/>
          <p:nvPr/>
        </p:nvGrpSpPr>
        <p:grpSpPr>
          <a:xfrm>
            <a:off x="857250" y="3851824"/>
            <a:ext cx="828675" cy="14288"/>
            <a:chOff x="0" y="0"/>
            <a:chExt cx="1104900" cy="19050"/>
          </a:xfrm>
        </p:grpSpPr>
        <p:sp>
          <p:nvSpPr>
            <p:cNvPr id="10" name="Freeform 10"/>
            <p:cNvSpPr/>
            <p:nvPr/>
          </p:nvSpPr>
          <p:spPr>
            <a:xfrm>
              <a:off x="0" y="0"/>
              <a:ext cx="1104900" cy="19050"/>
            </a:xfrm>
            <a:custGeom>
              <a:avLst/>
              <a:gdLst/>
              <a:ahLst/>
              <a:cxnLst/>
              <a:rect l="l" t="t" r="r" b="b"/>
              <a:pathLst>
                <a:path w="1104900" h="19050">
                  <a:moveTo>
                    <a:pt x="0" y="0"/>
                  </a:moveTo>
                  <a:lnTo>
                    <a:pt x="1104900" y="0"/>
                  </a:lnTo>
                  <a:lnTo>
                    <a:pt x="1104900" y="19050"/>
                  </a:lnTo>
                  <a:lnTo>
                    <a:pt x="0" y="19050"/>
                  </a:lnTo>
                  <a:close/>
                </a:path>
              </a:pathLst>
            </a:custGeom>
            <a:solidFill>
              <a:srgbClr val="E2E8F0"/>
            </a:solidFill>
          </p:spPr>
          <p:txBody>
            <a:bodyPr/>
            <a:lstStyle/>
            <a:p>
              <a:endParaRPr lang="vi-VN"/>
            </a:p>
          </p:txBody>
        </p:sp>
      </p:grpSp>
      <p:grpSp>
        <p:nvGrpSpPr>
          <p:cNvPr id="11" name="Group 11"/>
          <p:cNvGrpSpPr/>
          <p:nvPr/>
        </p:nvGrpSpPr>
        <p:grpSpPr>
          <a:xfrm>
            <a:off x="1685925" y="3851824"/>
            <a:ext cx="5800725" cy="14288"/>
            <a:chOff x="0" y="0"/>
            <a:chExt cx="7734300" cy="19050"/>
          </a:xfrm>
        </p:grpSpPr>
        <p:sp>
          <p:nvSpPr>
            <p:cNvPr id="12" name="Freeform 12"/>
            <p:cNvSpPr/>
            <p:nvPr/>
          </p:nvSpPr>
          <p:spPr>
            <a:xfrm>
              <a:off x="0" y="0"/>
              <a:ext cx="7734300" cy="19050"/>
            </a:xfrm>
            <a:custGeom>
              <a:avLst/>
              <a:gdLst/>
              <a:ahLst/>
              <a:cxnLst/>
              <a:rect l="l" t="t" r="r" b="b"/>
              <a:pathLst>
                <a:path w="7734300" h="19050">
                  <a:moveTo>
                    <a:pt x="0" y="0"/>
                  </a:moveTo>
                  <a:lnTo>
                    <a:pt x="7734300" y="0"/>
                  </a:lnTo>
                  <a:lnTo>
                    <a:pt x="7734300" y="19050"/>
                  </a:lnTo>
                  <a:lnTo>
                    <a:pt x="0" y="19050"/>
                  </a:lnTo>
                  <a:close/>
                </a:path>
              </a:pathLst>
            </a:custGeom>
            <a:solidFill>
              <a:srgbClr val="E2E8F0"/>
            </a:solidFill>
          </p:spPr>
          <p:txBody>
            <a:bodyPr/>
            <a:lstStyle/>
            <a:p>
              <a:endParaRPr lang="vi-VN"/>
            </a:p>
          </p:txBody>
        </p:sp>
      </p:grpSp>
      <p:grpSp>
        <p:nvGrpSpPr>
          <p:cNvPr id="13" name="Group 13"/>
          <p:cNvGrpSpPr/>
          <p:nvPr/>
        </p:nvGrpSpPr>
        <p:grpSpPr>
          <a:xfrm>
            <a:off x="7486650" y="3851824"/>
            <a:ext cx="9944100" cy="14288"/>
            <a:chOff x="0" y="0"/>
            <a:chExt cx="13258800" cy="19050"/>
          </a:xfrm>
        </p:grpSpPr>
        <p:sp>
          <p:nvSpPr>
            <p:cNvPr id="14" name="Freeform 14"/>
            <p:cNvSpPr/>
            <p:nvPr/>
          </p:nvSpPr>
          <p:spPr>
            <a:xfrm>
              <a:off x="0" y="0"/>
              <a:ext cx="13258800" cy="19050"/>
            </a:xfrm>
            <a:custGeom>
              <a:avLst/>
              <a:gdLst/>
              <a:ahLst/>
              <a:cxnLst/>
              <a:rect l="l" t="t" r="r" b="b"/>
              <a:pathLst>
                <a:path w="13258800" h="19050">
                  <a:moveTo>
                    <a:pt x="0" y="0"/>
                  </a:moveTo>
                  <a:lnTo>
                    <a:pt x="13258800" y="0"/>
                  </a:lnTo>
                  <a:lnTo>
                    <a:pt x="13258800" y="19050"/>
                  </a:lnTo>
                  <a:lnTo>
                    <a:pt x="0" y="19050"/>
                  </a:lnTo>
                  <a:close/>
                </a:path>
              </a:pathLst>
            </a:custGeom>
            <a:solidFill>
              <a:srgbClr val="E2E8F0"/>
            </a:solidFill>
          </p:spPr>
          <p:txBody>
            <a:bodyPr/>
            <a:lstStyle/>
            <a:p>
              <a:endParaRPr lang="vi-VN"/>
            </a:p>
          </p:txBody>
        </p:sp>
      </p:grpSp>
      <p:grpSp>
        <p:nvGrpSpPr>
          <p:cNvPr id="15" name="Group 15"/>
          <p:cNvGrpSpPr/>
          <p:nvPr/>
        </p:nvGrpSpPr>
        <p:grpSpPr>
          <a:xfrm>
            <a:off x="857250" y="4574677"/>
            <a:ext cx="828675" cy="14288"/>
            <a:chOff x="0" y="0"/>
            <a:chExt cx="1104900" cy="19050"/>
          </a:xfrm>
        </p:grpSpPr>
        <p:sp>
          <p:nvSpPr>
            <p:cNvPr id="16" name="Freeform 16"/>
            <p:cNvSpPr/>
            <p:nvPr/>
          </p:nvSpPr>
          <p:spPr>
            <a:xfrm>
              <a:off x="0" y="0"/>
              <a:ext cx="1104900" cy="19050"/>
            </a:xfrm>
            <a:custGeom>
              <a:avLst/>
              <a:gdLst/>
              <a:ahLst/>
              <a:cxnLst/>
              <a:rect l="l" t="t" r="r" b="b"/>
              <a:pathLst>
                <a:path w="1104900" h="19050">
                  <a:moveTo>
                    <a:pt x="0" y="0"/>
                  </a:moveTo>
                  <a:lnTo>
                    <a:pt x="1104900" y="0"/>
                  </a:lnTo>
                  <a:lnTo>
                    <a:pt x="1104900" y="19050"/>
                  </a:lnTo>
                  <a:lnTo>
                    <a:pt x="0" y="19050"/>
                  </a:lnTo>
                  <a:close/>
                </a:path>
              </a:pathLst>
            </a:custGeom>
            <a:solidFill>
              <a:srgbClr val="E2E8F0"/>
            </a:solidFill>
          </p:spPr>
          <p:txBody>
            <a:bodyPr/>
            <a:lstStyle/>
            <a:p>
              <a:endParaRPr lang="vi-VN"/>
            </a:p>
          </p:txBody>
        </p:sp>
      </p:grpSp>
      <p:grpSp>
        <p:nvGrpSpPr>
          <p:cNvPr id="17" name="Group 17"/>
          <p:cNvGrpSpPr/>
          <p:nvPr/>
        </p:nvGrpSpPr>
        <p:grpSpPr>
          <a:xfrm>
            <a:off x="1685925" y="4574677"/>
            <a:ext cx="5800725" cy="14288"/>
            <a:chOff x="0" y="0"/>
            <a:chExt cx="7734300" cy="19050"/>
          </a:xfrm>
        </p:grpSpPr>
        <p:sp>
          <p:nvSpPr>
            <p:cNvPr id="18" name="Freeform 18"/>
            <p:cNvSpPr/>
            <p:nvPr/>
          </p:nvSpPr>
          <p:spPr>
            <a:xfrm>
              <a:off x="0" y="0"/>
              <a:ext cx="7734300" cy="19050"/>
            </a:xfrm>
            <a:custGeom>
              <a:avLst/>
              <a:gdLst/>
              <a:ahLst/>
              <a:cxnLst/>
              <a:rect l="l" t="t" r="r" b="b"/>
              <a:pathLst>
                <a:path w="7734300" h="19050">
                  <a:moveTo>
                    <a:pt x="0" y="0"/>
                  </a:moveTo>
                  <a:lnTo>
                    <a:pt x="7734300" y="0"/>
                  </a:lnTo>
                  <a:lnTo>
                    <a:pt x="7734300" y="19050"/>
                  </a:lnTo>
                  <a:lnTo>
                    <a:pt x="0" y="19050"/>
                  </a:lnTo>
                  <a:close/>
                </a:path>
              </a:pathLst>
            </a:custGeom>
            <a:solidFill>
              <a:srgbClr val="E2E8F0"/>
            </a:solidFill>
          </p:spPr>
          <p:txBody>
            <a:bodyPr/>
            <a:lstStyle/>
            <a:p>
              <a:endParaRPr lang="vi-VN"/>
            </a:p>
          </p:txBody>
        </p:sp>
      </p:grpSp>
      <p:grpSp>
        <p:nvGrpSpPr>
          <p:cNvPr id="19" name="Group 19"/>
          <p:cNvGrpSpPr/>
          <p:nvPr/>
        </p:nvGrpSpPr>
        <p:grpSpPr>
          <a:xfrm>
            <a:off x="7486650" y="4574677"/>
            <a:ext cx="9944100" cy="14288"/>
            <a:chOff x="0" y="0"/>
            <a:chExt cx="13258800" cy="19050"/>
          </a:xfrm>
        </p:grpSpPr>
        <p:sp>
          <p:nvSpPr>
            <p:cNvPr id="20" name="Freeform 20"/>
            <p:cNvSpPr/>
            <p:nvPr/>
          </p:nvSpPr>
          <p:spPr>
            <a:xfrm>
              <a:off x="0" y="0"/>
              <a:ext cx="13258800" cy="19050"/>
            </a:xfrm>
            <a:custGeom>
              <a:avLst/>
              <a:gdLst/>
              <a:ahLst/>
              <a:cxnLst/>
              <a:rect l="l" t="t" r="r" b="b"/>
              <a:pathLst>
                <a:path w="13258800" h="19050">
                  <a:moveTo>
                    <a:pt x="0" y="0"/>
                  </a:moveTo>
                  <a:lnTo>
                    <a:pt x="13258800" y="0"/>
                  </a:lnTo>
                  <a:lnTo>
                    <a:pt x="13258800" y="19050"/>
                  </a:lnTo>
                  <a:lnTo>
                    <a:pt x="0" y="19050"/>
                  </a:lnTo>
                  <a:close/>
                </a:path>
              </a:pathLst>
            </a:custGeom>
            <a:solidFill>
              <a:srgbClr val="E2E8F0"/>
            </a:solidFill>
          </p:spPr>
          <p:txBody>
            <a:bodyPr/>
            <a:lstStyle/>
            <a:p>
              <a:endParaRPr lang="vi-VN"/>
            </a:p>
          </p:txBody>
        </p:sp>
      </p:grpSp>
      <p:grpSp>
        <p:nvGrpSpPr>
          <p:cNvPr id="21" name="Group 21"/>
          <p:cNvGrpSpPr/>
          <p:nvPr/>
        </p:nvGrpSpPr>
        <p:grpSpPr>
          <a:xfrm>
            <a:off x="857250" y="5297538"/>
            <a:ext cx="828675" cy="14288"/>
            <a:chOff x="0" y="0"/>
            <a:chExt cx="1104900" cy="19050"/>
          </a:xfrm>
        </p:grpSpPr>
        <p:sp>
          <p:nvSpPr>
            <p:cNvPr id="22" name="Freeform 22"/>
            <p:cNvSpPr/>
            <p:nvPr/>
          </p:nvSpPr>
          <p:spPr>
            <a:xfrm>
              <a:off x="0" y="0"/>
              <a:ext cx="1104900" cy="19050"/>
            </a:xfrm>
            <a:custGeom>
              <a:avLst/>
              <a:gdLst/>
              <a:ahLst/>
              <a:cxnLst/>
              <a:rect l="l" t="t" r="r" b="b"/>
              <a:pathLst>
                <a:path w="1104900" h="19050">
                  <a:moveTo>
                    <a:pt x="0" y="0"/>
                  </a:moveTo>
                  <a:lnTo>
                    <a:pt x="1104900" y="0"/>
                  </a:lnTo>
                  <a:lnTo>
                    <a:pt x="1104900" y="19050"/>
                  </a:lnTo>
                  <a:lnTo>
                    <a:pt x="0" y="19050"/>
                  </a:lnTo>
                  <a:close/>
                </a:path>
              </a:pathLst>
            </a:custGeom>
            <a:solidFill>
              <a:srgbClr val="E2E8F0"/>
            </a:solidFill>
          </p:spPr>
          <p:txBody>
            <a:bodyPr/>
            <a:lstStyle/>
            <a:p>
              <a:endParaRPr lang="vi-VN"/>
            </a:p>
          </p:txBody>
        </p:sp>
      </p:grpSp>
      <p:grpSp>
        <p:nvGrpSpPr>
          <p:cNvPr id="23" name="Group 23"/>
          <p:cNvGrpSpPr/>
          <p:nvPr/>
        </p:nvGrpSpPr>
        <p:grpSpPr>
          <a:xfrm>
            <a:off x="1685925" y="5297538"/>
            <a:ext cx="5800725" cy="14288"/>
            <a:chOff x="0" y="0"/>
            <a:chExt cx="7734300" cy="19050"/>
          </a:xfrm>
        </p:grpSpPr>
        <p:sp>
          <p:nvSpPr>
            <p:cNvPr id="24" name="Freeform 24"/>
            <p:cNvSpPr/>
            <p:nvPr/>
          </p:nvSpPr>
          <p:spPr>
            <a:xfrm>
              <a:off x="0" y="0"/>
              <a:ext cx="7734300" cy="19050"/>
            </a:xfrm>
            <a:custGeom>
              <a:avLst/>
              <a:gdLst/>
              <a:ahLst/>
              <a:cxnLst/>
              <a:rect l="l" t="t" r="r" b="b"/>
              <a:pathLst>
                <a:path w="7734300" h="19050">
                  <a:moveTo>
                    <a:pt x="0" y="0"/>
                  </a:moveTo>
                  <a:lnTo>
                    <a:pt x="7734300" y="0"/>
                  </a:lnTo>
                  <a:lnTo>
                    <a:pt x="7734300" y="19050"/>
                  </a:lnTo>
                  <a:lnTo>
                    <a:pt x="0" y="19050"/>
                  </a:lnTo>
                  <a:close/>
                </a:path>
              </a:pathLst>
            </a:custGeom>
            <a:solidFill>
              <a:srgbClr val="E2E8F0"/>
            </a:solidFill>
          </p:spPr>
          <p:txBody>
            <a:bodyPr/>
            <a:lstStyle/>
            <a:p>
              <a:endParaRPr lang="vi-VN"/>
            </a:p>
          </p:txBody>
        </p:sp>
      </p:grpSp>
      <p:grpSp>
        <p:nvGrpSpPr>
          <p:cNvPr id="25" name="Group 25"/>
          <p:cNvGrpSpPr/>
          <p:nvPr/>
        </p:nvGrpSpPr>
        <p:grpSpPr>
          <a:xfrm>
            <a:off x="7486650" y="5297538"/>
            <a:ext cx="9944100" cy="14288"/>
            <a:chOff x="0" y="0"/>
            <a:chExt cx="13258800" cy="19050"/>
          </a:xfrm>
        </p:grpSpPr>
        <p:sp>
          <p:nvSpPr>
            <p:cNvPr id="26" name="Freeform 26"/>
            <p:cNvSpPr/>
            <p:nvPr/>
          </p:nvSpPr>
          <p:spPr>
            <a:xfrm>
              <a:off x="0" y="0"/>
              <a:ext cx="13258800" cy="19050"/>
            </a:xfrm>
            <a:custGeom>
              <a:avLst/>
              <a:gdLst/>
              <a:ahLst/>
              <a:cxnLst/>
              <a:rect l="l" t="t" r="r" b="b"/>
              <a:pathLst>
                <a:path w="13258800" h="19050">
                  <a:moveTo>
                    <a:pt x="0" y="0"/>
                  </a:moveTo>
                  <a:lnTo>
                    <a:pt x="13258800" y="0"/>
                  </a:lnTo>
                  <a:lnTo>
                    <a:pt x="13258800" y="19050"/>
                  </a:lnTo>
                  <a:lnTo>
                    <a:pt x="0" y="19050"/>
                  </a:lnTo>
                  <a:close/>
                </a:path>
              </a:pathLst>
            </a:custGeom>
            <a:solidFill>
              <a:srgbClr val="E2E8F0"/>
            </a:solidFill>
          </p:spPr>
          <p:txBody>
            <a:bodyPr/>
            <a:lstStyle/>
            <a:p>
              <a:endParaRPr lang="vi-VN"/>
            </a:p>
          </p:txBody>
        </p:sp>
      </p:grpSp>
      <p:grpSp>
        <p:nvGrpSpPr>
          <p:cNvPr id="27" name="Group 27"/>
          <p:cNvGrpSpPr/>
          <p:nvPr/>
        </p:nvGrpSpPr>
        <p:grpSpPr>
          <a:xfrm>
            <a:off x="857250" y="6020391"/>
            <a:ext cx="828675" cy="14288"/>
            <a:chOff x="0" y="0"/>
            <a:chExt cx="1104900" cy="19050"/>
          </a:xfrm>
        </p:grpSpPr>
        <p:sp>
          <p:nvSpPr>
            <p:cNvPr id="28" name="Freeform 28"/>
            <p:cNvSpPr/>
            <p:nvPr/>
          </p:nvSpPr>
          <p:spPr>
            <a:xfrm>
              <a:off x="0" y="0"/>
              <a:ext cx="1104900" cy="19050"/>
            </a:xfrm>
            <a:custGeom>
              <a:avLst/>
              <a:gdLst/>
              <a:ahLst/>
              <a:cxnLst/>
              <a:rect l="l" t="t" r="r" b="b"/>
              <a:pathLst>
                <a:path w="1104900" h="19050">
                  <a:moveTo>
                    <a:pt x="0" y="0"/>
                  </a:moveTo>
                  <a:lnTo>
                    <a:pt x="1104900" y="0"/>
                  </a:lnTo>
                  <a:lnTo>
                    <a:pt x="1104900" y="19050"/>
                  </a:lnTo>
                  <a:lnTo>
                    <a:pt x="0" y="19050"/>
                  </a:lnTo>
                  <a:close/>
                </a:path>
              </a:pathLst>
            </a:custGeom>
            <a:solidFill>
              <a:srgbClr val="E2E8F0"/>
            </a:solidFill>
          </p:spPr>
          <p:txBody>
            <a:bodyPr/>
            <a:lstStyle/>
            <a:p>
              <a:endParaRPr lang="vi-VN"/>
            </a:p>
          </p:txBody>
        </p:sp>
      </p:grpSp>
      <p:grpSp>
        <p:nvGrpSpPr>
          <p:cNvPr id="29" name="Group 29"/>
          <p:cNvGrpSpPr/>
          <p:nvPr/>
        </p:nvGrpSpPr>
        <p:grpSpPr>
          <a:xfrm>
            <a:off x="1685925" y="6020391"/>
            <a:ext cx="5800725" cy="14288"/>
            <a:chOff x="0" y="0"/>
            <a:chExt cx="7734300" cy="19050"/>
          </a:xfrm>
        </p:grpSpPr>
        <p:sp>
          <p:nvSpPr>
            <p:cNvPr id="30" name="Freeform 30"/>
            <p:cNvSpPr/>
            <p:nvPr/>
          </p:nvSpPr>
          <p:spPr>
            <a:xfrm>
              <a:off x="0" y="0"/>
              <a:ext cx="7734300" cy="19050"/>
            </a:xfrm>
            <a:custGeom>
              <a:avLst/>
              <a:gdLst/>
              <a:ahLst/>
              <a:cxnLst/>
              <a:rect l="l" t="t" r="r" b="b"/>
              <a:pathLst>
                <a:path w="7734300" h="19050">
                  <a:moveTo>
                    <a:pt x="0" y="0"/>
                  </a:moveTo>
                  <a:lnTo>
                    <a:pt x="7734300" y="0"/>
                  </a:lnTo>
                  <a:lnTo>
                    <a:pt x="7734300" y="19050"/>
                  </a:lnTo>
                  <a:lnTo>
                    <a:pt x="0" y="19050"/>
                  </a:lnTo>
                  <a:close/>
                </a:path>
              </a:pathLst>
            </a:custGeom>
            <a:solidFill>
              <a:srgbClr val="E2E8F0"/>
            </a:solidFill>
          </p:spPr>
          <p:txBody>
            <a:bodyPr/>
            <a:lstStyle/>
            <a:p>
              <a:endParaRPr lang="vi-VN"/>
            </a:p>
          </p:txBody>
        </p:sp>
      </p:grpSp>
      <p:grpSp>
        <p:nvGrpSpPr>
          <p:cNvPr id="31" name="Group 31"/>
          <p:cNvGrpSpPr/>
          <p:nvPr/>
        </p:nvGrpSpPr>
        <p:grpSpPr>
          <a:xfrm>
            <a:off x="7486650" y="6020391"/>
            <a:ext cx="9944100" cy="14288"/>
            <a:chOff x="0" y="0"/>
            <a:chExt cx="13258800" cy="19050"/>
          </a:xfrm>
        </p:grpSpPr>
        <p:sp>
          <p:nvSpPr>
            <p:cNvPr id="32" name="Freeform 32"/>
            <p:cNvSpPr/>
            <p:nvPr/>
          </p:nvSpPr>
          <p:spPr>
            <a:xfrm>
              <a:off x="0" y="0"/>
              <a:ext cx="13258800" cy="19050"/>
            </a:xfrm>
            <a:custGeom>
              <a:avLst/>
              <a:gdLst/>
              <a:ahLst/>
              <a:cxnLst/>
              <a:rect l="l" t="t" r="r" b="b"/>
              <a:pathLst>
                <a:path w="13258800" h="19050">
                  <a:moveTo>
                    <a:pt x="0" y="0"/>
                  </a:moveTo>
                  <a:lnTo>
                    <a:pt x="13258800" y="0"/>
                  </a:lnTo>
                  <a:lnTo>
                    <a:pt x="13258800" y="19050"/>
                  </a:lnTo>
                  <a:lnTo>
                    <a:pt x="0" y="19050"/>
                  </a:lnTo>
                  <a:close/>
                </a:path>
              </a:pathLst>
            </a:custGeom>
            <a:solidFill>
              <a:srgbClr val="E2E8F0"/>
            </a:solidFill>
          </p:spPr>
          <p:txBody>
            <a:bodyPr/>
            <a:lstStyle/>
            <a:p>
              <a:endParaRPr lang="vi-VN"/>
            </a:p>
          </p:txBody>
        </p:sp>
      </p:grpSp>
      <p:grpSp>
        <p:nvGrpSpPr>
          <p:cNvPr id="33" name="Group 33"/>
          <p:cNvGrpSpPr/>
          <p:nvPr/>
        </p:nvGrpSpPr>
        <p:grpSpPr>
          <a:xfrm>
            <a:off x="857250" y="6743252"/>
            <a:ext cx="828675" cy="14288"/>
            <a:chOff x="0" y="0"/>
            <a:chExt cx="1104900" cy="19050"/>
          </a:xfrm>
        </p:grpSpPr>
        <p:sp>
          <p:nvSpPr>
            <p:cNvPr id="34" name="Freeform 34"/>
            <p:cNvSpPr/>
            <p:nvPr/>
          </p:nvSpPr>
          <p:spPr>
            <a:xfrm>
              <a:off x="0" y="0"/>
              <a:ext cx="1104900" cy="19050"/>
            </a:xfrm>
            <a:custGeom>
              <a:avLst/>
              <a:gdLst/>
              <a:ahLst/>
              <a:cxnLst/>
              <a:rect l="l" t="t" r="r" b="b"/>
              <a:pathLst>
                <a:path w="1104900" h="19050">
                  <a:moveTo>
                    <a:pt x="0" y="0"/>
                  </a:moveTo>
                  <a:lnTo>
                    <a:pt x="1104900" y="0"/>
                  </a:lnTo>
                  <a:lnTo>
                    <a:pt x="1104900" y="19050"/>
                  </a:lnTo>
                  <a:lnTo>
                    <a:pt x="0" y="19050"/>
                  </a:lnTo>
                  <a:close/>
                </a:path>
              </a:pathLst>
            </a:custGeom>
            <a:solidFill>
              <a:srgbClr val="E2E8F0"/>
            </a:solidFill>
          </p:spPr>
          <p:txBody>
            <a:bodyPr/>
            <a:lstStyle/>
            <a:p>
              <a:endParaRPr lang="vi-VN"/>
            </a:p>
          </p:txBody>
        </p:sp>
      </p:grpSp>
      <p:grpSp>
        <p:nvGrpSpPr>
          <p:cNvPr id="35" name="Group 35"/>
          <p:cNvGrpSpPr/>
          <p:nvPr/>
        </p:nvGrpSpPr>
        <p:grpSpPr>
          <a:xfrm>
            <a:off x="1685925" y="6743252"/>
            <a:ext cx="5800725" cy="14288"/>
            <a:chOff x="0" y="0"/>
            <a:chExt cx="7734300" cy="19050"/>
          </a:xfrm>
        </p:grpSpPr>
        <p:sp>
          <p:nvSpPr>
            <p:cNvPr id="36" name="Freeform 36"/>
            <p:cNvSpPr/>
            <p:nvPr/>
          </p:nvSpPr>
          <p:spPr>
            <a:xfrm>
              <a:off x="0" y="0"/>
              <a:ext cx="7734300" cy="19050"/>
            </a:xfrm>
            <a:custGeom>
              <a:avLst/>
              <a:gdLst/>
              <a:ahLst/>
              <a:cxnLst/>
              <a:rect l="l" t="t" r="r" b="b"/>
              <a:pathLst>
                <a:path w="7734300" h="19050">
                  <a:moveTo>
                    <a:pt x="0" y="0"/>
                  </a:moveTo>
                  <a:lnTo>
                    <a:pt x="7734300" y="0"/>
                  </a:lnTo>
                  <a:lnTo>
                    <a:pt x="7734300" y="19050"/>
                  </a:lnTo>
                  <a:lnTo>
                    <a:pt x="0" y="19050"/>
                  </a:lnTo>
                  <a:close/>
                </a:path>
              </a:pathLst>
            </a:custGeom>
            <a:solidFill>
              <a:srgbClr val="E2E8F0"/>
            </a:solidFill>
          </p:spPr>
          <p:txBody>
            <a:bodyPr/>
            <a:lstStyle/>
            <a:p>
              <a:endParaRPr lang="vi-VN"/>
            </a:p>
          </p:txBody>
        </p:sp>
      </p:grpSp>
      <p:grpSp>
        <p:nvGrpSpPr>
          <p:cNvPr id="37" name="Group 37"/>
          <p:cNvGrpSpPr/>
          <p:nvPr/>
        </p:nvGrpSpPr>
        <p:grpSpPr>
          <a:xfrm>
            <a:off x="7486650" y="6743252"/>
            <a:ext cx="9944100" cy="14288"/>
            <a:chOff x="0" y="0"/>
            <a:chExt cx="13258800" cy="19050"/>
          </a:xfrm>
        </p:grpSpPr>
        <p:sp>
          <p:nvSpPr>
            <p:cNvPr id="38" name="Freeform 38"/>
            <p:cNvSpPr/>
            <p:nvPr/>
          </p:nvSpPr>
          <p:spPr>
            <a:xfrm>
              <a:off x="0" y="0"/>
              <a:ext cx="13258800" cy="19050"/>
            </a:xfrm>
            <a:custGeom>
              <a:avLst/>
              <a:gdLst/>
              <a:ahLst/>
              <a:cxnLst/>
              <a:rect l="l" t="t" r="r" b="b"/>
              <a:pathLst>
                <a:path w="13258800" h="19050">
                  <a:moveTo>
                    <a:pt x="0" y="0"/>
                  </a:moveTo>
                  <a:lnTo>
                    <a:pt x="13258800" y="0"/>
                  </a:lnTo>
                  <a:lnTo>
                    <a:pt x="13258800" y="19050"/>
                  </a:lnTo>
                  <a:lnTo>
                    <a:pt x="0" y="19050"/>
                  </a:lnTo>
                  <a:close/>
                </a:path>
              </a:pathLst>
            </a:custGeom>
            <a:solidFill>
              <a:srgbClr val="E2E8F0"/>
            </a:solidFill>
          </p:spPr>
          <p:txBody>
            <a:bodyPr/>
            <a:lstStyle/>
            <a:p>
              <a:endParaRPr lang="vi-VN"/>
            </a:p>
          </p:txBody>
        </p:sp>
      </p:grpSp>
      <p:sp>
        <p:nvSpPr>
          <p:cNvPr id="39" name="TextBox 39"/>
          <p:cNvSpPr txBox="1"/>
          <p:nvPr/>
        </p:nvSpPr>
        <p:spPr>
          <a:xfrm>
            <a:off x="857250" y="857250"/>
            <a:ext cx="17402175" cy="700088"/>
          </a:xfrm>
          <a:prstGeom prst="rect">
            <a:avLst/>
          </a:prstGeom>
        </p:spPr>
        <p:txBody>
          <a:bodyPr lIns="0" tIns="0" rIns="0" bIns="0" rtlCol="0" anchor="t">
            <a:spAutoFit/>
          </a:bodyPr>
          <a:lstStyle/>
          <a:p>
            <a:pPr algn="l">
              <a:lnSpc>
                <a:spcPts val="5130"/>
              </a:lnSpc>
            </a:pPr>
            <a:r>
              <a:rPr lang="en-US" sz="4275" b="1">
                <a:solidFill>
                  <a:srgbClr val="164673"/>
                </a:solidFill>
                <a:latin typeface="Montserrat Bold"/>
                <a:ea typeface="Montserrat Bold"/>
                <a:cs typeface="Montserrat Bold"/>
                <a:sym typeface="Montserrat Bold"/>
              </a:rPr>
              <a:t>TỔNG QUAN ĐỀ TÀI &amp; 5 ĐÓNG GÓP</a:t>
            </a:r>
          </a:p>
        </p:txBody>
      </p:sp>
      <p:grpSp>
        <p:nvGrpSpPr>
          <p:cNvPr id="40" name="Group 40"/>
          <p:cNvGrpSpPr/>
          <p:nvPr/>
        </p:nvGrpSpPr>
        <p:grpSpPr>
          <a:xfrm>
            <a:off x="857250" y="1671638"/>
            <a:ext cx="16573500" cy="28575"/>
            <a:chOff x="0" y="0"/>
            <a:chExt cx="22098000" cy="38100"/>
          </a:xfrm>
        </p:grpSpPr>
        <p:sp>
          <p:nvSpPr>
            <p:cNvPr id="41" name="Freeform 41"/>
            <p:cNvSpPr/>
            <p:nvPr/>
          </p:nvSpPr>
          <p:spPr>
            <a:xfrm>
              <a:off x="0" y="0"/>
              <a:ext cx="22098000" cy="38100"/>
            </a:xfrm>
            <a:custGeom>
              <a:avLst/>
              <a:gdLst/>
              <a:ahLst/>
              <a:cxnLst/>
              <a:rect l="l" t="t" r="r" b="b"/>
              <a:pathLst>
                <a:path w="22098000" h="38100">
                  <a:moveTo>
                    <a:pt x="0" y="0"/>
                  </a:moveTo>
                  <a:lnTo>
                    <a:pt x="22098000" y="0"/>
                  </a:lnTo>
                  <a:lnTo>
                    <a:pt x="22098000" y="38100"/>
                  </a:lnTo>
                  <a:lnTo>
                    <a:pt x="0" y="38100"/>
                  </a:lnTo>
                  <a:close/>
                </a:path>
              </a:pathLst>
            </a:custGeom>
            <a:solidFill>
              <a:srgbClr val="48A6D8"/>
            </a:solidFill>
          </p:spPr>
          <p:txBody>
            <a:bodyPr/>
            <a:lstStyle/>
            <a:p>
              <a:endParaRPr lang="vi-VN"/>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grpSp>
        <p:nvGrpSpPr>
          <p:cNvPr id="4" name="Group 4"/>
          <p:cNvGrpSpPr/>
          <p:nvPr/>
        </p:nvGrpSpPr>
        <p:grpSpPr>
          <a:xfrm>
            <a:off x="9429750" y="2128838"/>
            <a:ext cx="8001000" cy="7300912"/>
            <a:chOff x="0" y="0"/>
            <a:chExt cx="10668000" cy="9734550"/>
          </a:xfrm>
        </p:grpSpPr>
        <p:sp>
          <p:nvSpPr>
            <p:cNvPr id="5" name="Freeform 5" descr="image.png"/>
            <p:cNvSpPr/>
            <p:nvPr/>
          </p:nvSpPr>
          <p:spPr>
            <a:xfrm>
              <a:off x="0" y="0"/>
              <a:ext cx="10668000" cy="9734550"/>
            </a:xfrm>
            <a:custGeom>
              <a:avLst/>
              <a:gdLst/>
              <a:ahLst/>
              <a:cxnLst/>
              <a:rect l="l" t="t" r="r" b="b"/>
              <a:pathLst>
                <a:path w="10668000" h="9734550">
                  <a:moveTo>
                    <a:pt x="0" y="0"/>
                  </a:moveTo>
                  <a:lnTo>
                    <a:pt x="10668000" y="0"/>
                  </a:lnTo>
                  <a:lnTo>
                    <a:pt x="10668000" y="9734550"/>
                  </a:lnTo>
                  <a:lnTo>
                    <a:pt x="0" y="9734550"/>
                  </a:lnTo>
                  <a:lnTo>
                    <a:pt x="0" y="0"/>
                  </a:lnTo>
                  <a:close/>
                </a:path>
              </a:pathLst>
            </a:custGeom>
            <a:blipFill>
              <a:blip r:embed="rId4"/>
              <a:stretch>
                <a:fillRect/>
              </a:stretch>
            </a:blipFill>
          </p:spPr>
          <p:txBody>
            <a:bodyPr/>
            <a:lstStyle/>
            <a:p>
              <a:endParaRPr lang="vi-VN"/>
            </a:p>
          </p:txBody>
        </p:sp>
      </p:grpSp>
      <p:grpSp>
        <p:nvGrpSpPr>
          <p:cNvPr id="6" name="Group 6"/>
          <p:cNvGrpSpPr/>
          <p:nvPr/>
        </p:nvGrpSpPr>
        <p:grpSpPr>
          <a:xfrm>
            <a:off x="10258425" y="1719262"/>
            <a:ext cx="7380740" cy="8567738"/>
            <a:chOff x="0" y="0"/>
            <a:chExt cx="10831102" cy="12573000"/>
          </a:xfrm>
        </p:grpSpPr>
        <p:sp>
          <p:nvSpPr>
            <p:cNvPr id="7" name="Freeform 7"/>
            <p:cNvSpPr/>
            <p:nvPr/>
          </p:nvSpPr>
          <p:spPr>
            <a:xfrm>
              <a:off x="0" y="0"/>
              <a:ext cx="10831102" cy="12573000"/>
            </a:xfrm>
            <a:custGeom>
              <a:avLst/>
              <a:gdLst/>
              <a:ahLst/>
              <a:cxnLst/>
              <a:rect l="l" t="t" r="r" b="b"/>
              <a:pathLst>
                <a:path w="10831102" h="12573000">
                  <a:moveTo>
                    <a:pt x="0" y="0"/>
                  </a:moveTo>
                  <a:lnTo>
                    <a:pt x="10831102" y="0"/>
                  </a:lnTo>
                  <a:lnTo>
                    <a:pt x="10831102" y="12573000"/>
                  </a:lnTo>
                  <a:lnTo>
                    <a:pt x="0" y="12573000"/>
                  </a:lnTo>
                  <a:lnTo>
                    <a:pt x="0" y="0"/>
                  </a:lnTo>
                  <a:close/>
                </a:path>
              </a:pathLst>
            </a:custGeom>
            <a:blipFill>
              <a:blip r:embed="rId5"/>
              <a:stretch>
                <a:fillRect t="-1606" b="-1606"/>
              </a:stretch>
            </a:blipFill>
          </p:spPr>
          <p:txBody>
            <a:bodyPr/>
            <a:lstStyle/>
            <a:p>
              <a:endParaRPr lang="vi-VN"/>
            </a:p>
          </p:txBody>
        </p:sp>
      </p:grpSp>
      <p:grpSp>
        <p:nvGrpSpPr>
          <p:cNvPr id="8" name="Group 8"/>
          <p:cNvGrpSpPr/>
          <p:nvPr/>
        </p:nvGrpSpPr>
        <p:grpSpPr>
          <a:xfrm>
            <a:off x="857250" y="1671638"/>
            <a:ext cx="16573500" cy="47625"/>
            <a:chOff x="0" y="0"/>
            <a:chExt cx="22098000" cy="63500"/>
          </a:xfrm>
        </p:grpSpPr>
        <p:sp>
          <p:nvSpPr>
            <p:cNvPr id="9" name="Freeform 9"/>
            <p:cNvSpPr/>
            <p:nvPr/>
          </p:nvSpPr>
          <p:spPr>
            <a:xfrm>
              <a:off x="0" y="0"/>
              <a:ext cx="22098000" cy="63500"/>
            </a:xfrm>
            <a:custGeom>
              <a:avLst/>
              <a:gdLst/>
              <a:ahLst/>
              <a:cxnLst/>
              <a:rect l="l" t="t" r="r" b="b"/>
              <a:pathLst>
                <a:path w="22098000" h="63500">
                  <a:moveTo>
                    <a:pt x="0" y="0"/>
                  </a:moveTo>
                  <a:lnTo>
                    <a:pt x="22098000" y="0"/>
                  </a:lnTo>
                  <a:lnTo>
                    <a:pt x="22098000" y="63500"/>
                  </a:lnTo>
                  <a:lnTo>
                    <a:pt x="0" y="63500"/>
                  </a:lnTo>
                  <a:close/>
                </a:path>
              </a:pathLst>
            </a:custGeom>
            <a:solidFill>
              <a:srgbClr val="48A6D8"/>
            </a:solidFill>
          </p:spPr>
          <p:txBody>
            <a:bodyPr/>
            <a:lstStyle/>
            <a:p>
              <a:endParaRPr lang="vi-VN"/>
            </a:p>
          </p:txBody>
        </p:sp>
      </p:grpSp>
      <p:grpSp>
        <p:nvGrpSpPr>
          <p:cNvPr id="10" name="Group 10"/>
          <p:cNvGrpSpPr/>
          <p:nvPr/>
        </p:nvGrpSpPr>
        <p:grpSpPr>
          <a:xfrm>
            <a:off x="857250" y="3636388"/>
            <a:ext cx="157162" cy="271462"/>
            <a:chOff x="0" y="0"/>
            <a:chExt cx="209550" cy="361950"/>
          </a:xfrm>
        </p:grpSpPr>
        <p:sp>
          <p:nvSpPr>
            <p:cNvPr id="11" name="Freeform 11"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6"/>
              <a:stretch>
                <a:fillRect/>
              </a:stretch>
            </a:blipFill>
          </p:spPr>
          <p:txBody>
            <a:bodyPr/>
            <a:lstStyle/>
            <a:p>
              <a:endParaRPr lang="vi-VN"/>
            </a:p>
          </p:txBody>
        </p:sp>
      </p:grpSp>
      <p:grpSp>
        <p:nvGrpSpPr>
          <p:cNvPr id="12" name="Group 12"/>
          <p:cNvGrpSpPr/>
          <p:nvPr/>
        </p:nvGrpSpPr>
        <p:grpSpPr>
          <a:xfrm>
            <a:off x="857250" y="4630712"/>
            <a:ext cx="157162" cy="271462"/>
            <a:chOff x="0" y="0"/>
            <a:chExt cx="209550" cy="361950"/>
          </a:xfrm>
        </p:grpSpPr>
        <p:sp>
          <p:nvSpPr>
            <p:cNvPr id="13" name="Freeform 13"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6"/>
              <a:stretch>
                <a:fillRect/>
              </a:stretch>
            </a:blipFill>
          </p:spPr>
          <p:txBody>
            <a:bodyPr/>
            <a:lstStyle/>
            <a:p>
              <a:endParaRPr lang="vi-VN"/>
            </a:p>
          </p:txBody>
        </p:sp>
      </p:grpSp>
      <p:grpSp>
        <p:nvGrpSpPr>
          <p:cNvPr id="14" name="Group 14"/>
          <p:cNvGrpSpPr/>
          <p:nvPr/>
        </p:nvGrpSpPr>
        <p:grpSpPr>
          <a:xfrm>
            <a:off x="857250" y="5625036"/>
            <a:ext cx="157162" cy="271462"/>
            <a:chOff x="0" y="0"/>
            <a:chExt cx="209550" cy="361950"/>
          </a:xfrm>
        </p:grpSpPr>
        <p:sp>
          <p:nvSpPr>
            <p:cNvPr id="15" name="Freeform 15"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6"/>
              <a:stretch>
                <a:fillRect/>
              </a:stretch>
            </a:blipFill>
          </p:spPr>
          <p:txBody>
            <a:bodyPr/>
            <a:lstStyle/>
            <a:p>
              <a:endParaRPr lang="vi-VN"/>
            </a:p>
          </p:txBody>
        </p:sp>
      </p:grpSp>
      <p:grpSp>
        <p:nvGrpSpPr>
          <p:cNvPr id="16" name="Group 16"/>
          <p:cNvGrpSpPr/>
          <p:nvPr/>
        </p:nvGrpSpPr>
        <p:grpSpPr>
          <a:xfrm>
            <a:off x="857250" y="6619351"/>
            <a:ext cx="157162" cy="271462"/>
            <a:chOff x="0" y="0"/>
            <a:chExt cx="209550" cy="361950"/>
          </a:xfrm>
        </p:grpSpPr>
        <p:sp>
          <p:nvSpPr>
            <p:cNvPr id="17" name="Freeform 17"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6"/>
              <a:stretch>
                <a:fillRect/>
              </a:stretch>
            </a:blipFill>
          </p:spPr>
          <p:txBody>
            <a:bodyPr/>
            <a:lstStyle/>
            <a:p>
              <a:endParaRPr lang="vi-VN"/>
            </a:p>
          </p:txBody>
        </p:sp>
      </p:grpSp>
      <p:grpSp>
        <p:nvGrpSpPr>
          <p:cNvPr id="18" name="Group 18"/>
          <p:cNvGrpSpPr/>
          <p:nvPr/>
        </p:nvGrpSpPr>
        <p:grpSpPr>
          <a:xfrm>
            <a:off x="857250" y="7613675"/>
            <a:ext cx="157162" cy="271462"/>
            <a:chOff x="0" y="0"/>
            <a:chExt cx="209550" cy="361950"/>
          </a:xfrm>
        </p:grpSpPr>
        <p:sp>
          <p:nvSpPr>
            <p:cNvPr id="19" name="Freeform 19"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6"/>
              <a:stretch>
                <a:fillRect/>
              </a:stretch>
            </a:blipFill>
          </p:spPr>
          <p:txBody>
            <a:bodyPr/>
            <a:lstStyle/>
            <a:p>
              <a:endParaRPr lang="vi-VN"/>
            </a:p>
          </p:txBody>
        </p:sp>
      </p:grpSp>
      <p:sp>
        <p:nvSpPr>
          <p:cNvPr id="20" name="TextBox 20"/>
          <p:cNvSpPr txBox="1"/>
          <p:nvPr/>
        </p:nvSpPr>
        <p:spPr>
          <a:xfrm>
            <a:off x="857250" y="2979163"/>
            <a:ext cx="8401050" cy="414338"/>
          </a:xfrm>
          <a:prstGeom prst="rect">
            <a:avLst/>
          </a:prstGeom>
        </p:spPr>
        <p:txBody>
          <a:bodyPr lIns="0" tIns="0" rIns="0" bIns="0" rtlCol="0" anchor="t">
            <a:spAutoFit/>
          </a:bodyPr>
          <a:lstStyle/>
          <a:p>
            <a:pPr algn="l">
              <a:lnSpc>
                <a:spcPts val="3240"/>
              </a:lnSpc>
            </a:pPr>
            <a:r>
              <a:rPr lang="en-US" sz="2700">
                <a:solidFill>
                  <a:srgbClr val="164673"/>
                </a:solidFill>
                <a:latin typeface="Montserrat"/>
                <a:ea typeface="Montserrat"/>
                <a:cs typeface="Montserrat"/>
                <a:sym typeface="Montserrat"/>
              </a:rPr>
              <a:t>5 tầng chức năng</a:t>
            </a:r>
          </a:p>
        </p:txBody>
      </p:sp>
      <p:sp>
        <p:nvSpPr>
          <p:cNvPr id="21" name="TextBox 21"/>
          <p:cNvSpPr txBox="1"/>
          <p:nvPr/>
        </p:nvSpPr>
        <p:spPr>
          <a:xfrm>
            <a:off x="1214438" y="3464938"/>
            <a:ext cx="7643812" cy="965749"/>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Data Source Layer:</a:t>
            </a:r>
            <a:r>
              <a:rPr lang="en-US" sz="2025">
                <a:solidFill>
                  <a:srgbClr val="475569"/>
                </a:solidFill>
                <a:latin typeface="Open Sans"/>
                <a:ea typeface="Open Sans"/>
                <a:cs typeface="Open Sans"/>
                <a:sym typeface="Open Sans"/>
              </a:rPr>
              <a:t> 2 Python Producer đọc file Parquet NYC TLC, mô phỏng luồng real-time.</a:t>
            </a:r>
          </a:p>
        </p:txBody>
      </p:sp>
      <p:sp>
        <p:nvSpPr>
          <p:cNvPr id="22" name="TextBox 22"/>
          <p:cNvSpPr txBox="1"/>
          <p:nvPr/>
        </p:nvSpPr>
        <p:spPr>
          <a:xfrm>
            <a:off x="1214438" y="4459262"/>
            <a:ext cx="7643812" cy="965749"/>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Message Broker Layer:</a:t>
            </a:r>
            <a:r>
              <a:rPr lang="en-US" sz="2025">
                <a:solidFill>
                  <a:srgbClr val="475569"/>
                </a:solidFill>
                <a:latin typeface="Open Sans"/>
                <a:ea typeface="Open Sans"/>
                <a:cs typeface="Open Sans"/>
                <a:sym typeface="Open Sans"/>
              </a:rPr>
              <a:t> Apache Kafka (7.1.1) tiếp nhận đồng thời 2 luồng (topic `taxi_stream`), độ trễ phân phối &lt;10ms.</a:t>
            </a:r>
          </a:p>
        </p:txBody>
      </p:sp>
      <p:sp>
        <p:nvSpPr>
          <p:cNvPr id="23" name="TextBox 23"/>
          <p:cNvSpPr txBox="1"/>
          <p:nvPr/>
        </p:nvSpPr>
        <p:spPr>
          <a:xfrm>
            <a:off x="1214438" y="5453586"/>
            <a:ext cx="7643812" cy="965749"/>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Processing &amp; ML Layer:</a:t>
            </a:r>
            <a:r>
              <a:rPr lang="en-US" sz="2025">
                <a:solidFill>
                  <a:srgbClr val="475569"/>
                </a:solidFill>
                <a:latin typeface="Open Sans"/>
                <a:ea typeface="Open Sans"/>
                <a:cs typeface="Open Sans"/>
                <a:sym typeface="Open Sans"/>
              </a:rPr>
              <a:t> Apache Spark (4.1.1) Structured Streaming xử lý micro-batch, foreachBatch → Ensemble ML.</a:t>
            </a:r>
          </a:p>
        </p:txBody>
      </p:sp>
      <p:sp>
        <p:nvSpPr>
          <p:cNvPr id="24" name="TextBox 24"/>
          <p:cNvSpPr txBox="1"/>
          <p:nvPr/>
        </p:nvSpPr>
        <p:spPr>
          <a:xfrm>
            <a:off x="1214438" y="6447901"/>
            <a:ext cx="7643812" cy="965749"/>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Storage Layer:</a:t>
            </a:r>
            <a:r>
              <a:rPr lang="en-US" sz="2025">
                <a:solidFill>
                  <a:srgbClr val="475569"/>
                </a:solidFill>
                <a:latin typeface="Open Sans"/>
                <a:ea typeface="Open Sans"/>
                <a:cs typeface="Open Sans"/>
                <a:sym typeface="Open Sans"/>
              </a:rPr>
              <a:t> PostgreSQL (13) lưu 3 bảng: `normal_trips`, `anomalous_trips`, `pipeline_metrics`.</a:t>
            </a:r>
          </a:p>
        </p:txBody>
      </p:sp>
      <p:sp>
        <p:nvSpPr>
          <p:cNvPr id="25" name="TextBox 25"/>
          <p:cNvSpPr txBox="1"/>
          <p:nvPr/>
        </p:nvSpPr>
        <p:spPr>
          <a:xfrm>
            <a:off x="1214438" y="7442225"/>
            <a:ext cx="7643812" cy="965749"/>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Visualization Layer:</a:t>
            </a:r>
            <a:r>
              <a:rPr lang="en-US" sz="2025">
                <a:solidFill>
                  <a:srgbClr val="475569"/>
                </a:solidFill>
                <a:latin typeface="Open Sans"/>
                <a:ea typeface="Open Sans"/>
                <a:cs typeface="Open Sans"/>
                <a:sym typeface="Open Sans"/>
              </a:rPr>
              <a:t> Streamlit Dashboard cập nhật 3s/lần, Benchmark Evaluator cập nhật 30s/lần.</a:t>
            </a:r>
          </a:p>
        </p:txBody>
      </p:sp>
      <p:sp>
        <p:nvSpPr>
          <p:cNvPr id="26" name="TextBox 26"/>
          <p:cNvSpPr txBox="1"/>
          <p:nvPr/>
        </p:nvSpPr>
        <p:spPr>
          <a:xfrm>
            <a:off x="857250" y="857250"/>
            <a:ext cx="17402175" cy="700088"/>
          </a:xfrm>
          <a:prstGeom prst="rect">
            <a:avLst/>
          </a:prstGeom>
        </p:spPr>
        <p:txBody>
          <a:bodyPr lIns="0" tIns="0" rIns="0" bIns="0" rtlCol="0" anchor="t">
            <a:spAutoFit/>
          </a:bodyPr>
          <a:lstStyle/>
          <a:p>
            <a:pPr algn="l">
              <a:lnSpc>
                <a:spcPts val="5130"/>
              </a:lnSpc>
            </a:pPr>
            <a:r>
              <a:rPr lang="en-US" sz="4275" b="1">
                <a:solidFill>
                  <a:srgbClr val="164673"/>
                </a:solidFill>
                <a:latin typeface="Montserrat Bold"/>
                <a:ea typeface="Montserrat Bold"/>
                <a:cs typeface="Montserrat Bold"/>
                <a:sym typeface="Montserrat Bold"/>
              </a:rPr>
              <a:t>KIẾN TRÚC BIG DATA 5 TẦNG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grpSp>
        <p:nvGrpSpPr>
          <p:cNvPr id="4" name="Group 4"/>
          <p:cNvGrpSpPr/>
          <p:nvPr/>
        </p:nvGrpSpPr>
        <p:grpSpPr>
          <a:xfrm>
            <a:off x="857250" y="2768870"/>
            <a:ext cx="8001000" cy="6660880"/>
            <a:chOff x="0" y="0"/>
            <a:chExt cx="10668000" cy="8881174"/>
          </a:xfrm>
        </p:grpSpPr>
        <p:sp>
          <p:nvSpPr>
            <p:cNvPr id="5" name="Freeform 5" descr="image.png"/>
            <p:cNvSpPr/>
            <p:nvPr/>
          </p:nvSpPr>
          <p:spPr>
            <a:xfrm>
              <a:off x="0" y="0"/>
              <a:ext cx="10668000" cy="8881110"/>
            </a:xfrm>
            <a:custGeom>
              <a:avLst/>
              <a:gdLst/>
              <a:ahLst/>
              <a:cxnLst/>
              <a:rect l="l" t="t" r="r" b="b"/>
              <a:pathLst>
                <a:path w="10668000" h="8881110">
                  <a:moveTo>
                    <a:pt x="0" y="0"/>
                  </a:moveTo>
                  <a:lnTo>
                    <a:pt x="10668000" y="0"/>
                  </a:lnTo>
                  <a:lnTo>
                    <a:pt x="10668000" y="8881110"/>
                  </a:lnTo>
                  <a:lnTo>
                    <a:pt x="0" y="8881110"/>
                  </a:lnTo>
                  <a:lnTo>
                    <a:pt x="0" y="0"/>
                  </a:lnTo>
                  <a:close/>
                </a:path>
              </a:pathLst>
            </a:custGeom>
            <a:blipFill>
              <a:blip r:embed="rId4"/>
              <a:stretch>
                <a:fillRect r="-691"/>
              </a:stretch>
            </a:blipFill>
          </p:spPr>
          <p:txBody>
            <a:bodyPr/>
            <a:lstStyle/>
            <a:p>
              <a:endParaRPr lang="vi-VN"/>
            </a:p>
          </p:txBody>
        </p:sp>
      </p:grpSp>
      <p:grpSp>
        <p:nvGrpSpPr>
          <p:cNvPr id="6" name="Group 6"/>
          <p:cNvGrpSpPr/>
          <p:nvPr/>
        </p:nvGrpSpPr>
        <p:grpSpPr>
          <a:xfrm>
            <a:off x="9429750" y="2768870"/>
            <a:ext cx="8001000" cy="6660880"/>
            <a:chOff x="0" y="0"/>
            <a:chExt cx="10668000" cy="8881174"/>
          </a:xfrm>
        </p:grpSpPr>
        <p:sp>
          <p:nvSpPr>
            <p:cNvPr id="7" name="Freeform 7" descr="image.png"/>
            <p:cNvSpPr/>
            <p:nvPr/>
          </p:nvSpPr>
          <p:spPr>
            <a:xfrm>
              <a:off x="0" y="0"/>
              <a:ext cx="10668000" cy="8881110"/>
            </a:xfrm>
            <a:custGeom>
              <a:avLst/>
              <a:gdLst/>
              <a:ahLst/>
              <a:cxnLst/>
              <a:rect l="l" t="t" r="r" b="b"/>
              <a:pathLst>
                <a:path w="10668000" h="8881110">
                  <a:moveTo>
                    <a:pt x="0" y="0"/>
                  </a:moveTo>
                  <a:lnTo>
                    <a:pt x="10668000" y="0"/>
                  </a:lnTo>
                  <a:lnTo>
                    <a:pt x="10668000" y="8881110"/>
                  </a:lnTo>
                  <a:lnTo>
                    <a:pt x="0" y="8881110"/>
                  </a:lnTo>
                  <a:lnTo>
                    <a:pt x="0" y="0"/>
                  </a:lnTo>
                  <a:close/>
                </a:path>
              </a:pathLst>
            </a:custGeom>
            <a:blipFill>
              <a:blip r:embed="rId5"/>
              <a:stretch>
                <a:fillRect r="-691"/>
              </a:stretch>
            </a:blipFill>
          </p:spPr>
          <p:txBody>
            <a:bodyPr/>
            <a:lstStyle/>
            <a:p>
              <a:endParaRPr lang="vi-VN"/>
            </a:p>
          </p:txBody>
        </p:sp>
      </p:grpSp>
      <p:sp>
        <p:nvSpPr>
          <p:cNvPr id="8" name="TextBox 8"/>
          <p:cNvSpPr txBox="1"/>
          <p:nvPr/>
        </p:nvSpPr>
        <p:spPr>
          <a:xfrm>
            <a:off x="857250" y="1928813"/>
            <a:ext cx="11072298" cy="443440"/>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Vấn đề của bài báo gốc:</a:t>
            </a:r>
            <a:r>
              <a:rPr lang="en-US" sz="2025">
                <a:solidFill>
                  <a:srgbClr val="475569"/>
                </a:solidFill>
                <a:latin typeface="Open Sans"/>
                <a:ea typeface="Open Sans"/>
                <a:cs typeface="Open Sans"/>
                <a:sym typeface="Open Sans"/>
              </a:rPr>
              <a:t> Chỉ đề cập pipeline đơn luồng, không xử lý nhiều nguồn đồng thời.</a:t>
            </a:r>
          </a:p>
        </p:txBody>
      </p:sp>
      <p:sp>
        <p:nvSpPr>
          <p:cNvPr id="9" name="TextBox 9"/>
          <p:cNvSpPr txBox="1"/>
          <p:nvPr/>
        </p:nvSpPr>
        <p:spPr>
          <a:xfrm>
            <a:off x="1300162" y="3254645"/>
            <a:ext cx="7470934" cy="400050"/>
          </a:xfrm>
          <a:prstGeom prst="rect">
            <a:avLst/>
          </a:prstGeom>
        </p:spPr>
        <p:txBody>
          <a:bodyPr lIns="0" tIns="0" rIns="0" bIns="0" rtlCol="0" anchor="t">
            <a:spAutoFit/>
          </a:bodyPr>
          <a:lstStyle/>
          <a:p>
            <a:pPr algn="l">
              <a:lnSpc>
                <a:spcPts val="3240"/>
              </a:lnSpc>
            </a:pPr>
            <a:r>
              <a:rPr lang="en-US" sz="2700">
                <a:solidFill>
                  <a:srgbClr val="164673"/>
                </a:solidFill>
                <a:latin typeface="Montserrat"/>
                <a:ea typeface="Montserrat"/>
                <a:cs typeface="Montserrat"/>
                <a:sym typeface="Montserrat"/>
              </a:rPr>
              <a:t>Tối ưu hóa Producer</a:t>
            </a:r>
          </a:p>
        </p:txBody>
      </p:sp>
      <p:sp>
        <p:nvSpPr>
          <p:cNvPr id="10" name="TextBox 10"/>
          <p:cNvSpPr txBox="1"/>
          <p:nvPr/>
        </p:nvSpPr>
        <p:spPr>
          <a:xfrm>
            <a:off x="9872662" y="3254645"/>
            <a:ext cx="7470934" cy="400050"/>
          </a:xfrm>
          <a:prstGeom prst="rect">
            <a:avLst/>
          </a:prstGeom>
        </p:spPr>
        <p:txBody>
          <a:bodyPr lIns="0" tIns="0" rIns="0" bIns="0" rtlCol="0" anchor="t">
            <a:spAutoFit/>
          </a:bodyPr>
          <a:lstStyle/>
          <a:p>
            <a:pPr algn="l">
              <a:lnSpc>
                <a:spcPts val="3240"/>
              </a:lnSpc>
            </a:pPr>
            <a:r>
              <a:rPr lang="en-US" sz="2700">
                <a:solidFill>
                  <a:srgbClr val="164673"/>
                </a:solidFill>
                <a:latin typeface="Montserrat"/>
                <a:ea typeface="Montserrat"/>
                <a:cs typeface="Montserrat"/>
                <a:sym typeface="Montserrat"/>
              </a:rPr>
              <a:t>Cấu hình Kafka / Spark</a:t>
            </a:r>
          </a:p>
        </p:txBody>
      </p:sp>
      <p:sp>
        <p:nvSpPr>
          <p:cNvPr id="11" name="TextBox 11"/>
          <p:cNvSpPr txBox="1"/>
          <p:nvPr/>
        </p:nvSpPr>
        <p:spPr>
          <a:xfrm>
            <a:off x="1657350" y="3726132"/>
            <a:ext cx="6757988" cy="965749"/>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Yellow Producer:</a:t>
            </a:r>
            <a:r>
              <a:rPr lang="en-US" sz="2025">
                <a:solidFill>
                  <a:srgbClr val="475569"/>
                </a:solidFill>
                <a:latin typeface="Open Sans"/>
                <a:ea typeface="Open Sans"/>
                <a:cs typeface="Open Sans"/>
                <a:sym typeface="Open Sans"/>
              </a:rPr>
              <a:t> 3.952.451 bản ghi, time.sleep(0.005) → ~200 msg/s.</a:t>
            </a:r>
          </a:p>
        </p:txBody>
      </p:sp>
      <p:sp>
        <p:nvSpPr>
          <p:cNvPr id="12" name="TextBox 12"/>
          <p:cNvSpPr txBox="1"/>
          <p:nvPr/>
        </p:nvSpPr>
        <p:spPr>
          <a:xfrm>
            <a:off x="1657350" y="4720457"/>
            <a:ext cx="6757988" cy="965749"/>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Green Producer:</a:t>
            </a:r>
            <a:r>
              <a:rPr lang="en-US" sz="2025">
                <a:solidFill>
                  <a:srgbClr val="475569"/>
                </a:solidFill>
                <a:latin typeface="Open Sans"/>
                <a:ea typeface="Open Sans"/>
                <a:cs typeface="Open Sans"/>
                <a:sym typeface="Open Sans"/>
              </a:rPr>
              <a:t> 44.208 bản ghi, time.sleep(0.005) → ~200 msg/s.</a:t>
            </a:r>
          </a:p>
        </p:txBody>
      </p:sp>
      <p:sp>
        <p:nvSpPr>
          <p:cNvPr id="13" name="TextBox 13"/>
          <p:cNvSpPr txBox="1"/>
          <p:nvPr/>
        </p:nvSpPr>
        <p:spPr>
          <a:xfrm>
            <a:off x="1657350" y="5714781"/>
            <a:ext cx="6757988" cy="965749"/>
          </a:xfrm>
          <a:prstGeom prst="rect">
            <a:avLst/>
          </a:prstGeom>
        </p:spPr>
        <p:txBody>
          <a:bodyPr lIns="0" tIns="0" rIns="0" bIns="0" rtlCol="0" anchor="t">
            <a:spAutoFit/>
          </a:bodyPr>
          <a:lstStyle/>
          <a:p>
            <a:pPr algn="l">
              <a:lnSpc>
                <a:spcPts val="3887"/>
              </a:lnSpc>
            </a:pPr>
            <a:r>
              <a:rPr lang="en-US" sz="2025">
                <a:solidFill>
                  <a:srgbClr val="475569"/>
                </a:solidFill>
                <a:latin typeface="Open Sans"/>
                <a:ea typeface="Open Sans"/>
                <a:cs typeface="Open Sans"/>
                <a:sym typeface="Open Sans"/>
              </a:rPr>
              <a:t>Tổng throughput đầu vào: </a:t>
            </a:r>
            <a:r>
              <a:rPr lang="en-US" sz="2025">
                <a:solidFill>
                  <a:srgbClr val="1E293B"/>
                </a:solidFill>
                <a:latin typeface="Open Sans"/>
                <a:ea typeface="Open Sans"/>
                <a:cs typeface="Open Sans"/>
                <a:sym typeface="Open Sans"/>
              </a:rPr>
              <a:t>~400 msg/s</a:t>
            </a:r>
            <a:r>
              <a:rPr lang="en-US" sz="2025">
                <a:solidFill>
                  <a:srgbClr val="475569"/>
                </a:solidFill>
                <a:latin typeface="Open Sans"/>
                <a:ea typeface="Open Sans"/>
                <a:cs typeface="Open Sans"/>
                <a:sym typeface="Open Sans"/>
              </a:rPr>
              <a:t> trước khi Spark giới hạn.</a:t>
            </a:r>
          </a:p>
        </p:txBody>
      </p:sp>
      <p:sp>
        <p:nvSpPr>
          <p:cNvPr id="14" name="TextBox 14"/>
          <p:cNvSpPr txBox="1"/>
          <p:nvPr/>
        </p:nvSpPr>
        <p:spPr>
          <a:xfrm>
            <a:off x="1657350" y="6709096"/>
            <a:ext cx="6757988" cy="1377182"/>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Memory Optimization:</a:t>
            </a:r>
            <a:r>
              <a:rPr lang="en-US" sz="2025">
                <a:solidFill>
                  <a:srgbClr val="475569"/>
                </a:solidFill>
                <a:latin typeface="Open Sans"/>
                <a:ea typeface="Open Sans"/>
                <a:cs typeface="Open Sans"/>
                <a:sym typeface="Open Sans"/>
              </a:rPr>
              <a:t> Tải toàn bộ dữ liệu vào RAM dạng Python List thuần (không dùng Pandas DataFrame), giảm 40-60% memory footprint.</a:t>
            </a:r>
          </a:p>
        </p:txBody>
      </p:sp>
      <p:sp>
        <p:nvSpPr>
          <p:cNvPr id="15" name="TextBox 15"/>
          <p:cNvSpPr txBox="1"/>
          <p:nvPr/>
        </p:nvSpPr>
        <p:spPr>
          <a:xfrm>
            <a:off x="10229850" y="3726132"/>
            <a:ext cx="6757988" cy="1377182"/>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Kiểm soát Micro-batch:</a:t>
            </a:r>
            <a:r>
              <a:rPr lang="en-US" sz="2025">
                <a:solidFill>
                  <a:srgbClr val="475569"/>
                </a:solidFill>
                <a:latin typeface="Open Sans"/>
                <a:ea typeface="Open Sans"/>
                <a:cs typeface="Open Sans"/>
                <a:sym typeface="Open Sans"/>
              </a:rPr>
              <a:t> maxOffsetsPerTrigger = 5.000 giới hạn mỗi micro-batch ≤ 5.000 bản ghi để bảo vệ Spark driver.</a:t>
            </a:r>
          </a:p>
        </p:txBody>
      </p:sp>
      <p:sp>
        <p:nvSpPr>
          <p:cNvPr id="16" name="TextBox 16"/>
          <p:cNvSpPr txBox="1"/>
          <p:nvPr/>
        </p:nvSpPr>
        <p:spPr>
          <a:xfrm>
            <a:off x="10229850" y="5131889"/>
            <a:ext cx="6757988" cy="965749"/>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Kiểm soát Luồng kéo:</a:t>
            </a:r>
            <a:r>
              <a:rPr lang="en-US" sz="2025">
                <a:solidFill>
                  <a:srgbClr val="475569"/>
                </a:solidFill>
                <a:latin typeface="Open Sans"/>
                <a:ea typeface="Open Sans"/>
                <a:cs typeface="Open Sans"/>
                <a:sym typeface="Open Sans"/>
              </a:rPr>
              <a:t> kafka.max.poll.records = 500 kiểm soát poll mỗi lần.</a:t>
            </a:r>
          </a:p>
        </p:txBody>
      </p:sp>
      <p:sp>
        <p:nvSpPr>
          <p:cNvPr id="17" name="TextBox 17"/>
          <p:cNvSpPr txBox="1"/>
          <p:nvPr/>
        </p:nvSpPr>
        <p:spPr>
          <a:xfrm>
            <a:off x="10229850" y="6126213"/>
            <a:ext cx="6757988" cy="965749"/>
          </a:xfrm>
          <a:prstGeom prst="rect">
            <a:avLst/>
          </a:prstGeom>
        </p:spPr>
        <p:txBody>
          <a:bodyPr lIns="0" tIns="0" rIns="0" bIns="0" rtlCol="0" anchor="t">
            <a:spAutoFit/>
          </a:bodyPr>
          <a:lstStyle/>
          <a:p>
            <a:pPr algn="l">
              <a:lnSpc>
                <a:spcPts val="3887"/>
              </a:lnSpc>
            </a:pPr>
            <a:r>
              <a:rPr lang="en-US" sz="2025">
                <a:solidFill>
                  <a:srgbClr val="475569"/>
                </a:solidFill>
                <a:latin typeface="Open Sans"/>
                <a:ea typeface="Open Sans"/>
                <a:cs typeface="Open Sans"/>
                <a:sym typeface="Open Sans"/>
              </a:rPr>
              <a:t>Cấu hình khởi tạo: startingOffsets = earliest, failOnDataLoss = false.</a:t>
            </a:r>
          </a:p>
        </p:txBody>
      </p:sp>
      <p:sp>
        <p:nvSpPr>
          <p:cNvPr id="18" name="TextBox 18"/>
          <p:cNvSpPr txBox="1"/>
          <p:nvPr/>
        </p:nvSpPr>
        <p:spPr>
          <a:xfrm>
            <a:off x="857250" y="857250"/>
            <a:ext cx="17402175" cy="642938"/>
          </a:xfrm>
          <a:prstGeom prst="rect">
            <a:avLst/>
          </a:prstGeom>
        </p:spPr>
        <p:txBody>
          <a:bodyPr lIns="0" tIns="0" rIns="0" bIns="0" rtlCol="0" anchor="t">
            <a:spAutoFit/>
          </a:bodyPr>
          <a:lstStyle/>
          <a:p>
            <a:pPr algn="l">
              <a:lnSpc>
                <a:spcPts val="5130"/>
              </a:lnSpc>
            </a:pPr>
            <a:r>
              <a:rPr lang="en-US" sz="4275" b="1">
                <a:solidFill>
                  <a:srgbClr val="164673"/>
                </a:solidFill>
                <a:latin typeface="Montserrat Bold"/>
                <a:ea typeface="Montserrat Bold"/>
                <a:cs typeface="Montserrat Bold"/>
                <a:sym typeface="Montserrat Bold"/>
              </a:rPr>
              <a:t>CẢI TIẾN #1: KIẾN TRÚC HAI LUỒNG KAFKA SONG SONG</a:t>
            </a:r>
          </a:p>
        </p:txBody>
      </p:sp>
      <p:grpSp>
        <p:nvGrpSpPr>
          <p:cNvPr id="19" name="Group 19"/>
          <p:cNvGrpSpPr/>
          <p:nvPr/>
        </p:nvGrpSpPr>
        <p:grpSpPr>
          <a:xfrm>
            <a:off x="857250" y="1614488"/>
            <a:ext cx="16573500" cy="28575"/>
            <a:chOff x="0" y="0"/>
            <a:chExt cx="22098000" cy="38100"/>
          </a:xfrm>
        </p:grpSpPr>
        <p:sp>
          <p:nvSpPr>
            <p:cNvPr id="20" name="Freeform 20"/>
            <p:cNvSpPr/>
            <p:nvPr/>
          </p:nvSpPr>
          <p:spPr>
            <a:xfrm>
              <a:off x="0" y="0"/>
              <a:ext cx="22098000" cy="38100"/>
            </a:xfrm>
            <a:custGeom>
              <a:avLst/>
              <a:gdLst/>
              <a:ahLst/>
              <a:cxnLst/>
              <a:rect l="l" t="t" r="r" b="b"/>
              <a:pathLst>
                <a:path w="22098000" h="38100">
                  <a:moveTo>
                    <a:pt x="0" y="0"/>
                  </a:moveTo>
                  <a:lnTo>
                    <a:pt x="22098000" y="0"/>
                  </a:lnTo>
                  <a:lnTo>
                    <a:pt x="22098000" y="38100"/>
                  </a:lnTo>
                  <a:lnTo>
                    <a:pt x="0" y="38100"/>
                  </a:lnTo>
                  <a:close/>
                </a:path>
              </a:pathLst>
            </a:custGeom>
            <a:solidFill>
              <a:srgbClr val="48A6D8"/>
            </a:solidFill>
          </p:spPr>
          <p:txBody>
            <a:bodyPr/>
            <a:lstStyle/>
            <a:p>
              <a:endParaRPr lang="vi-VN"/>
            </a:p>
          </p:txBody>
        </p:sp>
      </p:grpSp>
      <p:grpSp>
        <p:nvGrpSpPr>
          <p:cNvPr id="21" name="Group 21"/>
          <p:cNvGrpSpPr/>
          <p:nvPr/>
        </p:nvGrpSpPr>
        <p:grpSpPr>
          <a:xfrm>
            <a:off x="1300162" y="3897582"/>
            <a:ext cx="200244" cy="300038"/>
            <a:chOff x="0" y="0"/>
            <a:chExt cx="266992" cy="400050"/>
          </a:xfrm>
        </p:grpSpPr>
        <p:sp>
          <p:nvSpPr>
            <p:cNvPr id="22" name="Freeform 22" descr="image.png"/>
            <p:cNvSpPr/>
            <p:nvPr/>
          </p:nvSpPr>
          <p:spPr>
            <a:xfrm>
              <a:off x="0" y="0"/>
              <a:ext cx="266954" cy="400050"/>
            </a:xfrm>
            <a:custGeom>
              <a:avLst/>
              <a:gdLst/>
              <a:ahLst/>
              <a:cxnLst/>
              <a:rect l="l" t="t" r="r" b="b"/>
              <a:pathLst>
                <a:path w="266954" h="400050">
                  <a:moveTo>
                    <a:pt x="0" y="0"/>
                  </a:moveTo>
                  <a:lnTo>
                    <a:pt x="266954" y="0"/>
                  </a:lnTo>
                  <a:lnTo>
                    <a:pt x="266954" y="400050"/>
                  </a:lnTo>
                  <a:lnTo>
                    <a:pt x="0" y="400050"/>
                  </a:lnTo>
                  <a:lnTo>
                    <a:pt x="0" y="0"/>
                  </a:lnTo>
                  <a:close/>
                </a:path>
              </a:pathLst>
            </a:custGeom>
            <a:blipFill>
              <a:blip r:embed="rId6"/>
              <a:stretch>
                <a:fillRect r="-14" b="-15279"/>
              </a:stretch>
            </a:blipFill>
          </p:spPr>
          <p:txBody>
            <a:bodyPr/>
            <a:lstStyle/>
            <a:p>
              <a:endParaRPr lang="vi-VN"/>
            </a:p>
          </p:txBody>
        </p:sp>
      </p:grpSp>
      <p:grpSp>
        <p:nvGrpSpPr>
          <p:cNvPr id="23" name="Group 23"/>
          <p:cNvGrpSpPr/>
          <p:nvPr/>
        </p:nvGrpSpPr>
        <p:grpSpPr>
          <a:xfrm>
            <a:off x="1300162" y="4891907"/>
            <a:ext cx="200244" cy="300038"/>
            <a:chOff x="0" y="0"/>
            <a:chExt cx="266992" cy="400050"/>
          </a:xfrm>
        </p:grpSpPr>
        <p:sp>
          <p:nvSpPr>
            <p:cNvPr id="24" name="Freeform 24" descr="image.png"/>
            <p:cNvSpPr/>
            <p:nvPr/>
          </p:nvSpPr>
          <p:spPr>
            <a:xfrm>
              <a:off x="0" y="0"/>
              <a:ext cx="266954" cy="400050"/>
            </a:xfrm>
            <a:custGeom>
              <a:avLst/>
              <a:gdLst/>
              <a:ahLst/>
              <a:cxnLst/>
              <a:rect l="l" t="t" r="r" b="b"/>
              <a:pathLst>
                <a:path w="266954" h="400050">
                  <a:moveTo>
                    <a:pt x="0" y="0"/>
                  </a:moveTo>
                  <a:lnTo>
                    <a:pt x="266954" y="0"/>
                  </a:lnTo>
                  <a:lnTo>
                    <a:pt x="266954" y="400050"/>
                  </a:lnTo>
                  <a:lnTo>
                    <a:pt x="0" y="400050"/>
                  </a:lnTo>
                  <a:lnTo>
                    <a:pt x="0" y="0"/>
                  </a:lnTo>
                  <a:close/>
                </a:path>
              </a:pathLst>
            </a:custGeom>
            <a:blipFill>
              <a:blip r:embed="rId6"/>
              <a:stretch>
                <a:fillRect r="-14" b="-15279"/>
              </a:stretch>
            </a:blipFill>
          </p:spPr>
          <p:txBody>
            <a:bodyPr/>
            <a:lstStyle/>
            <a:p>
              <a:endParaRPr lang="vi-VN"/>
            </a:p>
          </p:txBody>
        </p:sp>
      </p:grpSp>
      <p:grpSp>
        <p:nvGrpSpPr>
          <p:cNvPr id="25" name="Group 25"/>
          <p:cNvGrpSpPr/>
          <p:nvPr/>
        </p:nvGrpSpPr>
        <p:grpSpPr>
          <a:xfrm>
            <a:off x="1300162" y="5886231"/>
            <a:ext cx="200244" cy="300038"/>
            <a:chOff x="0" y="0"/>
            <a:chExt cx="266992" cy="400050"/>
          </a:xfrm>
        </p:grpSpPr>
        <p:sp>
          <p:nvSpPr>
            <p:cNvPr id="26" name="Freeform 26" descr="image.png"/>
            <p:cNvSpPr/>
            <p:nvPr/>
          </p:nvSpPr>
          <p:spPr>
            <a:xfrm>
              <a:off x="0" y="0"/>
              <a:ext cx="266954" cy="400050"/>
            </a:xfrm>
            <a:custGeom>
              <a:avLst/>
              <a:gdLst/>
              <a:ahLst/>
              <a:cxnLst/>
              <a:rect l="l" t="t" r="r" b="b"/>
              <a:pathLst>
                <a:path w="266954" h="400050">
                  <a:moveTo>
                    <a:pt x="0" y="0"/>
                  </a:moveTo>
                  <a:lnTo>
                    <a:pt x="266954" y="0"/>
                  </a:lnTo>
                  <a:lnTo>
                    <a:pt x="266954" y="400050"/>
                  </a:lnTo>
                  <a:lnTo>
                    <a:pt x="0" y="400050"/>
                  </a:lnTo>
                  <a:lnTo>
                    <a:pt x="0" y="0"/>
                  </a:lnTo>
                  <a:close/>
                </a:path>
              </a:pathLst>
            </a:custGeom>
            <a:blipFill>
              <a:blip r:embed="rId6"/>
              <a:stretch>
                <a:fillRect r="-14" b="-15279"/>
              </a:stretch>
            </a:blipFill>
          </p:spPr>
          <p:txBody>
            <a:bodyPr/>
            <a:lstStyle/>
            <a:p>
              <a:endParaRPr lang="vi-VN"/>
            </a:p>
          </p:txBody>
        </p:sp>
      </p:grpSp>
      <p:grpSp>
        <p:nvGrpSpPr>
          <p:cNvPr id="27" name="Group 27"/>
          <p:cNvGrpSpPr/>
          <p:nvPr/>
        </p:nvGrpSpPr>
        <p:grpSpPr>
          <a:xfrm>
            <a:off x="1300162" y="6880546"/>
            <a:ext cx="200244" cy="300038"/>
            <a:chOff x="0" y="0"/>
            <a:chExt cx="266992" cy="400050"/>
          </a:xfrm>
        </p:grpSpPr>
        <p:sp>
          <p:nvSpPr>
            <p:cNvPr id="28" name="Freeform 28" descr="image.png"/>
            <p:cNvSpPr/>
            <p:nvPr/>
          </p:nvSpPr>
          <p:spPr>
            <a:xfrm>
              <a:off x="0" y="0"/>
              <a:ext cx="266954" cy="400050"/>
            </a:xfrm>
            <a:custGeom>
              <a:avLst/>
              <a:gdLst/>
              <a:ahLst/>
              <a:cxnLst/>
              <a:rect l="l" t="t" r="r" b="b"/>
              <a:pathLst>
                <a:path w="266954" h="400050">
                  <a:moveTo>
                    <a:pt x="0" y="0"/>
                  </a:moveTo>
                  <a:lnTo>
                    <a:pt x="266954" y="0"/>
                  </a:lnTo>
                  <a:lnTo>
                    <a:pt x="266954" y="400050"/>
                  </a:lnTo>
                  <a:lnTo>
                    <a:pt x="0" y="400050"/>
                  </a:lnTo>
                  <a:lnTo>
                    <a:pt x="0" y="0"/>
                  </a:lnTo>
                  <a:close/>
                </a:path>
              </a:pathLst>
            </a:custGeom>
            <a:blipFill>
              <a:blip r:embed="rId6"/>
              <a:stretch>
                <a:fillRect r="-14" b="-15279"/>
              </a:stretch>
            </a:blipFill>
          </p:spPr>
          <p:txBody>
            <a:bodyPr/>
            <a:lstStyle/>
            <a:p>
              <a:endParaRPr lang="vi-VN"/>
            </a:p>
          </p:txBody>
        </p:sp>
      </p:grpSp>
      <p:grpSp>
        <p:nvGrpSpPr>
          <p:cNvPr id="29" name="Group 29"/>
          <p:cNvGrpSpPr/>
          <p:nvPr/>
        </p:nvGrpSpPr>
        <p:grpSpPr>
          <a:xfrm>
            <a:off x="9872662" y="3897582"/>
            <a:ext cx="200244" cy="300038"/>
            <a:chOff x="0" y="0"/>
            <a:chExt cx="266992" cy="400050"/>
          </a:xfrm>
        </p:grpSpPr>
        <p:sp>
          <p:nvSpPr>
            <p:cNvPr id="30" name="Freeform 30" descr="image.png"/>
            <p:cNvSpPr/>
            <p:nvPr/>
          </p:nvSpPr>
          <p:spPr>
            <a:xfrm>
              <a:off x="0" y="0"/>
              <a:ext cx="266954" cy="400050"/>
            </a:xfrm>
            <a:custGeom>
              <a:avLst/>
              <a:gdLst/>
              <a:ahLst/>
              <a:cxnLst/>
              <a:rect l="l" t="t" r="r" b="b"/>
              <a:pathLst>
                <a:path w="266954" h="400050">
                  <a:moveTo>
                    <a:pt x="0" y="0"/>
                  </a:moveTo>
                  <a:lnTo>
                    <a:pt x="266954" y="0"/>
                  </a:lnTo>
                  <a:lnTo>
                    <a:pt x="266954" y="400050"/>
                  </a:lnTo>
                  <a:lnTo>
                    <a:pt x="0" y="400050"/>
                  </a:lnTo>
                  <a:lnTo>
                    <a:pt x="0" y="0"/>
                  </a:lnTo>
                  <a:close/>
                </a:path>
              </a:pathLst>
            </a:custGeom>
            <a:blipFill>
              <a:blip r:embed="rId6"/>
              <a:stretch>
                <a:fillRect r="-14" b="-15279"/>
              </a:stretch>
            </a:blipFill>
          </p:spPr>
          <p:txBody>
            <a:bodyPr/>
            <a:lstStyle/>
            <a:p>
              <a:endParaRPr lang="vi-VN"/>
            </a:p>
          </p:txBody>
        </p:sp>
      </p:grpSp>
      <p:grpSp>
        <p:nvGrpSpPr>
          <p:cNvPr id="31" name="Group 31"/>
          <p:cNvGrpSpPr/>
          <p:nvPr/>
        </p:nvGrpSpPr>
        <p:grpSpPr>
          <a:xfrm>
            <a:off x="9872662" y="5303339"/>
            <a:ext cx="200244" cy="300038"/>
            <a:chOff x="0" y="0"/>
            <a:chExt cx="266992" cy="400050"/>
          </a:xfrm>
        </p:grpSpPr>
        <p:sp>
          <p:nvSpPr>
            <p:cNvPr id="32" name="Freeform 32" descr="image.png"/>
            <p:cNvSpPr/>
            <p:nvPr/>
          </p:nvSpPr>
          <p:spPr>
            <a:xfrm>
              <a:off x="0" y="0"/>
              <a:ext cx="266954" cy="400050"/>
            </a:xfrm>
            <a:custGeom>
              <a:avLst/>
              <a:gdLst/>
              <a:ahLst/>
              <a:cxnLst/>
              <a:rect l="l" t="t" r="r" b="b"/>
              <a:pathLst>
                <a:path w="266954" h="400050">
                  <a:moveTo>
                    <a:pt x="0" y="0"/>
                  </a:moveTo>
                  <a:lnTo>
                    <a:pt x="266954" y="0"/>
                  </a:lnTo>
                  <a:lnTo>
                    <a:pt x="266954" y="400050"/>
                  </a:lnTo>
                  <a:lnTo>
                    <a:pt x="0" y="400050"/>
                  </a:lnTo>
                  <a:lnTo>
                    <a:pt x="0" y="0"/>
                  </a:lnTo>
                  <a:close/>
                </a:path>
              </a:pathLst>
            </a:custGeom>
            <a:blipFill>
              <a:blip r:embed="rId6"/>
              <a:stretch>
                <a:fillRect r="-14" b="-15279"/>
              </a:stretch>
            </a:blipFill>
          </p:spPr>
          <p:txBody>
            <a:bodyPr/>
            <a:lstStyle/>
            <a:p>
              <a:endParaRPr lang="vi-VN"/>
            </a:p>
          </p:txBody>
        </p:sp>
      </p:grpSp>
      <p:grpSp>
        <p:nvGrpSpPr>
          <p:cNvPr id="33" name="Group 33"/>
          <p:cNvGrpSpPr/>
          <p:nvPr/>
        </p:nvGrpSpPr>
        <p:grpSpPr>
          <a:xfrm>
            <a:off x="9872662" y="6297663"/>
            <a:ext cx="200244" cy="300038"/>
            <a:chOff x="0" y="0"/>
            <a:chExt cx="266992" cy="400050"/>
          </a:xfrm>
        </p:grpSpPr>
        <p:sp>
          <p:nvSpPr>
            <p:cNvPr id="34" name="Freeform 34" descr="image.png"/>
            <p:cNvSpPr/>
            <p:nvPr/>
          </p:nvSpPr>
          <p:spPr>
            <a:xfrm>
              <a:off x="0" y="0"/>
              <a:ext cx="266954" cy="400050"/>
            </a:xfrm>
            <a:custGeom>
              <a:avLst/>
              <a:gdLst/>
              <a:ahLst/>
              <a:cxnLst/>
              <a:rect l="l" t="t" r="r" b="b"/>
              <a:pathLst>
                <a:path w="266954" h="400050">
                  <a:moveTo>
                    <a:pt x="0" y="0"/>
                  </a:moveTo>
                  <a:lnTo>
                    <a:pt x="266954" y="0"/>
                  </a:lnTo>
                  <a:lnTo>
                    <a:pt x="266954" y="400050"/>
                  </a:lnTo>
                  <a:lnTo>
                    <a:pt x="0" y="400050"/>
                  </a:lnTo>
                  <a:lnTo>
                    <a:pt x="0" y="0"/>
                  </a:lnTo>
                  <a:close/>
                </a:path>
              </a:pathLst>
            </a:custGeom>
            <a:blipFill>
              <a:blip r:embed="rId6"/>
              <a:stretch>
                <a:fillRect r="-14" b="-15279"/>
              </a:stretch>
            </a:blipFill>
          </p:spPr>
          <p:txBody>
            <a:bodyPr/>
            <a:lstStyle/>
            <a:p>
              <a:endParaRPr lang="vi-VN"/>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grpSp>
        <p:nvGrpSpPr>
          <p:cNvPr id="4" name="Group 4"/>
          <p:cNvGrpSpPr/>
          <p:nvPr/>
        </p:nvGrpSpPr>
        <p:grpSpPr>
          <a:xfrm>
            <a:off x="9429750" y="5152425"/>
            <a:ext cx="8001000" cy="1025347"/>
            <a:chOff x="0" y="0"/>
            <a:chExt cx="10668000" cy="1367130"/>
          </a:xfrm>
        </p:grpSpPr>
        <p:sp>
          <p:nvSpPr>
            <p:cNvPr id="5" name="Freeform 5" descr="image.png"/>
            <p:cNvSpPr/>
            <p:nvPr/>
          </p:nvSpPr>
          <p:spPr>
            <a:xfrm>
              <a:off x="0" y="0"/>
              <a:ext cx="10668000" cy="1367155"/>
            </a:xfrm>
            <a:custGeom>
              <a:avLst/>
              <a:gdLst/>
              <a:ahLst/>
              <a:cxnLst/>
              <a:rect l="l" t="t" r="r" b="b"/>
              <a:pathLst>
                <a:path w="10668000" h="1367155">
                  <a:moveTo>
                    <a:pt x="0" y="0"/>
                  </a:moveTo>
                  <a:lnTo>
                    <a:pt x="10668000" y="0"/>
                  </a:lnTo>
                  <a:lnTo>
                    <a:pt x="10668000" y="1367155"/>
                  </a:lnTo>
                  <a:lnTo>
                    <a:pt x="0" y="1367155"/>
                  </a:lnTo>
                  <a:lnTo>
                    <a:pt x="0" y="0"/>
                  </a:lnTo>
                  <a:close/>
                </a:path>
              </a:pathLst>
            </a:custGeom>
            <a:blipFill>
              <a:blip r:embed="rId4"/>
              <a:stretch>
                <a:fillRect b="-1718"/>
              </a:stretch>
            </a:blipFill>
          </p:spPr>
          <p:txBody>
            <a:bodyPr/>
            <a:lstStyle/>
            <a:p>
              <a:endParaRPr lang="vi-VN"/>
            </a:p>
          </p:txBody>
        </p:sp>
      </p:grpSp>
      <p:sp>
        <p:nvSpPr>
          <p:cNvPr id="6" name="TextBox 6"/>
          <p:cNvSpPr txBox="1"/>
          <p:nvPr/>
        </p:nvSpPr>
        <p:spPr>
          <a:xfrm>
            <a:off x="857250" y="3546205"/>
            <a:ext cx="8401050" cy="414338"/>
          </a:xfrm>
          <a:prstGeom prst="rect">
            <a:avLst/>
          </a:prstGeom>
        </p:spPr>
        <p:txBody>
          <a:bodyPr lIns="0" tIns="0" rIns="0" bIns="0" rtlCol="0" anchor="t">
            <a:spAutoFit/>
          </a:bodyPr>
          <a:lstStyle/>
          <a:p>
            <a:pPr algn="l">
              <a:lnSpc>
                <a:spcPts val="3240"/>
              </a:lnSpc>
            </a:pPr>
            <a:r>
              <a:rPr lang="en-US" sz="2700">
                <a:solidFill>
                  <a:srgbClr val="164673"/>
                </a:solidFill>
                <a:latin typeface="Montserrat"/>
                <a:ea typeface="Montserrat"/>
                <a:cs typeface="Montserrat"/>
                <a:sym typeface="Montserrat"/>
              </a:rPr>
              <a:t>Phát hiện bất thường đơn biến</a:t>
            </a:r>
          </a:p>
        </p:txBody>
      </p:sp>
      <p:sp>
        <p:nvSpPr>
          <p:cNvPr id="7" name="TextBox 7"/>
          <p:cNvSpPr txBox="1"/>
          <p:nvPr/>
        </p:nvSpPr>
        <p:spPr>
          <a:xfrm>
            <a:off x="857250" y="4031980"/>
            <a:ext cx="8001000" cy="1377182"/>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Nguyên lý:</a:t>
            </a:r>
            <a:r>
              <a:rPr lang="en-US" sz="2025">
                <a:solidFill>
                  <a:srgbClr val="475569"/>
                </a:solidFill>
                <a:latin typeface="Open Sans"/>
                <a:ea typeface="Open Sans"/>
                <a:cs typeface="Open Sans"/>
                <a:sym typeface="Open Sans"/>
              </a:rPr>
              <a:t> Các điểm bất thường (dữ liệu thưa thớt) sẽ bị cô lập sớm hơn trong các cây nhị phân ngẫu nhiên (iTree). Đường đi ngắn hơn đồng nghĩa với khả năng bất thường cao hơn.</a:t>
            </a:r>
          </a:p>
        </p:txBody>
      </p:sp>
      <p:sp>
        <p:nvSpPr>
          <p:cNvPr id="8" name="TextBox 8"/>
          <p:cNvSpPr txBox="1"/>
          <p:nvPr/>
        </p:nvSpPr>
        <p:spPr>
          <a:xfrm>
            <a:off x="857250" y="5480599"/>
            <a:ext cx="8001000" cy="554307"/>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Cấu hình hệ thống:</a:t>
            </a:r>
          </a:p>
        </p:txBody>
      </p:sp>
      <p:sp>
        <p:nvSpPr>
          <p:cNvPr id="9" name="TextBox 9"/>
          <p:cNvSpPr txBox="1"/>
          <p:nvPr/>
        </p:nvSpPr>
        <p:spPr>
          <a:xfrm>
            <a:off x="9429750" y="4169493"/>
            <a:ext cx="8001000" cy="554307"/>
          </a:xfrm>
          <a:prstGeom prst="rect">
            <a:avLst/>
          </a:prstGeom>
        </p:spPr>
        <p:txBody>
          <a:bodyPr lIns="0" tIns="0" rIns="0" bIns="0" rtlCol="0" anchor="t">
            <a:spAutoFit/>
          </a:bodyPr>
          <a:lstStyle/>
          <a:p>
            <a:pPr algn="ctr">
              <a:lnSpc>
                <a:spcPts val="3887"/>
              </a:lnSpc>
            </a:pPr>
            <a:r>
              <a:rPr lang="en-US" sz="2025">
                <a:solidFill>
                  <a:srgbClr val="475569"/>
                </a:solidFill>
                <a:latin typeface="Open Sans"/>
                <a:ea typeface="Open Sans"/>
                <a:cs typeface="Open Sans"/>
                <a:sym typeface="Open Sans"/>
              </a:rPr>
              <a:t>Công thức tính điểm bất thường:</a:t>
            </a:r>
          </a:p>
        </p:txBody>
      </p:sp>
      <p:sp>
        <p:nvSpPr>
          <p:cNvPr id="10" name="TextBox 10"/>
          <p:cNvSpPr txBox="1"/>
          <p:nvPr/>
        </p:nvSpPr>
        <p:spPr>
          <a:xfrm>
            <a:off x="9429750" y="6401619"/>
            <a:ext cx="8001000" cy="630288"/>
          </a:xfrm>
          <a:prstGeom prst="rect">
            <a:avLst/>
          </a:prstGeom>
        </p:spPr>
        <p:txBody>
          <a:bodyPr lIns="0" tIns="0" rIns="0" bIns="0" rtlCol="0" anchor="t">
            <a:spAutoFit/>
          </a:bodyPr>
          <a:lstStyle/>
          <a:p>
            <a:pPr algn="ctr">
              <a:lnSpc>
                <a:spcPts val="1762"/>
              </a:lnSpc>
            </a:pPr>
            <a:r>
              <a:rPr lang="en-US" sz="1575">
                <a:solidFill>
                  <a:srgbClr val="64748B"/>
                </a:solidFill>
                <a:latin typeface="Open Sans"/>
                <a:ea typeface="Open Sans"/>
                <a:cs typeface="Open Sans"/>
                <a:sym typeface="Open Sans"/>
              </a:rPr>
              <a:t>Trong đó: E[h(x)] là chiều dài đường đi trung bình; c(n) là hệ số chuẩn hóa.</a:t>
            </a:r>
          </a:p>
          <a:p>
            <a:pPr algn="ctr">
              <a:lnSpc>
                <a:spcPts val="1762"/>
              </a:lnSpc>
            </a:pPr>
            <a:r>
              <a:rPr lang="en-US" sz="1575">
                <a:solidFill>
                  <a:srgbClr val="64748B"/>
                </a:solidFill>
                <a:latin typeface="Open Sans"/>
                <a:ea typeface="Open Sans"/>
                <a:cs typeface="Open Sans"/>
                <a:sym typeface="Open Sans"/>
              </a:rPr>
              <a:t> s ∈ [0,1], khi s → 1 thể hiện mức độ bất thường rất cao.</a:t>
            </a:r>
          </a:p>
        </p:txBody>
      </p:sp>
      <p:sp>
        <p:nvSpPr>
          <p:cNvPr id="11" name="TextBox 11"/>
          <p:cNvSpPr txBox="1"/>
          <p:nvPr/>
        </p:nvSpPr>
        <p:spPr>
          <a:xfrm>
            <a:off x="1214438" y="6106344"/>
            <a:ext cx="7643812" cy="568595"/>
          </a:xfrm>
          <a:prstGeom prst="rect">
            <a:avLst/>
          </a:prstGeom>
        </p:spPr>
        <p:txBody>
          <a:bodyPr lIns="0" tIns="0" rIns="0" bIns="0" rtlCol="0" anchor="t">
            <a:spAutoFit/>
          </a:bodyPr>
          <a:lstStyle/>
          <a:p>
            <a:pPr algn="l">
              <a:lnSpc>
                <a:spcPts val="3887"/>
              </a:lnSpc>
            </a:pPr>
            <a:r>
              <a:rPr lang="en-US" sz="2025">
                <a:solidFill>
                  <a:srgbClr val="475569"/>
                </a:solidFill>
                <a:latin typeface="Open Sans"/>
                <a:ea typeface="Open Sans"/>
                <a:cs typeface="Open Sans"/>
                <a:sym typeface="Open Sans"/>
              </a:rPr>
              <a:t>n_estimators = 200 (đảm bảo hội tụ điểm số ổn định).</a:t>
            </a:r>
          </a:p>
        </p:txBody>
      </p:sp>
      <p:sp>
        <p:nvSpPr>
          <p:cNvPr id="12" name="TextBox 12"/>
          <p:cNvSpPr txBox="1"/>
          <p:nvPr/>
        </p:nvSpPr>
        <p:spPr>
          <a:xfrm>
            <a:off x="1214438" y="6703514"/>
            <a:ext cx="7643812" cy="554307"/>
          </a:xfrm>
          <a:prstGeom prst="rect">
            <a:avLst/>
          </a:prstGeom>
        </p:spPr>
        <p:txBody>
          <a:bodyPr lIns="0" tIns="0" rIns="0" bIns="0" rtlCol="0" anchor="t">
            <a:spAutoFit/>
          </a:bodyPr>
          <a:lstStyle/>
          <a:p>
            <a:pPr algn="l">
              <a:lnSpc>
                <a:spcPts val="3887"/>
              </a:lnSpc>
            </a:pPr>
            <a:r>
              <a:rPr lang="en-US" sz="2025">
                <a:solidFill>
                  <a:srgbClr val="475569"/>
                </a:solidFill>
                <a:latin typeface="Open Sans"/>
                <a:ea typeface="Open Sans"/>
                <a:cs typeface="Open Sans"/>
                <a:sym typeface="Open Sans"/>
              </a:rPr>
              <a:t>Sample weighting ×3.0 cho bản ghi vi phạm luật cứng.</a:t>
            </a:r>
          </a:p>
        </p:txBody>
      </p:sp>
      <p:sp>
        <p:nvSpPr>
          <p:cNvPr id="13" name="TextBox 13"/>
          <p:cNvSpPr txBox="1"/>
          <p:nvPr/>
        </p:nvSpPr>
        <p:spPr>
          <a:xfrm>
            <a:off x="1214438" y="7286406"/>
            <a:ext cx="7643812" cy="554307"/>
          </a:xfrm>
          <a:prstGeom prst="rect">
            <a:avLst/>
          </a:prstGeom>
        </p:spPr>
        <p:txBody>
          <a:bodyPr lIns="0" tIns="0" rIns="0" bIns="0" rtlCol="0" anchor="t">
            <a:spAutoFit/>
          </a:bodyPr>
          <a:lstStyle/>
          <a:p>
            <a:pPr algn="l">
              <a:lnSpc>
                <a:spcPts val="3887"/>
              </a:lnSpc>
            </a:pPr>
            <a:r>
              <a:rPr lang="en-US" sz="2025">
                <a:solidFill>
                  <a:srgbClr val="475569"/>
                </a:solidFill>
                <a:latin typeface="Open Sans"/>
                <a:ea typeface="Open Sans"/>
                <a:cs typeface="Open Sans"/>
                <a:sym typeface="Open Sans"/>
              </a:rPr>
              <a:t>Sử dụng RobustScaler chuẩn hóa trước khi fit.</a:t>
            </a:r>
          </a:p>
        </p:txBody>
      </p:sp>
      <p:grpSp>
        <p:nvGrpSpPr>
          <p:cNvPr id="14" name="Group 14"/>
          <p:cNvGrpSpPr/>
          <p:nvPr/>
        </p:nvGrpSpPr>
        <p:grpSpPr>
          <a:xfrm>
            <a:off x="9772650" y="5438175"/>
            <a:ext cx="7372350" cy="453847"/>
            <a:chOff x="0" y="0"/>
            <a:chExt cx="9829800" cy="605130"/>
          </a:xfrm>
        </p:grpSpPr>
        <p:sp>
          <p:nvSpPr>
            <p:cNvPr id="15" name="Freeform 15" descr="image.png"/>
            <p:cNvSpPr/>
            <p:nvPr/>
          </p:nvSpPr>
          <p:spPr>
            <a:xfrm>
              <a:off x="0" y="0"/>
              <a:ext cx="9829800" cy="605155"/>
            </a:xfrm>
            <a:custGeom>
              <a:avLst/>
              <a:gdLst/>
              <a:ahLst/>
              <a:cxnLst/>
              <a:rect l="l" t="t" r="r" b="b"/>
              <a:pathLst>
                <a:path w="9829800" h="605155">
                  <a:moveTo>
                    <a:pt x="0" y="0"/>
                  </a:moveTo>
                  <a:lnTo>
                    <a:pt x="9829800" y="0"/>
                  </a:lnTo>
                  <a:lnTo>
                    <a:pt x="9829800" y="605155"/>
                  </a:lnTo>
                  <a:lnTo>
                    <a:pt x="0" y="605155"/>
                  </a:lnTo>
                  <a:lnTo>
                    <a:pt x="0" y="0"/>
                  </a:lnTo>
                  <a:close/>
                </a:path>
              </a:pathLst>
            </a:custGeom>
            <a:blipFill>
              <a:blip r:embed="rId5"/>
              <a:stretch>
                <a:fillRect b="-3082"/>
              </a:stretch>
            </a:blipFill>
          </p:spPr>
          <p:txBody>
            <a:bodyPr/>
            <a:lstStyle/>
            <a:p>
              <a:endParaRPr lang="vi-VN"/>
            </a:p>
          </p:txBody>
        </p:sp>
      </p:grpSp>
      <p:sp>
        <p:nvSpPr>
          <p:cNvPr id="16" name="TextBox 16"/>
          <p:cNvSpPr txBox="1"/>
          <p:nvPr/>
        </p:nvSpPr>
        <p:spPr>
          <a:xfrm>
            <a:off x="857250" y="857250"/>
            <a:ext cx="17402175" cy="700088"/>
          </a:xfrm>
          <a:prstGeom prst="rect">
            <a:avLst/>
          </a:prstGeom>
        </p:spPr>
        <p:txBody>
          <a:bodyPr lIns="0" tIns="0" rIns="0" bIns="0" rtlCol="0" anchor="t">
            <a:spAutoFit/>
          </a:bodyPr>
          <a:lstStyle/>
          <a:p>
            <a:pPr algn="l">
              <a:lnSpc>
                <a:spcPts val="5130"/>
              </a:lnSpc>
            </a:pPr>
            <a:r>
              <a:rPr lang="en-US" sz="4275" b="1">
                <a:solidFill>
                  <a:srgbClr val="164673"/>
                </a:solidFill>
                <a:latin typeface="Montserrat Bold"/>
                <a:ea typeface="Montserrat Bold"/>
                <a:cs typeface="Montserrat Bold"/>
                <a:sym typeface="Montserrat Bold"/>
              </a:rPr>
              <a:t>CƠ SỞ LÝ THUYẾT: ISOLATION FOREST</a:t>
            </a:r>
          </a:p>
        </p:txBody>
      </p:sp>
      <p:grpSp>
        <p:nvGrpSpPr>
          <p:cNvPr id="17" name="Group 17"/>
          <p:cNvGrpSpPr/>
          <p:nvPr/>
        </p:nvGrpSpPr>
        <p:grpSpPr>
          <a:xfrm>
            <a:off x="857250" y="1671638"/>
            <a:ext cx="16573500" cy="28575"/>
            <a:chOff x="0" y="0"/>
            <a:chExt cx="22098000" cy="38100"/>
          </a:xfrm>
        </p:grpSpPr>
        <p:sp>
          <p:nvSpPr>
            <p:cNvPr id="18" name="Freeform 18"/>
            <p:cNvSpPr/>
            <p:nvPr/>
          </p:nvSpPr>
          <p:spPr>
            <a:xfrm>
              <a:off x="0" y="0"/>
              <a:ext cx="22098000" cy="38100"/>
            </a:xfrm>
            <a:custGeom>
              <a:avLst/>
              <a:gdLst/>
              <a:ahLst/>
              <a:cxnLst/>
              <a:rect l="l" t="t" r="r" b="b"/>
              <a:pathLst>
                <a:path w="22098000" h="38100">
                  <a:moveTo>
                    <a:pt x="0" y="0"/>
                  </a:moveTo>
                  <a:lnTo>
                    <a:pt x="22098000" y="0"/>
                  </a:lnTo>
                  <a:lnTo>
                    <a:pt x="22098000" y="38100"/>
                  </a:lnTo>
                  <a:lnTo>
                    <a:pt x="0" y="38100"/>
                  </a:lnTo>
                  <a:close/>
                </a:path>
              </a:pathLst>
            </a:custGeom>
            <a:solidFill>
              <a:srgbClr val="48A6D8"/>
            </a:solidFill>
          </p:spPr>
          <p:txBody>
            <a:bodyPr/>
            <a:lstStyle/>
            <a:p>
              <a:endParaRPr lang="vi-VN"/>
            </a:p>
          </p:txBody>
        </p:sp>
      </p:grpSp>
      <p:grpSp>
        <p:nvGrpSpPr>
          <p:cNvPr id="19" name="Group 19"/>
          <p:cNvGrpSpPr/>
          <p:nvPr/>
        </p:nvGrpSpPr>
        <p:grpSpPr>
          <a:xfrm>
            <a:off x="857250" y="6277794"/>
            <a:ext cx="157162" cy="271462"/>
            <a:chOff x="0" y="0"/>
            <a:chExt cx="209550" cy="361950"/>
          </a:xfrm>
        </p:grpSpPr>
        <p:sp>
          <p:nvSpPr>
            <p:cNvPr id="20" name="Freeform 20"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6"/>
              <a:stretch>
                <a:fillRect/>
              </a:stretch>
            </a:blipFill>
          </p:spPr>
          <p:txBody>
            <a:bodyPr/>
            <a:lstStyle/>
            <a:p>
              <a:endParaRPr lang="vi-VN"/>
            </a:p>
          </p:txBody>
        </p:sp>
      </p:grpSp>
      <p:grpSp>
        <p:nvGrpSpPr>
          <p:cNvPr id="21" name="Group 21"/>
          <p:cNvGrpSpPr/>
          <p:nvPr/>
        </p:nvGrpSpPr>
        <p:grpSpPr>
          <a:xfrm>
            <a:off x="857250" y="6874964"/>
            <a:ext cx="157162" cy="271462"/>
            <a:chOff x="0" y="0"/>
            <a:chExt cx="209550" cy="361950"/>
          </a:xfrm>
        </p:grpSpPr>
        <p:sp>
          <p:nvSpPr>
            <p:cNvPr id="22" name="Freeform 22"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6"/>
              <a:stretch>
                <a:fillRect/>
              </a:stretch>
            </a:blipFill>
          </p:spPr>
          <p:txBody>
            <a:bodyPr/>
            <a:lstStyle/>
            <a:p>
              <a:endParaRPr lang="vi-VN"/>
            </a:p>
          </p:txBody>
        </p:sp>
      </p:grpSp>
      <p:grpSp>
        <p:nvGrpSpPr>
          <p:cNvPr id="23" name="Group 23"/>
          <p:cNvGrpSpPr/>
          <p:nvPr/>
        </p:nvGrpSpPr>
        <p:grpSpPr>
          <a:xfrm>
            <a:off x="857250" y="7457856"/>
            <a:ext cx="157162" cy="271462"/>
            <a:chOff x="0" y="0"/>
            <a:chExt cx="209550" cy="361950"/>
          </a:xfrm>
        </p:grpSpPr>
        <p:sp>
          <p:nvSpPr>
            <p:cNvPr id="24" name="Freeform 24"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6"/>
              <a:stretch>
                <a:fillRect/>
              </a:stretch>
            </a:blipFill>
          </p:spPr>
          <p:txBody>
            <a:bodyPr/>
            <a:lstStyle/>
            <a:p>
              <a:endParaRPr lang="vi-VN"/>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sp>
        <p:nvSpPr>
          <p:cNvPr id="4" name="TextBox 4"/>
          <p:cNvSpPr txBox="1"/>
          <p:nvPr/>
        </p:nvSpPr>
        <p:spPr>
          <a:xfrm>
            <a:off x="857250" y="4335809"/>
            <a:ext cx="8001000" cy="554307"/>
          </a:xfrm>
          <a:prstGeom prst="rect">
            <a:avLst/>
          </a:prstGeom>
        </p:spPr>
        <p:txBody>
          <a:bodyPr lIns="0" tIns="0" rIns="0" bIns="0" rtlCol="0" anchor="t">
            <a:spAutoFit/>
          </a:bodyPr>
          <a:lstStyle/>
          <a:p>
            <a:pPr algn="ctr">
              <a:lnSpc>
                <a:spcPts val="3887"/>
              </a:lnSpc>
            </a:pPr>
            <a:r>
              <a:rPr lang="en-US" sz="2025">
                <a:solidFill>
                  <a:srgbClr val="475569"/>
                </a:solidFill>
                <a:latin typeface="Open Sans"/>
                <a:ea typeface="Open Sans"/>
                <a:cs typeface="Open Sans"/>
                <a:sym typeface="Open Sans"/>
              </a:rPr>
              <a:t>Khoảng cách Mahalanobis bền vững:</a:t>
            </a:r>
          </a:p>
        </p:txBody>
      </p:sp>
      <p:sp>
        <p:nvSpPr>
          <p:cNvPr id="5" name="TextBox 5"/>
          <p:cNvSpPr txBox="1"/>
          <p:nvPr/>
        </p:nvSpPr>
        <p:spPr>
          <a:xfrm>
            <a:off x="857250" y="6431156"/>
            <a:ext cx="8001000" cy="434207"/>
          </a:xfrm>
          <a:prstGeom prst="rect">
            <a:avLst/>
          </a:prstGeom>
        </p:spPr>
        <p:txBody>
          <a:bodyPr lIns="0" tIns="0" rIns="0" bIns="0" rtlCol="0" anchor="t">
            <a:spAutoFit/>
          </a:bodyPr>
          <a:lstStyle/>
          <a:p>
            <a:pPr algn="ctr">
              <a:lnSpc>
                <a:spcPts val="3022"/>
              </a:lnSpc>
            </a:pPr>
            <a:r>
              <a:rPr lang="en-US" sz="1575">
                <a:solidFill>
                  <a:srgbClr val="64748B"/>
                </a:solidFill>
                <a:latin typeface="Open Sans"/>
                <a:ea typeface="Open Sans"/>
                <a:cs typeface="Open Sans"/>
                <a:sym typeface="Open Sans"/>
              </a:rPr>
              <a:t>Ngưỡng cắt: Phân vị 97.5% phân phối Chi-bình phương trên tập huấn luyện.</a:t>
            </a:r>
          </a:p>
        </p:txBody>
      </p:sp>
      <p:sp>
        <p:nvSpPr>
          <p:cNvPr id="6" name="TextBox 6"/>
          <p:cNvSpPr txBox="1"/>
          <p:nvPr/>
        </p:nvSpPr>
        <p:spPr>
          <a:xfrm>
            <a:off x="9429750" y="3703368"/>
            <a:ext cx="8401050" cy="414338"/>
          </a:xfrm>
          <a:prstGeom prst="rect">
            <a:avLst/>
          </a:prstGeom>
        </p:spPr>
        <p:txBody>
          <a:bodyPr lIns="0" tIns="0" rIns="0" bIns="0" rtlCol="0" anchor="t">
            <a:spAutoFit/>
          </a:bodyPr>
          <a:lstStyle/>
          <a:p>
            <a:pPr algn="l">
              <a:lnSpc>
                <a:spcPts val="3240"/>
              </a:lnSpc>
            </a:pPr>
            <a:r>
              <a:rPr lang="en-US" sz="2700">
                <a:solidFill>
                  <a:srgbClr val="164673"/>
                </a:solidFill>
                <a:latin typeface="Montserrat"/>
                <a:ea typeface="Montserrat"/>
                <a:cs typeface="Montserrat"/>
                <a:sym typeface="Montserrat"/>
              </a:rPr>
              <a:t>Phát hiện bất thường đa biến</a:t>
            </a:r>
          </a:p>
        </p:txBody>
      </p:sp>
      <p:sp>
        <p:nvSpPr>
          <p:cNvPr id="7" name="TextBox 7"/>
          <p:cNvSpPr txBox="1"/>
          <p:nvPr/>
        </p:nvSpPr>
        <p:spPr>
          <a:xfrm>
            <a:off x="9429750" y="4189143"/>
            <a:ext cx="8001000" cy="965749"/>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Tại sao cần MCD?</a:t>
            </a:r>
            <a:r>
              <a:rPr lang="en-US" sz="2025">
                <a:solidFill>
                  <a:srgbClr val="475569"/>
                </a:solidFill>
                <a:latin typeface="Open Sans"/>
                <a:ea typeface="Open Sans"/>
                <a:cs typeface="Open Sans"/>
                <a:sym typeface="Open Sans"/>
              </a:rPr>
              <a:t> Isolation Forest kiểm tra từng feature độc lập → bỏ sót bất thường khi </a:t>
            </a:r>
            <a:r>
              <a:rPr lang="en-US" sz="2025">
                <a:solidFill>
                  <a:srgbClr val="1E293B"/>
                </a:solidFill>
                <a:latin typeface="Open Sans"/>
                <a:ea typeface="Open Sans"/>
                <a:cs typeface="Open Sans"/>
                <a:sym typeface="Open Sans"/>
              </a:rPr>
              <a:t>tổ hợp nhiều feature</a:t>
            </a:r>
            <a:r>
              <a:rPr lang="en-US" sz="2025">
                <a:solidFill>
                  <a:srgbClr val="475569"/>
                </a:solidFill>
                <a:latin typeface="Open Sans"/>
                <a:ea typeface="Open Sans"/>
                <a:cs typeface="Open Sans"/>
                <a:sym typeface="Open Sans"/>
              </a:rPr>
              <a:t> cùng lúc phi lý.</a:t>
            </a:r>
          </a:p>
        </p:txBody>
      </p:sp>
      <p:sp>
        <p:nvSpPr>
          <p:cNvPr id="8" name="TextBox 8"/>
          <p:cNvSpPr txBox="1"/>
          <p:nvPr/>
        </p:nvSpPr>
        <p:spPr>
          <a:xfrm>
            <a:off x="9429750" y="5226320"/>
            <a:ext cx="8001000" cy="965749"/>
          </a:xfrm>
          <a:prstGeom prst="rect">
            <a:avLst/>
          </a:prstGeom>
        </p:spPr>
        <p:txBody>
          <a:bodyPr lIns="0" tIns="0" rIns="0" bIns="0" rtlCol="0" anchor="t">
            <a:spAutoFit/>
          </a:bodyPr>
          <a:lstStyle/>
          <a:p>
            <a:pPr algn="l">
              <a:lnSpc>
                <a:spcPts val="3887"/>
              </a:lnSpc>
            </a:pPr>
            <a:r>
              <a:rPr lang="en-US" sz="2025" i="1">
                <a:solidFill>
                  <a:srgbClr val="475569"/>
                </a:solidFill>
                <a:latin typeface="Open Sans Italics"/>
                <a:ea typeface="Open Sans Italics"/>
                <a:cs typeface="Open Sans Italics"/>
                <a:sym typeface="Open Sans Italics"/>
              </a:rPr>
              <a:t>Ví dụ:</a:t>
            </a:r>
            <a:r>
              <a:rPr lang="en-US" sz="2025">
                <a:solidFill>
                  <a:srgbClr val="475569"/>
                </a:solidFill>
                <a:latin typeface="Open Sans"/>
                <a:ea typeface="Open Sans"/>
                <a:cs typeface="Open Sans"/>
                <a:sym typeface="Open Sans"/>
              </a:rPr>
              <a:t> Quãng đường 0,5 dặm (bình thường) + cước $80 (bình thường riêng lẻ) → tổ hợp phi lý.</a:t>
            </a:r>
          </a:p>
        </p:txBody>
      </p:sp>
      <p:sp>
        <p:nvSpPr>
          <p:cNvPr id="9" name="TextBox 9"/>
          <p:cNvSpPr txBox="1"/>
          <p:nvPr/>
        </p:nvSpPr>
        <p:spPr>
          <a:xfrm>
            <a:off x="9429750" y="6263507"/>
            <a:ext cx="8001000" cy="1377182"/>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Nguyên lý:</a:t>
            </a:r>
            <a:r>
              <a:rPr lang="en-US" sz="2025">
                <a:solidFill>
                  <a:srgbClr val="475569"/>
                </a:solidFill>
                <a:latin typeface="Open Sans"/>
                <a:ea typeface="Open Sans"/>
                <a:cs typeface="Open Sans"/>
                <a:sym typeface="Open Sans"/>
              </a:rPr>
              <a:t> Tìm tập con dữ liệu (h = 0.85n) ít bị nhiễu nhất để ước lượng ma trận hiệp phương sai bền vững. Không bị nhiễu bởi các điểm ngoại lệ cực đoan (robust estimator).</a:t>
            </a:r>
          </a:p>
        </p:txBody>
      </p:sp>
      <p:grpSp>
        <p:nvGrpSpPr>
          <p:cNvPr id="10" name="Group 10"/>
          <p:cNvGrpSpPr/>
          <p:nvPr/>
        </p:nvGrpSpPr>
        <p:grpSpPr>
          <a:xfrm>
            <a:off x="1200150" y="5604491"/>
            <a:ext cx="7372350" cy="440903"/>
            <a:chOff x="0" y="0"/>
            <a:chExt cx="9829800" cy="587870"/>
          </a:xfrm>
        </p:grpSpPr>
        <p:sp>
          <p:nvSpPr>
            <p:cNvPr id="11" name="Freeform 11" descr="image.png"/>
            <p:cNvSpPr/>
            <p:nvPr/>
          </p:nvSpPr>
          <p:spPr>
            <a:xfrm>
              <a:off x="0" y="0"/>
              <a:ext cx="9829800" cy="587883"/>
            </a:xfrm>
            <a:custGeom>
              <a:avLst/>
              <a:gdLst/>
              <a:ahLst/>
              <a:cxnLst/>
              <a:rect l="l" t="t" r="r" b="b"/>
              <a:pathLst>
                <a:path w="9829800" h="587883">
                  <a:moveTo>
                    <a:pt x="0" y="0"/>
                  </a:moveTo>
                  <a:lnTo>
                    <a:pt x="9829800" y="0"/>
                  </a:lnTo>
                  <a:lnTo>
                    <a:pt x="9829800" y="587883"/>
                  </a:lnTo>
                  <a:lnTo>
                    <a:pt x="0" y="587883"/>
                  </a:lnTo>
                  <a:lnTo>
                    <a:pt x="0" y="0"/>
                  </a:lnTo>
                  <a:close/>
                </a:path>
              </a:pathLst>
            </a:custGeom>
            <a:blipFill>
              <a:blip r:embed="rId4"/>
              <a:stretch>
                <a:fillRect b="-2896"/>
              </a:stretch>
            </a:blipFill>
          </p:spPr>
          <p:txBody>
            <a:bodyPr/>
            <a:lstStyle/>
            <a:p>
              <a:endParaRPr lang="vi-VN"/>
            </a:p>
          </p:txBody>
        </p:sp>
      </p:grpSp>
      <p:sp>
        <p:nvSpPr>
          <p:cNvPr id="12" name="TextBox 12"/>
          <p:cNvSpPr txBox="1"/>
          <p:nvPr/>
        </p:nvSpPr>
        <p:spPr>
          <a:xfrm>
            <a:off x="857250" y="857250"/>
            <a:ext cx="17402175" cy="700088"/>
          </a:xfrm>
          <a:prstGeom prst="rect">
            <a:avLst/>
          </a:prstGeom>
        </p:spPr>
        <p:txBody>
          <a:bodyPr lIns="0" tIns="0" rIns="0" bIns="0" rtlCol="0" anchor="t">
            <a:spAutoFit/>
          </a:bodyPr>
          <a:lstStyle/>
          <a:p>
            <a:pPr algn="l">
              <a:lnSpc>
                <a:spcPts val="5130"/>
              </a:lnSpc>
            </a:pPr>
            <a:r>
              <a:rPr lang="en-US" sz="4275" b="1">
                <a:solidFill>
                  <a:srgbClr val="164673"/>
                </a:solidFill>
                <a:latin typeface="Montserrat Bold"/>
                <a:ea typeface="Montserrat Bold"/>
                <a:cs typeface="Montserrat Bold"/>
                <a:sym typeface="Montserrat Bold"/>
              </a:rPr>
              <a:t>CƠ SỞ LÝ THUYẾT: THUẬT TOÁN MCD</a:t>
            </a:r>
          </a:p>
        </p:txBody>
      </p:sp>
      <p:grpSp>
        <p:nvGrpSpPr>
          <p:cNvPr id="13" name="Group 13"/>
          <p:cNvGrpSpPr/>
          <p:nvPr/>
        </p:nvGrpSpPr>
        <p:grpSpPr>
          <a:xfrm>
            <a:off x="857250" y="1671638"/>
            <a:ext cx="16573500" cy="28575"/>
            <a:chOff x="0" y="0"/>
            <a:chExt cx="22098000" cy="38100"/>
          </a:xfrm>
        </p:grpSpPr>
        <p:sp>
          <p:nvSpPr>
            <p:cNvPr id="14" name="Freeform 14"/>
            <p:cNvSpPr/>
            <p:nvPr/>
          </p:nvSpPr>
          <p:spPr>
            <a:xfrm>
              <a:off x="0" y="0"/>
              <a:ext cx="22098000" cy="38100"/>
            </a:xfrm>
            <a:custGeom>
              <a:avLst/>
              <a:gdLst/>
              <a:ahLst/>
              <a:cxnLst/>
              <a:rect l="l" t="t" r="r" b="b"/>
              <a:pathLst>
                <a:path w="22098000" h="38100">
                  <a:moveTo>
                    <a:pt x="0" y="0"/>
                  </a:moveTo>
                  <a:lnTo>
                    <a:pt x="22098000" y="0"/>
                  </a:lnTo>
                  <a:lnTo>
                    <a:pt x="22098000" y="38100"/>
                  </a:lnTo>
                  <a:lnTo>
                    <a:pt x="0" y="38100"/>
                  </a:lnTo>
                  <a:close/>
                </a:path>
              </a:pathLst>
            </a:custGeom>
            <a:solidFill>
              <a:srgbClr val="48A6D8"/>
            </a:solidFill>
          </p:spPr>
          <p:txBody>
            <a:bodyPr/>
            <a:lstStyle/>
            <a:p>
              <a:endParaRPr lang="vi-VN"/>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grpSp>
        <p:nvGrpSpPr>
          <p:cNvPr id="4" name="Group 4"/>
          <p:cNvGrpSpPr/>
          <p:nvPr/>
        </p:nvGrpSpPr>
        <p:grpSpPr>
          <a:xfrm>
            <a:off x="857250" y="3237462"/>
            <a:ext cx="8001000" cy="6192288"/>
            <a:chOff x="0" y="0"/>
            <a:chExt cx="10668000" cy="8256384"/>
          </a:xfrm>
        </p:grpSpPr>
        <p:sp>
          <p:nvSpPr>
            <p:cNvPr id="5" name="Freeform 5" descr="image.png"/>
            <p:cNvSpPr/>
            <p:nvPr/>
          </p:nvSpPr>
          <p:spPr>
            <a:xfrm>
              <a:off x="0" y="0"/>
              <a:ext cx="10668000" cy="8256397"/>
            </a:xfrm>
            <a:custGeom>
              <a:avLst/>
              <a:gdLst/>
              <a:ahLst/>
              <a:cxnLst/>
              <a:rect l="l" t="t" r="r" b="b"/>
              <a:pathLst>
                <a:path w="10668000" h="8256397">
                  <a:moveTo>
                    <a:pt x="0" y="0"/>
                  </a:moveTo>
                  <a:lnTo>
                    <a:pt x="10668000" y="0"/>
                  </a:lnTo>
                  <a:lnTo>
                    <a:pt x="10668000" y="8256397"/>
                  </a:lnTo>
                  <a:lnTo>
                    <a:pt x="0" y="8256397"/>
                  </a:lnTo>
                  <a:lnTo>
                    <a:pt x="0" y="0"/>
                  </a:lnTo>
                  <a:close/>
                </a:path>
              </a:pathLst>
            </a:custGeom>
            <a:blipFill>
              <a:blip r:embed="rId4"/>
              <a:stretch>
                <a:fillRect b="-136"/>
              </a:stretch>
            </a:blipFill>
          </p:spPr>
          <p:txBody>
            <a:bodyPr/>
            <a:lstStyle/>
            <a:p>
              <a:endParaRPr lang="vi-VN"/>
            </a:p>
          </p:txBody>
        </p:sp>
      </p:grpSp>
      <p:grpSp>
        <p:nvGrpSpPr>
          <p:cNvPr id="6" name="Group 6"/>
          <p:cNvGrpSpPr/>
          <p:nvPr/>
        </p:nvGrpSpPr>
        <p:grpSpPr>
          <a:xfrm>
            <a:off x="9429750" y="3237462"/>
            <a:ext cx="8001000" cy="6192288"/>
            <a:chOff x="0" y="0"/>
            <a:chExt cx="10668000" cy="8256384"/>
          </a:xfrm>
        </p:grpSpPr>
        <p:sp>
          <p:nvSpPr>
            <p:cNvPr id="7" name="Freeform 7" descr="image.png"/>
            <p:cNvSpPr/>
            <p:nvPr/>
          </p:nvSpPr>
          <p:spPr>
            <a:xfrm>
              <a:off x="0" y="0"/>
              <a:ext cx="10668000" cy="8256397"/>
            </a:xfrm>
            <a:custGeom>
              <a:avLst/>
              <a:gdLst/>
              <a:ahLst/>
              <a:cxnLst/>
              <a:rect l="l" t="t" r="r" b="b"/>
              <a:pathLst>
                <a:path w="10668000" h="8256397">
                  <a:moveTo>
                    <a:pt x="0" y="0"/>
                  </a:moveTo>
                  <a:lnTo>
                    <a:pt x="10668000" y="0"/>
                  </a:lnTo>
                  <a:lnTo>
                    <a:pt x="10668000" y="8256397"/>
                  </a:lnTo>
                  <a:lnTo>
                    <a:pt x="0" y="8256397"/>
                  </a:lnTo>
                  <a:lnTo>
                    <a:pt x="0" y="0"/>
                  </a:lnTo>
                  <a:close/>
                </a:path>
              </a:pathLst>
            </a:custGeom>
            <a:blipFill>
              <a:blip r:embed="rId5"/>
              <a:stretch>
                <a:fillRect b="-136"/>
              </a:stretch>
            </a:blipFill>
          </p:spPr>
          <p:txBody>
            <a:bodyPr/>
            <a:lstStyle/>
            <a:p>
              <a:endParaRPr lang="vi-VN"/>
            </a:p>
          </p:txBody>
        </p:sp>
      </p:grpSp>
      <p:grpSp>
        <p:nvGrpSpPr>
          <p:cNvPr id="8" name="Group 8"/>
          <p:cNvGrpSpPr/>
          <p:nvPr/>
        </p:nvGrpSpPr>
        <p:grpSpPr>
          <a:xfrm>
            <a:off x="1300162" y="5143500"/>
            <a:ext cx="7115175" cy="971550"/>
            <a:chOff x="0" y="0"/>
            <a:chExt cx="9486900" cy="1295400"/>
          </a:xfrm>
        </p:grpSpPr>
        <p:sp>
          <p:nvSpPr>
            <p:cNvPr id="9" name="Freeform 9" descr="image.png"/>
            <p:cNvSpPr/>
            <p:nvPr/>
          </p:nvSpPr>
          <p:spPr>
            <a:xfrm>
              <a:off x="0" y="0"/>
              <a:ext cx="9486900" cy="1295400"/>
            </a:xfrm>
            <a:custGeom>
              <a:avLst/>
              <a:gdLst/>
              <a:ahLst/>
              <a:cxnLst/>
              <a:rect l="l" t="t" r="r" b="b"/>
              <a:pathLst>
                <a:path w="9486900" h="1295400">
                  <a:moveTo>
                    <a:pt x="0" y="0"/>
                  </a:moveTo>
                  <a:lnTo>
                    <a:pt x="9486900" y="0"/>
                  </a:lnTo>
                  <a:lnTo>
                    <a:pt x="9486900" y="1295400"/>
                  </a:lnTo>
                  <a:lnTo>
                    <a:pt x="0" y="1295400"/>
                  </a:lnTo>
                  <a:lnTo>
                    <a:pt x="0" y="0"/>
                  </a:lnTo>
                  <a:close/>
                </a:path>
              </a:pathLst>
            </a:custGeom>
            <a:blipFill>
              <a:blip r:embed="rId6"/>
              <a:stretch>
                <a:fillRect b="-1064"/>
              </a:stretch>
            </a:blipFill>
          </p:spPr>
          <p:txBody>
            <a:bodyPr/>
            <a:lstStyle/>
            <a:p>
              <a:endParaRPr lang="vi-VN"/>
            </a:p>
          </p:txBody>
        </p:sp>
      </p:grpSp>
      <p:grpSp>
        <p:nvGrpSpPr>
          <p:cNvPr id="10" name="Group 10"/>
          <p:cNvGrpSpPr/>
          <p:nvPr/>
        </p:nvGrpSpPr>
        <p:grpSpPr>
          <a:xfrm>
            <a:off x="9872662" y="5191944"/>
            <a:ext cx="7115175" cy="700088"/>
            <a:chOff x="0" y="0"/>
            <a:chExt cx="9486900" cy="933450"/>
          </a:xfrm>
        </p:grpSpPr>
        <p:sp>
          <p:nvSpPr>
            <p:cNvPr id="11" name="Freeform 11"/>
            <p:cNvSpPr/>
            <p:nvPr/>
          </p:nvSpPr>
          <p:spPr>
            <a:xfrm>
              <a:off x="0" y="0"/>
              <a:ext cx="9486900" cy="933450"/>
            </a:xfrm>
            <a:custGeom>
              <a:avLst/>
              <a:gdLst/>
              <a:ahLst/>
              <a:cxnLst/>
              <a:rect l="l" t="t" r="r" b="b"/>
              <a:pathLst>
                <a:path w="9486900" h="933450">
                  <a:moveTo>
                    <a:pt x="0" y="0"/>
                  </a:moveTo>
                  <a:lnTo>
                    <a:pt x="9486900" y="0"/>
                  </a:lnTo>
                  <a:lnTo>
                    <a:pt x="9486900" y="933450"/>
                  </a:lnTo>
                  <a:lnTo>
                    <a:pt x="0" y="933450"/>
                  </a:lnTo>
                  <a:lnTo>
                    <a:pt x="0" y="0"/>
                  </a:lnTo>
                  <a:close/>
                </a:path>
              </a:pathLst>
            </a:custGeom>
            <a:blipFill>
              <a:blip r:embed="rId7"/>
              <a:stretch>
                <a:fillRect t="-1909" b="-1909"/>
              </a:stretch>
            </a:blipFill>
          </p:spPr>
          <p:txBody>
            <a:bodyPr/>
            <a:lstStyle/>
            <a:p>
              <a:endParaRPr lang="vi-VN"/>
            </a:p>
          </p:txBody>
        </p:sp>
      </p:grpSp>
      <p:grpSp>
        <p:nvGrpSpPr>
          <p:cNvPr id="12" name="Group 12"/>
          <p:cNvGrpSpPr/>
          <p:nvPr/>
        </p:nvGrpSpPr>
        <p:grpSpPr>
          <a:xfrm>
            <a:off x="857250" y="1671638"/>
            <a:ext cx="16573500" cy="28575"/>
            <a:chOff x="0" y="0"/>
            <a:chExt cx="22098000" cy="38100"/>
          </a:xfrm>
        </p:grpSpPr>
        <p:sp>
          <p:nvSpPr>
            <p:cNvPr id="13" name="Freeform 13"/>
            <p:cNvSpPr/>
            <p:nvPr/>
          </p:nvSpPr>
          <p:spPr>
            <a:xfrm>
              <a:off x="0" y="0"/>
              <a:ext cx="22098000" cy="38100"/>
            </a:xfrm>
            <a:custGeom>
              <a:avLst/>
              <a:gdLst/>
              <a:ahLst/>
              <a:cxnLst/>
              <a:rect l="l" t="t" r="r" b="b"/>
              <a:pathLst>
                <a:path w="22098000" h="38100">
                  <a:moveTo>
                    <a:pt x="0" y="0"/>
                  </a:moveTo>
                  <a:lnTo>
                    <a:pt x="22098000" y="0"/>
                  </a:lnTo>
                  <a:lnTo>
                    <a:pt x="22098000" y="38100"/>
                  </a:lnTo>
                  <a:lnTo>
                    <a:pt x="0" y="38100"/>
                  </a:lnTo>
                  <a:close/>
                </a:path>
              </a:pathLst>
            </a:custGeom>
            <a:solidFill>
              <a:srgbClr val="48A6D8"/>
            </a:solidFill>
          </p:spPr>
          <p:txBody>
            <a:bodyPr/>
            <a:lstStyle/>
            <a:p>
              <a:endParaRPr lang="vi-VN"/>
            </a:p>
          </p:txBody>
        </p:sp>
      </p:grpSp>
      <p:grpSp>
        <p:nvGrpSpPr>
          <p:cNvPr id="14" name="Group 14"/>
          <p:cNvGrpSpPr/>
          <p:nvPr/>
        </p:nvGrpSpPr>
        <p:grpSpPr>
          <a:xfrm>
            <a:off x="1300162" y="5143500"/>
            <a:ext cx="7115175" cy="971550"/>
            <a:chOff x="0" y="0"/>
            <a:chExt cx="9486900" cy="1295400"/>
          </a:xfrm>
        </p:grpSpPr>
        <p:sp>
          <p:nvSpPr>
            <p:cNvPr id="15" name="Freeform 15"/>
            <p:cNvSpPr/>
            <p:nvPr/>
          </p:nvSpPr>
          <p:spPr>
            <a:xfrm>
              <a:off x="0" y="0"/>
              <a:ext cx="9486900" cy="1295400"/>
            </a:xfrm>
            <a:custGeom>
              <a:avLst/>
              <a:gdLst/>
              <a:ahLst/>
              <a:cxnLst/>
              <a:rect l="l" t="t" r="r" b="b"/>
              <a:pathLst>
                <a:path w="9486900" h="1295400">
                  <a:moveTo>
                    <a:pt x="0" y="0"/>
                  </a:moveTo>
                  <a:lnTo>
                    <a:pt x="9486900" y="0"/>
                  </a:lnTo>
                  <a:lnTo>
                    <a:pt x="9486900" y="1295400"/>
                  </a:lnTo>
                  <a:lnTo>
                    <a:pt x="0" y="1295400"/>
                  </a:lnTo>
                  <a:lnTo>
                    <a:pt x="0" y="0"/>
                  </a:lnTo>
                  <a:close/>
                </a:path>
              </a:pathLst>
            </a:custGeom>
            <a:blipFill>
              <a:blip r:embed="rId8"/>
              <a:stretch>
                <a:fillRect t="-5233" b="-5233"/>
              </a:stretch>
            </a:blipFill>
          </p:spPr>
          <p:txBody>
            <a:bodyPr/>
            <a:lstStyle/>
            <a:p>
              <a:endParaRPr lang="vi-VN"/>
            </a:p>
          </p:txBody>
        </p:sp>
      </p:grpSp>
      <p:sp>
        <p:nvSpPr>
          <p:cNvPr id="16" name="TextBox 16"/>
          <p:cNvSpPr txBox="1"/>
          <p:nvPr/>
        </p:nvSpPr>
        <p:spPr>
          <a:xfrm>
            <a:off x="857250" y="1985963"/>
            <a:ext cx="16573500" cy="965749"/>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Vấn đề:</a:t>
            </a:r>
            <a:r>
              <a:rPr lang="en-US" sz="2025">
                <a:solidFill>
                  <a:srgbClr val="475569"/>
                </a:solidFill>
                <a:latin typeface="Open Sans"/>
                <a:ea typeface="Open Sans"/>
                <a:cs typeface="Open Sans"/>
                <a:sym typeface="Open Sans"/>
              </a:rPr>
              <a:t> Bài báo gốc không đề cập cơ chế kết hợp. Nếu dùng Union Voting (OR): một mô hình flag → cảnh báo → tỷ lệ báo sai (False Positive) rất cao.</a:t>
            </a:r>
          </a:p>
        </p:txBody>
      </p:sp>
      <p:sp>
        <p:nvSpPr>
          <p:cNvPr id="17" name="TextBox 17"/>
          <p:cNvSpPr txBox="1"/>
          <p:nvPr/>
        </p:nvSpPr>
        <p:spPr>
          <a:xfrm>
            <a:off x="1300162" y="3723237"/>
            <a:ext cx="7470934" cy="414338"/>
          </a:xfrm>
          <a:prstGeom prst="rect">
            <a:avLst/>
          </a:prstGeom>
        </p:spPr>
        <p:txBody>
          <a:bodyPr lIns="0" tIns="0" rIns="0" bIns="0" rtlCol="0" anchor="t">
            <a:spAutoFit/>
          </a:bodyPr>
          <a:lstStyle/>
          <a:p>
            <a:pPr algn="l">
              <a:lnSpc>
                <a:spcPts val="3240"/>
              </a:lnSpc>
            </a:pPr>
            <a:r>
              <a:rPr lang="en-US" sz="2700">
                <a:solidFill>
                  <a:srgbClr val="164673"/>
                </a:solidFill>
                <a:latin typeface="Montserrat"/>
                <a:ea typeface="Montserrat"/>
                <a:cs typeface="Montserrat"/>
                <a:sym typeface="Montserrat"/>
              </a:rPr>
              <a:t>Quy tắc Strict AND</a:t>
            </a:r>
          </a:p>
        </p:txBody>
      </p:sp>
      <p:sp>
        <p:nvSpPr>
          <p:cNvPr id="18" name="TextBox 18"/>
          <p:cNvSpPr txBox="1"/>
          <p:nvPr/>
        </p:nvSpPr>
        <p:spPr>
          <a:xfrm>
            <a:off x="1300162" y="4209012"/>
            <a:ext cx="7115175" cy="554307"/>
          </a:xfrm>
          <a:prstGeom prst="rect">
            <a:avLst/>
          </a:prstGeom>
        </p:spPr>
        <p:txBody>
          <a:bodyPr lIns="0" tIns="0" rIns="0" bIns="0" rtlCol="0" anchor="t">
            <a:spAutoFit/>
          </a:bodyPr>
          <a:lstStyle/>
          <a:p>
            <a:pPr algn="l">
              <a:lnSpc>
                <a:spcPts val="3887"/>
              </a:lnSpc>
            </a:pPr>
            <a:r>
              <a:rPr lang="en-US" sz="2025">
                <a:solidFill>
                  <a:srgbClr val="475569"/>
                </a:solidFill>
                <a:latin typeface="Open Sans"/>
                <a:ea typeface="Open Sans"/>
                <a:cs typeface="Open Sans"/>
                <a:sym typeface="Open Sans"/>
              </a:rPr>
              <a:t>Chỉ gắn cờ bất thường (-1) khi </a:t>
            </a:r>
            <a:r>
              <a:rPr lang="en-US" sz="2025">
                <a:solidFill>
                  <a:srgbClr val="1E293B"/>
                </a:solidFill>
                <a:latin typeface="Open Sans"/>
                <a:ea typeface="Open Sans"/>
                <a:cs typeface="Open Sans"/>
                <a:sym typeface="Open Sans"/>
              </a:rPr>
              <a:t>CẢ HAI</a:t>
            </a:r>
            <a:r>
              <a:rPr lang="en-US" sz="2025">
                <a:solidFill>
                  <a:srgbClr val="475569"/>
                </a:solidFill>
                <a:latin typeface="Open Sans"/>
                <a:ea typeface="Open Sans"/>
                <a:cs typeface="Open Sans"/>
                <a:sym typeface="Open Sans"/>
              </a:rPr>
              <a:t> mô hình đồng thuận:</a:t>
            </a:r>
          </a:p>
        </p:txBody>
      </p:sp>
      <p:sp>
        <p:nvSpPr>
          <p:cNvPr id="19" name="TextBox 19"/>
          <p:cNvSpPr txBox="1"/>
          <p:nvPr/>
        </p:nvSpPr>
        <p:spPr>
          <a:xfrm>
            <a:off x="1300162" y="6234932"/>
            <a:ext cx="7115175" cy="965749"/>
          </a:xfrm>
          <a:prstGeom prst="rect">
            <a:avLst/>
          </a:prstGeom>
        </p:spPr>
        <p:txBody>
          <a:bodyPr lIns="0" tIns="0" rIns="0" bIns="0" rtlCol="0" anchor="t">
            <a:spAutoFit/>
          </a:bodyPr>
          <a:lstStyle/>
          <a:p>
            <a:pPr algn="l">
              <a:lnSpc>
                <a:spcPts val="3887"/>
              </a:lnSpc>
            </a:pPr>
            <a:r>
              <a:rPr lang="en-US" sz="2025">
                <a:solidFill>
                  <a:srgbClr val="475569"/>
                </a:solidFill>
                <a:latin typeface="Open Sans"/>
                <a:ea typeface="Open Sans"/>
                <a:cs typeface="Open Sans"/>
                <a:sym typeface="Open Sans"/>
              </a:rPr>
              <a:t>Mỗi cảnh báo được xác nhận bởi 2 thuật toán độc lập, nâng cao độ tin cậy của hệ thống.</a:t>
            </a:r>
          </a:p>
        </p:txBody>
      </p:sp>
      <p:sp>
        <p:nvSpPr>
          <p:cNvPr id="20" name="TextBox 20"/>
          <p:cNvSpPr txBox="1"/>
          <p:nvPr/>
        </p:nvSpPr>
        <p:spPr>
          <a:xfrm>
            <a:off x="9872662" y="3723237"/>
            <a:ext cx="7470934" cy="414338"/>
          </a:xfrm>
          <a:prstGeom prst="rect">
            <a:avLst/>
          </a:prstGeom>
        </p:spPr>
        <p:txBody>
          <a:bodyPr lIns="0" tIns="0" rIns="0" bIns="0" rtlCol="0" anchor="t">
            <a:spAutoFit/>
          </a:bodyPr>
          <a:lstStyle/>
          <a:p>
            <a:pPr algn="l">
              <a:lnSpc>
                <a:spcPts val="3240"/>
              </a:lnSpc>
            </a:pPr>
            <a:r>
              <a:rPr lang="en-US" sz="2700">
                <a:solidFill>
                  <a:srgbClr val="164673"/>
                </a:solidFill>
                <a:latin typeface="Montserrat"/>
                <a:ea typeface="Montserrat"/>
                <a:cs typeface="Montserrat"/>
                <a:sym typeface="Montserrat"/>
              </a:rPr>
              <a:t>Điểm tổng hợp có trọng số</a:t>
            </a:r>
          </a:p>
        </p:txBody>
      </p:sp>
      <p:sp>
        <p:nvSpPr>
          <p:cNvPr id="21" name="TextBox 21"/>
          <p:cNvSpPr txBox="1"/>
          <p:nvPr/>
        </p:nvSpPr>
        <p:spPr>
          <a:xfrm>
            <a:off x="9872662" y="4209012"/>
            <a:ext cx="7115175" cy="554307"/>
          </a:xfrm>
          <a:prstGeom prst="rect">
            <a:avLst/>
          </a:prstGeom>
        </p:spPr>
        <p:txBody>
          <a:bodyPr lIns="0" tIns="0" rIns="0" bIns="0" rtlCol="0" anchor="t">
            <a:spAutoFit/>
          </a:bodyPr>
          <a:lstStyle/>
          <a:p>
            <a:pPr algn="l">
              <a:lnSpc>
                <a:spcPts val="3887"/>
              </a:lnSpc>
            </a:pPr>
            <a:r>
              <a:rPr lang="en-US" sz="2025">
                <a:solidFill>
                  <a:srgbClr val="475569"/>
                </a:solidFill>
                <a:latin typeface="Open Sans"/>
                <a:ea typeface="Open Sans"/>
                <a:cs typeface="Open Sans"/>
                <a:sym typeface="Open Sans"/>
              </a:rPr>
              <a:t>Tính toán điểm số anomaly cuối cùng:</a:t>
            </a:r>
          </a:p>
        </p:txBody>
      </p:sp>
      <p:sp>
        <p:nvSpPr>
          <p:cNvPr id="22" name="TextBox 22"/>
          <p:cNvSpPr txBox="1"/>
          <p:nvPr/>
        </p:nvSpPr>
        <p:spPr>
          <a:xfrm>
            <a:off x="9872662" y="5963469"/>
            <a:ext cx="7115175" cy="1377182"/>
          </a:xfrm>
          <a:prstGeom prst="rect">
            <a:avLst/>
          </a:prstGeom>
        </p:spPr>
        <p:txBody>
          <a:bodyPr lIns="0" tIns="0" rIns="0" bIns="0" rtlCol="0" anchor="t">
            <a:spAutoFit/>
          </a:bodyPr>
          <a:lstStyle/>
          <a:p>
            <a:pPr algn="l">
              <a:lnSpc>
                <a:spcPts val="3887"/>
              </a:lnSpc>
            </a:pPr>
            <a:r>
              <a:rPr lang="en-US" sz="2025">
                <a:solidFill>
                  <a:srgbClr val="475569"/>
                </a:solidFill>
                <a:latin typeface="Open Sans"/>
                <a:ea typeface="Open Sans"/>
                <a:cs typeface="Open Sans"/>
                <a:sym typeface="Open Sans"/>
              </a:rPr>
              <a:t>IF được ưu tiên cấp trọng số cao hơn (0.6) do phù hợp tốt hơn với phân phối lệch (skewed data) đặc trưng của dữ liệu Taxi.</a:t>
            </a:r>
          </a:p>
        </p:txBody>
      </p:sp>
      <p:sp>
        <p:nvSpPr>
          <p:cNvPr id="23" name="TextBox 23"/>
          <p:cNvSpPr txBox="1"/>
          <p:nvPr/>
        </p:nvSpPr>
        <p:spPr>
          <a:xfrm>
            <a:off x="857250" y="857250"/>
            <a:ext cx="17402175" cy="700088"/>
          </a:xfrm>
          <a:prstGeom prst="rect">
            <a:avLst/>
          </a:prstGeom>
        </p:spPr>
        <p:txBody>
          <a:bodyPr lIns="0" tIns="0" rIns="0" bIns="0" rtlCol="0" anchor="t">
            <a:spAutoFit/>
          </a:bodyPr>
          <a:lstStyle/>
          <a:p>
            <a:pPr algn="l">
              <a:lnSpc>
                <a:spcPts val="5130"/>
              </a:lnSpc>
            </a:pPr>
            <a:r>
              <a:rPr lang="en-US" sz="4275" b="1">
                <a:solidFill>
                  <a:srgbClr val="164673"/>
                </a:solidFill>
                <a:latin typeface="Montserrat Bold"/>
                <a:ea typeface="Montserrat Bold"/>
                <a:cs typeface="Montserrat Bold"/>
                <a:sym typeface="Montserrat Bold"/>
              </a:rPr>
              <a:t>CẢI TIẾN #2: STRICT ENSEMBLE VOTING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sp>
        <p:nvSpPr>
          <p:cNvPr id="4" name="TextBox 4"/>
          <p:cNvSpPr txBox="1"/>
          <p:nvPr/>
        </p:nvSpPr>
        <p:spPr>
          <a:xfrm>
            <a:off x="857250" y="4129088"/>
            <a:ext cx="8401050" cy="414338"/>
          </a:xfrm>
          <a:prstGeom prst="rect">
            <a:avLst/>
          </a:prstGeom>
        </p:spPr>
        <p:txBody>
          <a:bodyPr lIns="0" tIns="0" rIns="0" bIns="0" rtlCol="0" anchor="t">
            <a:spAutoFit/>
          </a:bodyPr>
          <a:lstStyle/>
          <a:p>
            <a:pPr algn="l">
              <a:lnSpc>
                <a:spcPts val="3240"/>
              </a:lnSpc>
            </a:pPr>
            <a:r>
              <a:rPr lang="en-US" sz="2700">
                <a:solidFill>
                  <a:srgbClr val="164673"/>
                </a:solidFill>
                <a:latin typeface="Montserrat"/>
                <a:ea typeface="Montserrat"/>
                <a:cs typeface="Montserrat"/>
                <a:sym typeface="Montserrat"/>
              </a:rPr>
              <a:t>Giai đoạn 1 (Trong Spark SQL)</a:t>
            </a:r>
          </a:p>
        </p:txBody>
      </p:sp>
      <p:sp>
        <p:nvSpPr>
          <p:cNvPr id="5" name="TextBox 5"/>
          <p:cNvSpPr txBox="1"/>
          <p:nvPr/>
        </p:nvSpPr>
        <p:spPr>
          <a:xfrm>
            <a:off x="857250" y="4614863"/>
            <a:ext cx="8001000" cy="554307"/>
          </a:xfrm>
          <a:prstGeom prst="rect">
            <a:avLst/>
          </a:prstGeom>
        </p:spPr>
        <p:txBody>
          <a:bodyPr lIns="0" tIns="0" rIns="0" bIns="0" rtlCol="0" anchor="t">
            <a:spAutoFit/>
          </a:bodyPr>
          <a:lstStyle/>
          <a:p>
            <a:pPr algn="l">
              <a:lnSpc>
                <a:spcPts val="3887"/>
              </a:lnSpc>
            </a:pPr>
            <a:r>
              <a:rPr lang="en-US" sz="2025">
                <a:solidFill>
                  <a:srgbClr val="475569"/>
                </a:solidFill>
                <a:latin typeface="Open Sans"/>
                <a:ea typeface="Open Sans"/>
                <a:cs typeface="Open Sans"/>
                <a:sym typeface="Open Sans"/>
              </a:rPr>
              <a:t>Thực hiện các tính toán và lọc dữ liệu cơ bản ở mức streaming:</a:t>
            </a:r>
          </a:p>
        </p:txBody>
      </p:sp>
      <p:sp>
        <p:nvSpPr>
          <p:cNvPr id="6" name="TextBox 6"/>
          <p:cNvSpPr txBox="1"/>
          <p:nvPr/>
        </p:nvSpPr>
        <p:spPr>
          <a:xfrm>
            <a:off x="9429750" y="3326311"/>
            <a:ext cx="8401050" cy="414338"/>
          </a:xfrm>
          <a:prstGeom prst="rect">
            <a:avLst/>
          </a:prstGeom>
        </p:spPr>
        <p:txBody>
          <a:bodyPr lIns="0" tIns="0" rIns="0" bIns="0" rtlCol="0" anchor="t">
            <a:spAutoFit/>
          </a:bodyPr>
          <a:lstStyle/>
          <a:p>
            <a:pPr algn="l">
              <a:lnSpc>
                <a:spcPts val="3240"/>
              </a:lnSpc>
            </a:pPr>
            <a:r>
              <a:rPr lang="en-US" sz="2700">
                <a:solidFill>
                  <a:srgbClr val="164673"/>
                </a:solidFill>
                <a:latin typeface="Montserrat"/>
                <a:ea typeface="Montserrat"/>
                <a:cs typeface="Montserrat"/>
                <a:sym typeface="Montserrat"/>
              </a:rPr>
              <a:t>Giai đoạn 2 (Sau toPandas — Python)</a:t>
            </a:r>
          </a:p>
        </p:txBody>
      </p:sp>
      <p:sp>
        <p:nvSpPr>
          <p:cNvPr id="7" name="TextBox 7"/>
          <p:cNvSpPr txBox="1"/>
          <p:nvPr/>
        </p:nvSpPr>
        <p:spPr>
          <a:xfrm>
            <a:off x="9429750" y="3812086"/>
            <a:ext cx="8001000" cy="554307"/>
          </a:xfrm>
          <a:prstGeom prst="rect">
            <a:avLst/>
          </a:prstGeom>
        </p:spPr>
        <p:txBody>
          <a:bodyPr lIns="0" tIns="0" rIns="0" bIns="0" rtlCol="0" anchor="t">
            <a:spAutoFit/>
          </a:bodyPr>
          <a:lstStyle/>
          <a:p>
            <a:pPr algn="l">
              <a:lnSpc>
                <a:spcPts val="3887"/>
              </a:lnSpc>
            </a:pPr>
            <a:r>
              <a:rPr lang="en-US" sz="2025">
                <a:solidFill>
                  <a:srgbClr val="475569"/>
                </a:solidFill>
                <a:latin typeface="Open Sans"/>
                <a:ea typeface="Open Sans"/>
                <a:cs typeface="Open Sans"/>
                <a:sym typeface="Open Sans"/>
              </a:rPr>
              <a:t>Xử lý các đặc trưng nâng cao cho mô hình học máy:</a:t>
            </a:r>
          </a:p>
        </p:txBody>
      </p:sp>
      <p:sp>
        <p:nvSpPr>
          <p:cNvPr id="8" name="TextBox 8"/>
          <p:cNvSpPr txBox="1"/>
          <p:nvPr/>
        </p:nvSpPr>
        <p:spPr>
          <a:xfrm>
            <a:off x="1214438" y="5240607"/>
            <a:ext cx="7643812" cy="994324"/>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Lọc vật lý:</a:t>
            </a:r>
            <a:r>
              <a:rPr lang="en-US" sz="2025">
                <a:solidFill>
                  <a:srgbClr val="475569"/>
                </a:solidFill>
                <a:latin typeface="Open Sans"/>
                <a:ea typeface="Open Sans"/>
                <a:cs typeface="Open Sans"/>
                <a:sym typeface="Open Sans"/>
              </a:rPr>
              <a:t> duration &gt; 60s, distance &gt; 0.1mi, fare &gt; 0, 1 ≤ passengers ≤ 9.</a:t>
            </a:r>
          </a:p>
        </p:txBody>
      </p:sp>
      <p:sp>
        <p:nvSpPr>
          <p:cNvPr id="9" name="TextBox 9"/>
          <p:cNvSpPr txBox="1"/>
          <p:nvPr/>
        </p:nvSpPr>
        <p:spPr>
          <a:xfrm>
            <a:off x="1214438" y="6263507"/>
            <a:ext cx="7643812" cy="994324"/>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Tính toán cơ bản:</a:t>
            </a:r>
            <a:r>
              <a:rPr lang="en-US" sz="2025">
                <a:solidFill>
                  <a:srgbClr val="475569"/>
                </a:solidFill>
                <a:latin typeface="Open Sans"/>
                <a:ea typeface="Open Sans"/>
                <a:cs typeface="Open Sans"/>
                <a:sym typeface="Open Sans"/>
              </a:rPr>
              <a:t> avg_speed_kmh, fare_per_mile, trip_duration_sec.</a:t>
            </a:r>
          </a:p>
        </p:txBody>
      </p:sp>
      <p:sp>
        <p:nvSpPr>
          <p:cNvPr id="10" name="TextBox 10"/>
          <p:cNvSpPr txBox="1"/>
          <p:nvPr/>
        </p:nvSpPr>
        <p:spPr>
          <a:xfrm>
            <a:off x="9786938" y="4437831"/>
            <a:ext cx="7643812" cy="994324"/>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Cyclical encoding:</a:t>
            </a:r>
            <a:r>
              <a:rPr lang="en-US" sz="2025">
                <a:solidFill>
                  <a:srgbClr val="475569"/>
                </a:solidFill>
                <a:latin typeface="Open Sans"/>
                <a:ea typeface="Open Sans"/>
                <a:cs typeface="Open Sans"/>
                <a:sym typeface="Open Sans"/>
              </a:rPr>
              <a:t> hour_sin = sin(2π·hour/24), hour_cos = cos(2π·hour/24) → xử lý vấn đề 23h sát 0h.</a:t>
            </a:r>
          </a:p>
        </p:txBody>
      </p:sp>
      <p:sp>
        <p:nvSpPr>
          <p:cNvPr id="11" name="TextBox 11"/>
          <p:cNvSpPr txBox="1"/>
          <p:nvPr/>
        </p:nvSpPr>
        <p:spPr>
          <a:xfrm>
            <a:off x="9786938" y="5460730"/>
            <a:ext cx="7643812" cy="980037"/>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Log transforms:</a:t>
            </a:r>
            <a:r>
              <a:rPr lang="en-US" sz="2025">
                <a:solidFill>
                  <a:srgbClr val="475569"/>
                </a:solidFill>
                <a:latin typeface="Open Sans"/>
                <a:ea typeface="Open Sans"/>
                <a:cs typeface="Open Sans"/>
                <a:sym typeface="Open Sans"/>
              </a:rPr>
              <a:t> log_distance, log_fare → giảm skew phân phối đuôi dài.</a:t>
            </a:r>
          </a:p>
        </p:txBody>
      </p:sp>
      <p:sp>
        <p:nvSpPr>
          <p:cNvPr id="12" name="TextBox 12"/>
          <p:cNvSpPr txBox="1"/>
          <p:nvPr/>
        </p:nvSpPr>
        <p:spPr>
          <a:xfrm>
            <a:off x="9786938" y="6469332"/>
            <a:ext cx="7643812" cy="994324"/>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Interaction terms:</a:t>
            </a:r>
            <a:r>
              <a:rPr lang="en-US" sz="2025">
                <a:solidFill>
                  <a:srgbClr val="475569"/>
                </a:solidFill>
                <a:latin typeface="Open Sans"/>
                <a:ea typeface="Open Sans"/>
                <a:cs typeface="Open Sans"/>
                <a:sym typeface="Open Sans"/>
              </a:rPr>
              <a:t> speed_x_duration (proxy quãng đường thực), fare_distance_ratio.</a:t>
            </a:r>
          </a:p>
        </p:txBody>
      </p:sp>
      <p:sp>
        <p:nvSpPr>
          <p:cNvPr id="13" name="TextBox 13"/>
          <p:cNvSpPr txBox="1"/>
          <p:nvPr/>
        </p:nvSpPr>
        <p:spPr>
          <a:xfrm>
            <a:off x="9786938" y="7492232"/>
            <a:ext cx="7643812" cy="568595"/>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Context flags:</a:t>
            </a:r>
            <a:r>
              <a:rPr lang="en-US" sz="2025">
                <a:solidFill>
                  <a:srgbClr val="475569"/>
                </a:solidFill>
                <a:latin typeface="Open Sans"/>
                <a:ea typeface="Open Sans"/>
                <a:cs typeface="Open Sans"/>
                <a:sym typeface="Open Sans"/>
              </a:rPr>
              <a:t> is_rush_hour, is_night.</a:t>
            </a:r>
          </a:p>
        </p:txBody>
      </p:sp>
      <p:sp>
        <p:nvSpPr>
          <p:cNvPr id="14" name="TextBox 14"/>
          <p:cNvSpPr txBox="1"/>
          <p:nvPr/>
        </p:nvSpPr>
        <p:spPr>
          <a:xfrm>
            <a:off x="857250" y="857250"/>
            <a:ext cx="17402175" cy="700088"/>
          </a:xfrm>
          <a:prstGeom prst="rect">
            <a:avLst/>
          </a:prstGeom>
        </p:spPr>
        <p:txBody>
          <a:bodyPr lIns="0" tIns="0" rIns="0" bIns="0" rtlCol="0" anchor="t">
            <a:spAutoFit/>
          </a:bodyPr>
          <a:lstStyle/>
          <a:p>
            <a:pPr algn="l">
              <a:lnSpc>
                <a:spcPts val="5130"/>
              </a:lnSpc>
            </a:pPr>
            <a:r>
              <a:rPr lang="en-US" sz="4275" b="1">
                <a:solidFill>
                  <a:srgbClr val="164673"/>
                </a:solidFill>
                <a:latin typeface="Montserrat Bold"/>
                <a:ea typeface="Montserrat Bold"/>
                <a:cs typeface="Montserrat Bold"/>
                <a:sym typeface="Montserrat Bold"/>
              </a:rPr>
              <a:t>CẢI TIẾN #3: FEATURE ENGINEERING 2 GIAI ĐOẠN</a:t>
            </a:r>
          </a:p>
        </p:txBody>
      </p:sp>
      <p:grpSp>
        <p:nvGrpSpPr>
          <p:cNvPr id="15" name="Group 15"/>
          <p:cNvGrpSpPr/>
          <p:nvPr/>
        </p:nvGrpSpPr>
        <p:grpSpPr>
          <a:xfrm>
            <a:off x="857250" y="1671638"/>
            <a:ext cx="16573500" cy="28575"/>
            <a:chOff x="0" y="0"/>
            <a:chExt cx="22098000" cy="38100"/>
          </a:xfrm>
        </p:grpSpPr>
        <p:sp>
          <p:nvSpPr>
            <p:cNvPr id="16" name="Freeform 16"/>
            <p:cNvSpPr/>
            <p:nvPr/>
          </p:nvSpPr>
          <p:spPr>
            <a:xfrm>
              <a:off x="0" y="0"/>
              <a:ext cx="22098000" cy="38100"/>
            </a:xfrm>
            <a:custGeom>
              <a:avLst/>
              <a:gdLst/>
              <a:ahLst/>
              <a:cxnLst/>
              <a:rect l="l" t="t" r="r" b="b"/>
              <a:pathLst>
                <a:path w="22098000" h="38100">
                  <a:moveTo>
                    <a:pt x="0" y="0"/>
                  </a:moveTo>
                  <a:lnTo>
                    <a:pt x="22098000" y="0"/>
                  </a:lnTo>
                  <a:lnTo>
                    <a:pt x="22098000" y="38100"/>
                  </a:lnTo>
                  <a:lnTo>
                    <a:pt x="0" y="38100"/>
                  </a:lnTo>
                  <a:close/>
                </a:path>
              </a:pathLst>
            </a:custGeom>
            <a:solidFill>
              <a:srgbClr val="48A6D8"/>
            </a:solidFill>
          </p:spPr>
          <p:txBody>
            <a:bodyPr/>
            <a:lstStyle/>
            <a:p>
              <a:endParaRPr lang="vi-VN"/>
            </a:p>
          </p:txBody>
        </p:sp>
      </p:grpSp>
      <p:grpSp>
        <p:nvGrpSpPr>
          <p:cNvPr id="17" name="Group 17"/>
          <p:cNvGrpSpPr/>
          <p:nvPr/>
        </p:nvGrpSpPr>
        <p:grpSpPr>
          <a:xfrm>
            <a:off x="857250" y="5412057"/>
            <a:ext cx="157162" cy="271462"/>
            <a:chOff x="0" y="0"/>
            <a:chExt cx="209550" cy="361950"/>
          </a:xfrm>
        </p:grpSpPr>
        <p:sp>
          <p:nvSpPr>
            <p:cNvPr id="18" name="Freeform 18"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4"/>
              <a:stretch>
                <a:fillRect/>
              </a:stretch>
            </a:blipFill>
          </p:spPr>
          <p:txBody>
            <a:bodyPr/>
            <a:lstStyle/>
            <a:p>
              <a:endParaRPr lang="vi-VN"/>
            </a:p>
          </p:txBody>
        </p:sp>
      </p:grpSp>
      <p:grpSp>
        <p:nvGrpSpPr>
          <p:cNvPr id="19" name="Group 19"/>
          <p:cNvGrpSpPr/>
          <p:nvPr/>
        </p:nvGrpSpPr>
        <p:grpSpPr>
          <a:xfrm>
            <a:off x="857250" y="6434957"/>
            <a:ext cx="157162" cy="271462"/>
            <a:chOff x="0" y="0"/>
            <a:chExt cx="209550" cy="361950"/>
          </a:xfrm>
        </p:grpSpPr>
        <p:sp>
          <p:nvSpPr>
            <p:cNvPr id="20" name="Freeform 20"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4"/>
              <a:stretch>
                <a:fillRect/>
              </a:stretch>
            </a:blipFill>
          </p:spPr>
          <p:txBody>
            <a:bodyPr/>
            <a:lstStyle/>
            <a:p>
              <a:endParaRPr lang="vi-VN"/>
            </a:p>
          </p:txBody>
        </p:sp>
      </p:grpSp>
      <p:grpSp>
        <p:nvGrpSpPr>
          <p:cNvPr id="21" name="Group 21"/>
          <p:cNvGrpSpPr/>
          <p:nvPr/>
        </p:nvGrpSpPr>
        <p:grpSpPr>
          <a:xfrm>
            <a:off x="9429750" y="4609281"/>
            <a:ext cx="157162" cy="271462"/>
            <a:chOff x="0" y="0"/>
            <a:chExt cx="209550" cy="361950"/>
          </a:xfrm>
        </p:grpSpPr>
        <p:sp>
          <p:nvSpPr>
            <p:cNvPr id="22" name="Freeform 22"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4"/>
              <a:stretch>
                <a:fillRect/>
              </a:stretch>
            </a:blipFill>
          </p:spPr>
          <p:txBody>
            <a:bodyPr/>
            <a:lstStyle/>
            <a:p>
              <a:endParaRPr lang="vi-VN"/>
            </a:p>
          </p:txBody>
        </p:sp>
      </p:grpSp>
      <p:grpSp>
        <p:nvGrpSpPr>
          <p:cNvPr id="23" name="Group 23"/>
          <p:cNvGrpSpPr/>
          <p:nvPr/>
        </p:nvGrpSpPr>
        <p:grpSpPr>
          <a:xfrm>
            <a:off x="9429750" y="5632180"/>
            <a:ext cx="157162" cy="271462"/>
            <a:chOff x="0" y="0"/>
            <a:chExt cx="209550" cy="361950"/>
          </a:xfrm>
        </p:grpSpPr>
        <p:sp>
          <p:nvSpPr>
            <p:cNvPr id="24" name="Freeform 24"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4"/>
              <a:stretch>
                <a:fillRect/>
              </a:stretch>
            </a:blipFill>
          </p:spPr>
          <p:txBody>
            <a:bodyPr/>
            <a:lstStyle/>
            <a:p>
              <a:endParaRPr lang="vi-VN"/>
            </a:p>
          </p:txBody>
        </p:sp>
      </p:grpSp>
      <p:grpSp>
        <p:nvGrpSpPr>
          <p:cNvPr id="25" name="Group 25"/>
          <p:cNvGrpSpPr/>
          <p:nvPr/>
        </p:nvGrpSpPr>
        <p:grpSpPr>
          <a:xfrm>
            <a:off x="9429750" y="6640782"/>
            <a:ext cx="157162" cy="271462"/>
            <a:chOff x="0" y="0"/>
            <a:chExt cx="209550" cy="361950"/>
          </a:xfrm>
        </p:grpSpPr>
        <p:sp>
          <p:nvSpPr>
            <p:cNvPr id="26" name="Freeform 26"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4"/>
              <a:stretch>
                <a:fillRect/>
              </a:stretch>
            </a:blipFill>
          </p:spPr>
          <p:txBody>
            <a:bodyPr/>
            <a:lstStyle/>
            <a:p>
              <a:endParaRPr lang="vi-VN"/>
            </a:p>
          </p:txBody>
        </p:sp>
      </p:grpSp>
      <p:grpSp>
        <p:nvGrpSpPr>
          <p:cNvPr id="27" name="Group 27"/>
          <p:cNvGrpSpPr/>
          <p:nvPr/>
        </p:nvGrpSpPr>
        <p:grpSpPr>
          <a:xfrm>
            <a:off x="9429750" y="7663682"/>
            <a:ext cx="157162" cy="271462"/>
            <a:chOff x="0" y="0"/>
            <a:chExt cx="209550" cy="361950"/>
          </a:xfrm>
        </p:grpSpPr>
        <p:sp>
          <p:nvSpPr>
            <p:cNvPr id="28" name="Freeform 28"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4"/>
              <a:stretch>
                <a:fillRect/>
              </a:stretch>
            </a:blipFill>
          </p:spPr>
          <p:txBody>
            <a:bodyPr/>
            <a:lstStyle/>
            <a:p>
              <a:endParaRPr lang="vi-VN"/>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sp>
        <p:nvSpPr>
          <p:cNvPr id="4" name="TextBox 4"/>
          <p:cNvSpPr txBox="1"/>
          <p:nvPr/>
        </p:nvSpPr>
        <p:spPr>
          <a:xfrm>
            <a:off x="857250" y="8626078"/>
            <a:ext cx="10401300" cy="494262"/>
          </a:xfrm>
          <a:prstGeom prst="rect">
            <a:avLst/>
          </a:prstGeom>
        </p:spPr>
        <p:txBody>
          <a:bodyPr lIns="0" tIns="0" rIns="0" bIns="0" rtlCol="0" anchor="t">
            <a:spAutoFit/>
          </a:bodyPr>
          <a:lstStyle/>
          <a:p>
            <a:pPr algn="l">
              <a:lnSpc>
                <a:spcPts val="3456"/>
              </a:lnSpc>
            </a:pPr>
            <a:r>
              <a:rPr lang="en-US" sz="1800" i="1">
                <a:solidFill>
                  <a:srgbClr val="475569"/>
                </a:solidFill>
                <a:latin typeface="Open Sans Italics"/>
                <a:ea typeface="Open Sans Italics"/>
                <a:cs typeface="Open Sans Italics"/>
                <a:sym typeface="Open Sans Italics"/>
              </a:rPr>
              <a:t>* Lưu ý: Đặc trưng fare_per_minute bị loại sau permutation importance test do đóng góp = 0.000.</a:t>
            </a:r>
          </a:p>
        </p:txBody>
      </p:sp>
      <p:graphicFrame>
        <p:nvGraphicFramePr>
          <p:cNvPr id="5" name="Table 5"/>
          <p:cNvGraphicFramePr>
            <a:graphicFrameLocks noGrp="1"/>
          </p:cNvGraphicFramePr>
          <p:nvPr/>
        </p:nvGraphicFramePr>
        <p:xfrm>
          <a:off x="857250" y="2128838"/>
          <a:ext cx="16554450" cy="6343650"/>
        </p:xfrm>
        <a:graphic>
          <a:graphicData uri="http://schemas.openxmlformats.org/drawingml/2006/table">
            <a:tbl>
              <a:tblPr/>
              <a:tblGrid>
                <a:gridCol w="3322248">
                  <a:extLst>
                    <a:ext uri="{9D8B030D-6E8A-4147-A177-3AD203B41FA5}">
                      <a16:colId xmlns:a16="http://schemas.microsoft.com/office/drawing/2014/main" val="20000"/>
                    </a:ext>
                  </a:extLst>
                </a:gridCol>
                <a:gridCol w="7439564">
                  <a:extLst>
                    <a:ext uri="{9D8B030D-6E8A-4147-A177-3AD203B41FA5}">
                      <a16:colId xmlns:a16="http://schemas.microsoft.com/office/drawing/2014/main" val="20001"/>
                    </a:ext>
                  </a:extLst>
                </a:gridCol>
                <a:gridCol w="5792638">
                  <a:extLst>
                    <a:ext uri="{9D8B030D-6E8A-4147-A177-3AD203B41FA5}">
                      <a16:colId xmlns:a16="http://schemas.microsoft.com/office/drawing/2014/main" val="20002"/>
                    </a:ext>
                  </a:extLst>
                </a:gridCol>
              </a:tblGrid>
              <a:tr h="704850">
                <a:tc>
                  <a:txBody>
                    <a:bodyPr/>
                    <a:lstStyle/>
                    <a:p>
                      <a:pPr algn="l">
                        <a:lnSpc>
                          <a:spcPts val="2160"/>
                        </a:lnSpc>
                        <a:defRPr/>
                      </a:pPr>
                      <a:r>
                        <a:rPr lang="en-US" sz="1800">
                          <a:solidFill>
                            <a:srgbClr val="FFFFFF"/>
                          </a:solidFill>
                          <a:latin typeface="Montserrat"/>
                          <a:ea typeface="Montserrat"/>
                          <a:cs typeface="Montserrat"/>
                          <a:sym typeface="Montserrat"/>
                        </a:rPr>
                        <a:t>Nhóm</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tc>
                  <a:txBody>
                    <a:bodyPr/>
                    <a:lstStyle/>
                    <a:p>
                      <a:pPr algn="l">
                        <a:lnSpc>
                          <a:spcPts val="2160"/>
                        </a:lnSpc>
                        <a:defRPr/>
                      </a:pPr>
                      <a:r>
                        <a:rPr lang="en-US" sz="1800">
                          <a:solidFill>
                            <a:srgbClr val="FFFFFF"/>
                          </a:solidFill>
                          <a:latin typeface="Montserrat"/>
                          <a:ea typeface="Montserrat"/>
                          <a:cs typeface="Montserrat"/>
                          <a:sym typeface="Montserrat"/>
                        </a:rPr>
                        <a:t>Đặc trưng</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tc>
                  <a:txBody>
                    <a:bodyPr/>
                    <a:lstStyle/>
                    <a:p>
                      <a:pPr algn="l">
                        <a:lnSpc>
                          <a:spcPts val="2160"/>
                        </a:lnSpc>
                        <a:defRPr/>
                      </a:pPr>
                      <a:r>
                        <a:rPr lang="en-US" sz="1800">
                          <a:solidFill>
                            <a:srgbClr val="FFFFFF"/>
                          </a:solidFill>
                          <a:latin typeface="Montserrat"/>
                          <a:ea typeface="Montserrat"/>
                          <a:cs typeface="Montserrat"/>
                          <a:sym typeface="Montserrat"/>
                        </a:rPr>
                        <a:t>Mục đích</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extLst>
                  <a:ext uri="{0D108BD9-81ED-4DB2-BD59-A6C34878D82A}">
                    <a16:rowId xmlns:a16="http://schemas.microsoft.com/office/drawing/2014/main" val="10000"/>
                  </a:ext>
                </a:extLst>
              </a:tr>
              <a:tr h="704850">
                <a:tc>
                  <a:txBody>
                    <a:bodyPr/>
                    <a:lstStyle/>
                    <a:p>
                      <a:pPr algn="l">
                        <a:lnSpc>
                          <a:spcPts val="2160"/>
                        </a:lnSpc>
                        <a:defRPr/>
                      </a:pPr>
                      <a:r>
                        <a:rPr lang="en-US" sz="1800" b="1">
                          <a:solidFill>
                            <a:srgbClr val="475569"/>
                          </a:solidFill>
                          <a:latin typeface="Open Sans Bold"/>
                          <a:ea typeface="Open Sans Bold"/>
                          <a:cs typeface="Open Sans Bold"/>
                          <a:sym typeface="Open Sans Bold"/>
                        </a:rPr>
                        <a:t>Cơ bản</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l">
                        <a:lnSpc>
                          <a:spcPts val="2160"/>
                        </a:lnSpc>
                        <a:defRPr/>
                      </a:pPr>
                      <a:r>
                        <a:rPr lang="en-US" sz="1800">
                          <a:solidFill>
                            <a:srgbClr val="475569"/>
                          </a:solidFill>
                          <a:latin typeface="Open Sans"/>
                          <a:ea typeface="Open Sans"/>
                          <a:cs typeface="Open Sans"/>
                          <a:sym typeface="Open Sans"/>
                        </a:rPr>
                        <a:t>trip_distance, fare_amount, passenger_count</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l">
                        <a:lnSpc>
                          <a:spcPts val="2160"/>
                        </a:lnSpc>
                        <a:defRPr/>
                      </a:pPr>
                      <a:r>
                        <a:rPr lang="en-US" sz="1800">
                          <a:solidFill>
                            <a:srgbClr val="475569"/>
                          </a:solidFill>
                          <a:latin typeface="Open Sans"/>
                          <a:ea typeface="Open Sans"/>
                          <a:cs typeface="Open Sans"/>
                          <a:sym typeface="Open Sans"/>
                        </a:rPr>
                        <a:t>Thông tin gốc từ HĐH</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1"/>
                  </a:ext>
                </a:extLst>
              </a:tr>
              <a:tr h="704850">
                <a:tc>
                  <a:txBody>
                    <a:bodyPr/>
                    <a:lstStyle/>
                    <a:p>
                      <a:pPr algn="l">
                        <a:lnSpc>
                          <a:spcPts val="2160"/>
                        </a:lnSpc>
                        <a:defRPr/>
                      </a:pPr>
                      <a:r>
                        <a:rPr lang="en-US" sz="1800" b="1">
                          <a:solidFill>
                            <a:srgbClr val="475569"/>
                          </a:solidFill>
                          <a:latin typeface="Open Sans Bold"/>
                          <a:ea typeface="Open Sans Bold"/>
                          <a:cs typeface="Open Sans Bold"/>
                          <a:sym typeface="Open Sans Bold"/>
                        </a:rPr>
                        <a:t>Thời gian</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l">
                        <a:lnSpc>
                          <a:spcPts val="2160"/>
                        </a:lnSpc>
                        <a:defRPr/>
                      </a:pPr>
                      <a:r>
                        <a:rPr lang="en-US" sz="1800">
                          <a:solidFill>
                            <a:srgbClr val="475569"/>
                          </a:solidFill>
                          <a:latin typeface="Open Sans"/>
                          <a:ea typeface="Open Sans"/>
                          <a:cs typeface="Open Sans"/>
                          <a:sym typeface="Open Sans"/>
                        </a:rPr>
                        <a:t>trip_duration_sec</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l">
                        <a:lnSpc>
                          <a:spcPts val="2160"/>
                        </a:lnSpc>
                        <a:defRPr/>
                      </a:pPr>
                      <a:r>
                        <a:rPr lang="en-US" sz="1800">
                          <a:solidFill>
                            <a:srgbClr val="475569"/>
                          </a:solidFill>
                          <a:latin typeface="Open Sans"/>
                          <a:ea typeface="Open Sans"/>
                          <a:cs typeface="Open Sans"/>
                          <a:sym typeface="Open Sans"/>
                        </a:rPr>
                        <a:t>Thời lượng chuyến đi</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704850">
                <a:tc>
                  <a:txBody>
                    <a:bodyPr/>
                    <a:lstStyle/>
                    <a:p>
                      <a:pPr algn="l">
                        <a:lnSpc>
                          <a:spcPts val="2160"/>
                        </a:lnSpc>
                        <a:defRPr/>
                      </a:pPr>
                      <a:r>
                        <a:rPr lang="en-US" sz="1800" b="1">
                          <a:solidFill>
                            <a:srgbClr val="475569"/>
                          </a:solidFill>
                          <a:latin typeface="Open Sans Bold"/>
                          <a:ea typeface="Open Sans Bold"/>
                          <a:cs typeface="Open Sans Bold"/>
                          <a:sym typeface="Open Sans Bold"/>
                        </a:rPr>
                        <a:t>Tốc độ</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l">
                        <a:lnSpc>
                          <a:spcPts val="2160"/>
                        </a:lnSpc>
                        <a:defRPr/>
                      </a:pPr>
                      <a:r>
                        <a:rPr lang="en-US" sz="1800">
                          <a:solidFill>
                            <a:srgbClr val="475569"/>
                          </a:solidFill>
                          <a:latin typeface="Open Sans"/>
                          <a:ea typeface="Open Sans"/>
                          <a:cs typeface="Open Sans"/>
                          <a:sym typeface="Open Sans"/>
                        </a:rPr>
                        <a:t>avg_speed_kmh</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l">
                        <a:lnSpc>
                          <a:spcPts val="2160"/>
                        </a:lnSpc>
                        <a:defRPr/>
                      </a:pPr>
                      <a:r>
                        <a:rPr lang="en-US" sz="1800">
                          <a:solidFill>
                            <a:srgbClr val="475569"/>
                          </a:solidFill>
                          <a:latin typeface="Open Sans"/>
                          <a:ea typeface="Open Sans"/>
                          <a:cs typeface="Open Sans"/>
                          <a:sym typeface="Open Sans"/>
                        </a:rPr>
                        <a:t>Phát hiện chạy quá tốc độ</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3"/>
                  </a:ext>
                </a:extLst>
              </a:tr>
              <a:tr h="704850">
                <a:tc>
                  <a:txBody>
                    <a:bodyPr/>
                    <a:lstStyle/>
                    <a:p>
                      <a:pPr algn="l">
                        <a:lnSpc>
                          <a:spcPts val="2160"/>
                        </a:lnSpc>
                        <a:defRPr/>
                      </a:pPr>
                      <a:r>
                        <a:rPr lang="en-US" sz="1800" b="1">
                          <a:solidFill>
                            <a:srgbClr val="475569"/>
                          </a:solidFill>
                          <a:latin typeface="Open Sans Bold"/>
                          <a:ea typeface="Open Sans Bold"/>
                          <a:cs typeface="Open Sans Bold"/>
                          <a:sym typeface="Open Sans Bold"/>
                        </a:rPr>
                        <a:t>Cước phí</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l">
                        <a:lnSpc>
                          <a:spcPts val="2160"/>
                        </a:lnSpc>
                        <a:defRPr/>
                      </a:pPr>
                      <a:r>
                        <a:rPr lang="en-US" sz="1800">
                          <a:solidFill>
                            <a:srgbClr val="475569"/>
                          </a:solidFill>
                          <a:latin typeface="Open Sans"/>
                          <a:ea typeface="Open Sans"/>
                          <a:cs typeface="Open Sans"/>
                          <a:sym typeface="Open Sans"/>
                        </a:rPr>
                        <a:t>fare_per_mile</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l">
                        <a:lnSpc>
                          <a:spcPts val="2160"/>
                        </a:lnSpc>
                        <a:defRPr/>
                      </a:pPr>
                      <a:r>
                        <a:rPr lang="en-US" sz="1800">
                          <a:solidFill>
                            <a:srgbClr val="475569"/>
                          </a:solidFill>
                          <a:latin typeface="Open Sans"/>
                          <a:ea typeface="Open Sans"/>
                          <a:cs typeface="Open Sans"/>
                          <a:sym typeface="Open Sans"/>
                        </a:rPr>
                        <a:t>Phát hiện thu phí quá mức</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704850">
                <a:tc>
                  <a:txBody>
                    <a:bodyPr/>
                    <a:lstStyle/>
                    <a:p>
                      <a:pPr algn="l">
                        <a:lnSpc>
                          <a:spcPts val="2160"/>
                        </a:lnSpc>
                        <a:defRPr/>
                      </a:pPr>
                      <a:r>
                        <a:rPr lang="en-US" sz="1800" b="1">
                          <a:solidFill>
                            <a:srgbClr val="475569"/>
                          </a:solidFill>
                          <a:latin typeface="Open Sans Bold"/>
                          <a:ea typeface="Open Sans Bold"/>
                          <a:cs typeface="Open Sans Bold"/>
                          <a:sym typeface="Open Sans Bold"/>
                        </a:rPr>
                        <a:t>Tuần hoàn</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l">
                        <a:lnSpc>
                          <a:spcPts val="2160"/>
                        </a:lnSpc>
                        <a:defRPr/>
                      </a:pPr>
                      <a:r>
                        <a:rPr lang="en-US" sz="1800">
                          <a:solidFill>
                            <a:srgbClr val="475569"/>
                          </a:solidFill>
                          <a:latin typeface="Open Sans"/>
                          <a:ea typeface="Open Sans"/>
                          <a:cs typeface="Open Sans"/>
                          <a:sym typeface="Open Sans"/>
                        </a:rPr>
                        <a:t>hour_sin, hour_cos</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l">
                        <a:lnSpc>
                          <a:spcPts val="2160"/>
                        </a:lnSpc>
                        <a:defRPr/>
                      </a:pPr>
                      <a:r>
                        <a:rPr lang="en-US" sz="1800">
                          <a:solidFill>
                            <a:srgbClr val="475569"/>
                          </a:solidFill>
                          <a:latin typeface="Open Sans"/>
                          <a:ea typeface="Open Sans"/>
                          <a:cs typeface="Open Sans"/>
                          <a:sym typeface="Open Sans"/>
                        </a:rPr>
                        <a:t>Mã hóa giờ liên tục</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5"/>
                  </a:ext>
                </a:extLst>
              </a:tr>
              <a:tr h="704850">
                <a:tc>
                  <a:txBody>
                    <a:bodyPr/>
                    <a:lstStyle/>
                    <a:p>
                      <a:pPr algn="l">
                        <a:lnSpc>
                          <a:spcPts val="2160"/>
                        </a:lnSpc>
                        <a:defRPr/>
                      </a:pPr>
                      <a:r>
                        <a:rPr lang="en-US" sz="1800" b="1">
                          <a:solidFill>
                            <a:srgbClr val="475569"/>
                          </a:solidFill>
                          <a:latin typeface="Open Sans Bold"/>
                          <a:ea typeface="Open Sans Bold"/>
                          <a:cs typeface="Open Sans Bold"/>
                          <a:sym typeface="Open Sans Bold"/>
                        </a:rPr>
                        <a:t>Log Transforms</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l">
                        <a:lnSpc>
                          <a:spcPts val="2160"/>
                        </a:lnSpc>
                        <a:defRPr/>
                      </a:pPr>
                      <a:r>
                        <a:rPr lang="en-US" sz="1800">
                          <a:solidFill>
                            <a:srgbClr val="475569"/>
                          </a:solidFill>
                          <a:latin typeface="Open Sans"/>
                          <a:ea typeface="Open Sans"/>
                          <a:cs typeface="Open Sans"/>
                          <a:sym typeface="Open Sans"/>
                        </a:rPr>
                        <a:t>log_distance, log_fare</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l">
                        <a:lnSpc>
                          <a:spcPts val="2160"/>
                        </a:lnSpc>
                        <a:defRPr/>
                      </a:pPr>
                      <a:r>
                        <a:rPr lang="en-US" sz="1800">
                          <a:solidFill>
                            <a:srgbClr val="475569"/>
                          </a:solidFill>
                          <a:latin typeface="Open Sans"/>
                          <a:ea typeface="Open Sans"/>
                          <a:cs typeface="Open Sans"/>
                          <a:sym typeface="Open Sans"/>
                        </a:rPr>
                        <a:t>Giảm skewness đuôi dài</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r h="704850">
                <a:tc>
                  <a:txBody>
                    <a:bodyPr/>
                    <a:lstStyle/>
                    <a:p>
                      <a:pPr algn="l">
                        <a:lnSpc>
                          <a:spcPts val="2160"/>
                        </a:lnSpc>
                        <a:defRPr/>
                      </a:pPr>
                      <a:r>
                        <a:rPr lang="en-US" sz="1800" b="1">
                          <a:solidFill>
                            <a:srgbClr val="475569"/>
                          </a:solidFill>
                          <a:latin typeface="Open Sans Bold"/>
                          <a:ea typeface="Open Sans Bold"/>
                          <a:cs typeface="Open Sans Bold"/>
                          <a:sym typeface="Open Sans Bold"/>
                        </a:rPr>
                        <a:t>Tương tác</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l">
                        <a:lnSpc>
                          <a:spcPts val="2160"/>
                        </a:lnSpc>
                        <a:defRPr/>
                      </a:pPr>
                      <a:r>
                        <a:rPr lang="en-US" sz="1800">
                          <a:solidFill>
                            <a:srgbClr val="475569"/>
                          </a:solidFill>
                          <a:latin typeface="Open Sans"/>
                          <a:ea typeface="Open Sans"/>
                          <a:cs typeface="Open Sans"/>
                          <a:sym typeface="Open Sans"/>
                        </a:rPr>
                        <a:t>speed_x_duration, fare_distance_ratio</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l">
                        <a:lnSpc>
                          <a:spcPts val="2160"/>
                        </a:lnSpc>
                        <a:defRPr/>
                      </a:pPr>
                      <a:r>
                        <a:rPr lang="en-US" sz="1800">
                          <a:solidFill>
                            <a:srgbClr val="475569"/>
                          </a:solidFill>
                          <a:latin typeface="Open Sans"/>
                          <a:ea typeface="Open Sans"/>
                          <a:cs typeface="Open Sans"/>
                          <a:sym typeface="Open Sans"/>
                        </a:rPr>
                        <a:t>Proxy phát hiện fraud pattern</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7"/>
                  </a:ext>
                </a:extLst>
              </a:tr>
              <a:tr h="704850">
                <a:tc>
                  <a:txBody>
                    <a:bodyPr/>
                    <a:lstStyle/>
                    <a:p>
                      <a:pPr algn="l">
                        <a:lnSpc>
                          <a:spcPts val="2160"/>
                        </a:lnSpc>
                        <a:defRPr/>
                      </a:pPr>
                      <a:r>
                        <a:rPr lang="en-US" sz="1800" b="1">
                          <a:solidFill>
                            <a:srgbClr val="475569"/>
                          </a:solidFill>
                          <a:latin typeface="Open Sans Bold"/>
                          <a:ea typeface="Open Sans Bold"/>
                          <a:cs typeface="Open Sans Bold"/>
                          <a:sym typeface="Open Sans Bold"/>
                        </a:rPr>
                        <a:t>Ngữ cảnh</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l">
                        <a:lnSpc>
                          <a:spcPts val="2160"/>
                        </a:lnSpc>
                        <a:defRPr/>
                      </a:pPr>
                      <a:r>
                        <a:rPr lang="en-US" sz="1800">
                          <a:solidFill>
                            <a:srgbClr val="475569"/>
                          </a:solidFill>
                          <a:latin typeface="Open Sans"/>
                          <a:ea typeface="Open Sans"/>
                          <a:cs typeface="Open Sans"/>
                          <a:sym typeface="Open Sans"/>
                        </a:rPr>
                        <a:t>is_rush_hour, is_night</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l">
                        <a:lnSpc>
                          <a:spcPts val="2160"/>
                        </a:lnSpc>
                        <a:defRPr/>
                      </a:pPr>
                      <a:r>
                        <a:rPr lang="en-US" sz="1800">
                          <a:solidFill>
                            <a:srgbClr val="475569"/>
                          </a:solidFill>
                          <a:latin typeface="Open Sans"/>
                          <a:ea typeface="Open Sans"/>
                          <a:cs typeface="Open Sans"/>
                          <a:sym typeface="Open Sans"/>
                        </a:rPr>
                        <a:t>Phân biệt thời điểm chuyến đi</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8"/>
                  </a:ext>
                </a:extLst>
              </a:tr>
            </a:tbl>
          </a:graphicData>
        </a:graphic>
      </p:graphicFrame>
      <p:grpSp>
        <p:nvGrpSpPr>
          <p:cNvPr id="6" name="Group 6"/>
          <p:cNvGrpSpPr/>
          <p:nvPr/>
        </p:nvGrpSpPr>
        <p:grpSpPr>
          <a:xfrm>
            <a:off x="857250" y="3466062"/>
            <a:ext cx="3314700" cy="14288"/>
            <a:chOff x="0" y="0"/>
            <a:chExt cx="4419600" cy="19050"/>
          </a:xfrm>
        </p:grpSpPr>
        <p:sp>
          <p:nvSpPr>
            <p:cNvPr id="7" name="Freeform 7"/>
            <p:cNvSpPr/>
            <p:nvPr/>
          </p:nvSpPr>
          <p:spPr>
            <a:xfrm>
              <a:off x="0" y="0"/>
              <a:ext cx="4419600" cy="19050"/>
            </a:xfrm>
            <a:custGeom>
              <a:avLst/>
              <a:gdLst/>
              <a:ahLst/>
              <a:cxnLst/>
              <a:rect l="l" t="t" r="r" b="b"/>
              <a:pathLst>
                <a:path w="4419600" h="19050">
                  <a:moveTo>
                    <a:pt x="0" y="0"/>
                  </a:moveTo>
                  <a:lnTo>
                    <a:pt x="4419600" y="0"/>
                  </a:lnTo>
                  <a:lnTo>
                    <a:pt x="4419600" y="19050"/>
                  </a:lnTo>
                  <a:lnTo>
                    <a:pt x="0" y="19050"/>
                  </a:lnTo>
                  <a:close/>
                </a:path>
              </a:pathLst>
            </a:custGeom>
            <a:solidFill>
              <a:srgbClr val="E2E8F0"/>
            </a:solidFill>
          </p:spPr>
          <p:txBody>
            <a:bodyPr/>
            <a:lstStyle/>
            <a:p>
              <a:endParaRPr lang="vi-VN"/>
            </a:p>
          </p:txBody>
        </p:sp>
      </p:grpSp>
      <p:grpSp>
        <p:nvGrpSpPr>
          <p:cNvPr id="8" name="Group 8"/>
          <p:cNvGrpSpPr/>
          <p:nvPr/>
        </p:nvGrpSpPr>
        <p:grpSpPr>
          <a:xfrm>
            <a:off x="4171950" y="3466062"/>
            <a:ext cx="7458075" cy="14288"/>
            <a:chOff x="0" y="0"/>
            <a:chExt cx="9944100" cy="19050"/>
          </a:xfrm>
        </p:grpSpPr>
        <p:sp>
          <p:nvSpPr>
            <p:cNvPr id="9" name="Freeform 9"/>
            <p:cNvSpPr/>
            <p:nvPr/>
          </p:nvSpPr>
          <p:spPr>
            <a:xfrm>
              <a:off x="0" y="0"/>
              <a:ext cx="9944100" cy="19050"/>
            </a:xfrm>
            <a:custGeom>
              <a:avLst/>
              <a:gdLst/>
              <a:ahLst/>
              <a:cxnLst/>
              <a:rect l="l" t="t" r="r" b="b"/>
              <a:pathLst>
                <a:path w="9944100" h="19050">
                  <a:moveTo>
                    <a:pt x="0" y="0"/>
                  </a:moveTo>
                  <a:lnTo>
                    <a:pt x="9944100" y="0"/>
                  </a:lnTo>
                  <a:lnTo>
                    <a:pt x="9944100" y="19050"/>
                  </a:lnTo>
                  <a:lnTo>
                    <a:pt x="0" y="19050"/>
                  </a:lnTo>
                  <a:close/>
                </a:path>
              </a:pathLst>
            </a:custGeom>
            <a:solidFill>
              <a:srgbClr val="E2E8F0"/>
            </a:solidFill>
          </p:spPr>
          <p:txBody>
            <a:bodyPr/>
            <a:lstStyle/>
            <a:p>
              <a:endParaRPr lang="vi-VN"/>
            </a:p>
          </p:txBody>
        </p:sp>
      </p:grpSp>
      <p:grpSp>
        <p:nvGrpSpPr>
          <p:cNvPr id="10" name="Group 10"/>
          <p:cNvGrpSpPr/>
          <p:nvPr/>
        </p:nvGrpSpPr>
        <p:grpSpPr>
          <a:xfrm>
            <a:off x="11630025" y="3466062"/>
            <a:ext cx="5800725" cy="14288"/>
            <a:chOff x="0" y="0"/>
            <a:chExt cx="7734300" cy="19050"/>
          </a:xfrm>
        </p:grpSpPr>
        <p:sp>
          <p:nvSpPr>
            <p:cNvPr id="11" name="Freeform 11"/>
            <p:cNvSpPr/>
            <p:nvPr/>
          </p:nvSpPr>
          <p:spPr>
            <a:xfrm>
              <a:off x="0" y="0"/>
              <a:ext cx="7734300" cy="19050"/>
            </a:xfrm>
            <a:custGeom>
              <a:avLst/>
              <a:gdLst/>
              <a:ahLst/>
              <a:cxnLst/>
              <a:rect l="l" t="t" r="r" b="b"/>
              <a:pathLst>
                <a:path w="7734300" h="19050">
                  <a:moveTo>
                    <a:pt x="0" y="0"/>
                  </a:moveTo>
                  <a:lnTo>
                    <a:pt x="7734300" y="0"/>
                  </a:lnTo>
                  <a:lnTo>
                    <a:pt x="7734300" y="19050"/>
                  </a:lnTo>
                  <a:lnTo>
                    <a:pt x="0" y="19050"/>
                  </a:lnTo>
                  <a:close/>
                </a:path>
              </a:pathLst>
            </a:custGeom>
            <a:solidFill>
              <a:srgbClr val="E2E8F0"/>
            </a:solidFill>
          </p:spPr>
          <p:txBody>
            <a:bodyPr/>
            <a:lstStyle/>
            <a:p>
              <a:endParaRPr lang="vi-VN"/>
            </a:p>
          </p:txBody>
        </p:sp>
      </p:grpSp>
      <p:grpSp>
        <p:nvGrpSpPr>
          <p:cNvPr id="12" name="Group 12"/>
          <p:cNvGrpSpPr/>
          <p:nvPr/>
        </p:nvGrpSpPr>
        <p:grpSpPr>
          <a:xfrm>
            <a:off x="857250" y="4188914"/>
            <a:ext cx="3314700" cy="14288"/>
            <a:chOff x="0" y="0"/>
            <a:chExt cx="4419600" cy="19050"/>
          </a:xfrm>
        </p:grpSpPr>
        <p:sp>
          <p:nvSpPr>
            <p:cNvPr id="13" name="Freeform 13"/>
            <p:cNvSpPr/>
            <p:nvPr/>
          </p:nvSpPr>
          <p:spPr>
            <a:xfrm>
              <a:off x="0" y="0"/>
              <a:ext cx="4419600" cy="19050"/>
            </a:xfrm>
            <a:custGeom>
              <a:avLst/>
              <a:gdLst/>
              <a:ahLst/>
              <a:cxnLst/>
              <a:rect l="l" t="t" r="r" b="b"/>
              <a:pathLst>
                <a:path w="4419600" h="19050">
                  <a:moveTo>
                    <a:pt x="0" y="0"/>
                  </a:moveTo>
                  <a:lnTo>
                    <a:pt x="4419600" y="0"/>
                  </a:lnTo>
                  <a:lnTo>
                    <a:pt x="4419600" y="19050"/>
                  </a:lnTo>
                  <a:lnTo>
                    <a:pt x="0" y="19050"/>
                  </a:lnTo>
                  <a:close/>
                </a:path>
              </a:pathLst>
            </a:custGeom>
            <a:solidFill>
              <a:srgbClr val="E2E8F0"/>
            </a:solidFill>
          </p:spPr>
          <p:txBody>
            <a:bodyPr/>
            <a:lstStyle/>
            <a:p>
              <a:endParaRPr lang="vi-VN"/>
            </a:p>
          </p:txBody>
        </p:sp>
      </p:grpSp>
      <p:grpSp>
        <p:nvGrpSpPr>
          <p:cNvPr id="14" name="Group 14"/>
          <p:cNvGrpSpPr/>
          <p:nvPr/>
        </p:nvGrpSpPr>
        <p:grpSpPr>
          <a:xfrm>
            <a:off x="4171950" y="4188914"/>
            <a:ext cx="7458075" cy="14288"/>
            <a:chOff x="0" y="0"/>
            <a:chExt cx="9944100" cy="19050"/>
          </a:xfrm>
        </p:grpSpPr>
        <p:sp>
          <p:nvSpPr>
            <p:cNvPr id="15" name="Freeform 15"/>
            <p:cNvSpPr/>
            <p:nvPr/>
          </p:nvSpPr>
          <p:spPr>
            <a:xfrm>
              <a:off x="0" y="0"/>
              <a:ext cx="9944100" cy="19050"/>
            </a:xfrm>
            <a:custGeom>
              <a:avLst/>
              <a:gdLst/>
              <a:ahLst/>
              <a:cxnLst/>
              <a:rect l="l" t="t" r="r" b="b"/>
              <a:pathLst>
                <a:path w="9944100" h="19050">
                  <a:moveTo>
                    <a:pt x="0" y="0"/>
                  </a:moveTo>
                  <a:lnTo>
                    <a:pt x="9944100" y="0"/>
                  </a:lnTo>
                  <a:lnTo>
                    <a:pt x="9944100" y="19050"/>
                  </a:lnTo>
                  <a:lnTo>
                    <a:pt x="0" y="19050"/>
                  </a:lnTo>
                  <a:close/>
                </a:path>
              </a:pathLst>
            </a:custGeom>
            <a:solidFill>
              <a:srgbClr val="E2E8F0"/>
            </a:solidFill>
          </p:spPr>
          <p:txBody>
            <a:bodyPr/>
            <a:lstStyle/>
            <a:p>
              <a:endParaRPr lang="vi-VN"/>
            </a:p>
          </p:txBody>
        </p:sp>
      </p:grpSp>
      <p:grpSp>
        <p:nvGrpSpPr>
          <p:cNvPr id="16" name="Group 16"/>
          <p:cNvGrpSpPr/>
          <p:nvPr/>
        </p:nvGrpSpPr>
        <p:grpSpPr>
          <a:xfrm>
            <a:off x="11630025" y="4188914"/>
            <a:ext cx="5800725" cy="14288"/>
            <a:chOff x="0" y="0"/>
            <a:chExt cx="7734300" cy="19050"/>
          </a:xfrm>
        </p:grpSpPr>
        <p:sp>
          <p:nvSpPr>
            <p:cNvPr id="17" name="Freeform 17"/>
            <p:cNvSpPr/>
            <p:nvPr/>
          </p:nvSpPr>
          <p:spPr>
            <a:xfrm>
              <a:off x="0" y="0"/>
              <a:ext cx="7734300" cy="19050"/>
            </a:xfrm>
            <a:custGeom>
              <a:avLst/>
              <a:gdLst/>
              <a:ahLst/>
              <a:cxnLst/>
              <a:rect l="l" t="t" r="r" b="b"/>
              <a:pathLst>
                <a:path w="7734300" h="19050">
                  <a:moveTo>
                    <a:pt x="0" y="0"/>
                  </a:moveTo>
                  <a:lnTo>
                    <a:pt x="7734300" y="0"/>
                  </a:lnTo>
                  <a:lnTo>
                    <a:pt x="7734300" y="19050"/>
                  </a:lnTo>
                  <a:lnTo>
                    <a:pt x="0" y="19050"/>
                  </a:lnTo>
                  <a:close/>
                </a:path>
              </a:pathLst>
            </a:custGeom>
            <a:solidFill>
              <a:srgbClr val="E2E8F0"/>
            </a:solidFill>
          </p:spPr>
          <p:txBody>
            <a:bodyPr/>
            <a:lstStyle/>
            <a:p>
              <a:endParaRPr lang="vi-VN"/>
            </a:p>
          </p:txBody>
        </p:sp>
      </p:grpSp>
      <p:grpSp>
        <p:nvGrpSpPr>
          <p:cNvPr id="18" name="Group 18"/>
          <p:cNvGrpSpPr/>
          <p:nvPr/>
        </p:nvGrpSpPr>
        <p:grpSpPr>
          <a:xfrm>
            <a:off x="857250" y="4911776"/>
            <a:ext cx="3314700" cy="14288"/>
            <a:chOff x="0" y="0"/>
            <a:chExt cx="4419600" cy="19050"/>
          </a:xfrm>
        </p:grpSpPr>
        <p:sp>
          <p:nvSpPr>
            <p:cNvPr id="19" name="Freeform 19"/>
            <p:cNvSpPr/>
            <p:nvPr/>
          </p:nvSpPr>
          <p:spPr>
            <a:xfrm>
              <a:off x="0" y="0"/>
              <a:ext cx="4419600" cy="19050"/>
            </a:xfrm>
            <a:custGeom>
              <a:avLst/>
              <a:gdLst/>
              <a:ahLst/>
              <a:cxnLst/>
              <a:rect l="l" t="t" r="r" b="b"/>
              <a:pathLst>
                <a:path w="4419600" h="19050">
                  <a:moveTo>
                    <a:pt x="0" y="0"/>
                  </a:moveTo>
                  <a:lnTo>
                    <a:pt x="4419600" y="0"/>
                  </a:lnTo>
                  <a:lnTo>
                    <a:pt x="4419600" y="19050"/>
                  </a:lnTo>
                  <a:lnTo>
                    <a:pt x="0" y="19050"/>
                  </a:lnTo>
                  <a:close/>
                </a:path>
              </a:pathLst>
            </a:custGeom>
            <a:solidFill>
              <a:srgbClr val="E2E8F0"/>
            </a:solidFill>
          </p:spPr>
          <p:txBody>
            <a:bodyPr/>
            <a:lstStyle/>
            <a:p>
              <a:endParaRPr lang="vi-VN"/>
            </a:p>
          </p:txBody>
        </p:sp>
      </p:grpSp>
      <p:grpSp>
        <p:nvGrpSpPr>
          <p:cNvPr id="20" name="Group 20"/>
          <p:cNvGrpSpPr/>
          <p:nvPr/>
        </p:nvGrpSpPr>
        <p:grpSpPr>
          <a:xfrm>
            <a:off x="4171950" y="4911776"/>
            <a:ext cx="7458075" cy="14288"/>
            <a:chOff x="0" y="0"/>
            <a:chExt cx="9944100" cy="19050"/>
          </a:xfrm>
        </p:grpSpPr>
        <p:sp>
          <p:nvSpPr>
            <p:cNvPr id="21" name="Freeform 21"/>
            <p:cNvSpPr/>
            <p:nvPr/>
          </p:nvSpPr>
          <p:spPr>
            <a:xfrm>
              <a:off x="0" y="0"/>
              <a:ext cx="9944100" cy="19050"/>
            </a:xfrm>
            <a:custGeom>
              <a:avLst/>
              <a:gdLst/>
              <a:ahLst/>
              <a:cxnLst/>
              <a:rect l="l" t="t" r="r" b="b"/>
              <a:pathLst>
                <a:path w="9944100" h="19050">
                  <a:moveTo>
                    <a:pt x="0" y="0"/>
                  </a:moveTo>
                  <a:lnTo>
                    <a:pt x="9944100" y="0"/>
                  </a:lnTo>
                  <a:lnTo>
                    <a:pt x="9944100" y="19050"/>
                  </a:lnTo>
                  <a:lnTo>
                    <a:pt x="0" y="19050"/>
                  </a:lnTo>
                  <a:close/>
                </a:path>
              </a:pathLst>
            </a:custGeom>
            <a:solidFill>
              <a:srgbClr val="E2E8F0"/>
            </a:solidFill>
          </p:spPr>
          <p:txBody>
            <a:bodyPr/>
            <a:lstStyle/>
            <a:p>
              <a:endParaRPr lang="vi-VN"/>
            </a:p>
          </p:txBody>
        </p:sp>
      </p:grpSp>
      <p:grpSp>
        <p:nvGrpSpPr>
          <p:cNvPr id="22" name="Group 22"/>
          <p:cNvGrpSpPr/>
          <p:nvPr/>
        </p:nvGrpSpPr>
        <p:grpSpPr>
          <a:xfrm>
            <a:off x="11630025" y="4911776"/>
            <a:ext cx="5800725" cy="14288"/>
            <a:chOff x="0" y="0"/>
            <a:chExt cx="7734300" cy="19050"/>
          </a:xfrm>
        </p:grpSpPr>
        <p:sp>
          <p:nvSpPr>
            <p:cNvPr id="23" name="Freeform 23"/>
            <p:cNvSpPr/>
            <p:nvPr/>
          </p:nvSpPr>
          <p:spPr>
            <a:xfrm>
              <a:off x="0" y="0"/>
              <a:ext cx="7734300" cy="19050"/>
            </a:xfrm>
            <a:custGeom>
              <a:avLst/>
              <a:gdLst/>
              <a:ahLst/>
              <a:cxnLst/>
              <a:rect l="l" t="t" r="r" b="b"/>
              <a:pathLst>
                <a:path w="7734300" h="19050">
                  <a:moveTo>
                    <a:pt x="0" y="0"/>
                  </a:moveTo>
                  <a:lnTo>
                    <a:pt x="7734300" y="0"/>
                  </a:lnTo>
                  <a:lnTo>
                    <a:pt x="7734300" y="19050"/>
                  </a:lnTo>
                  <a:lnTo>
                    <a:pt x="0" y="19050"/>
                  </a:lnTo>
                  <a:close/>
                </a:path>
              </a:pathLst>
            </a:custGeom>
            <a:solidFill>
              <a:srgbClr val="E2E8F0"/>
            </a:solidFill>
          </p:spPr>
          <p:txBody>
            <a:bodyPr/>
            <a:lstStyle/>
            <a:p>
              <a:endParaRPr lang="vi-VN"/>
            </a:p>
          </p:txBody>
        </p:sp>
      </p:grpSp>
      <p:grpSp>
        <p:nvGrpSpPr>
          <p:cNvPr id="24" name="Group 24"/>
          <p:cNvGrpSpPr/>
          <p:nvPr/>
        </p:nvGrpSpPr>
        <p:grpSpPr>
          <a:xfrm>
            <a:off x="857250" y="5634628"/>
            <a:ext cx="3314700" cy="14288"/>
            <a:chOff x="0" y="0"/>
            <a:chExt cx="4419600" cy="19050"/>
          </a:xfrm>
        </p:grpSpPr>
        <p:sp>
          <p:nvSpPr>
            <p:cNvPr id="25" name="Freeform 25"/>
            <p:cNvSpPr/>
            <p:nvPr/>
          </p:nvSpPr>
          <p:spPr>
            <a:xfrm>
              <a:off x="0" y="0"/>
              <a:ext cx="4419600" cy="19050"/>
            </a:xfrm>
            <a:custGeom>
              <a:avLst/>
              <a:gdLst/>
              <a:ahLst/>
              <a:cxnLst/>
              <a:rect l="l" t="t" r="r" b="b"/>
              <a:pathLst>
                <a:path w="4419600" h="19050">
                  <a:moveTo>
                    <a:pt x="0" y="0"/>
                  </a:moveTo>
                  <a:lnTo>
                    <a:pt x="4419600" y="0"/>
                  </a:lnTo>
                  <a:lnTo>
                    <a:pt x="4419600" y="19050"/>
                  </a:lnTo>
                  <a:lnTo>
                    <a:pt x="0" y="19050"/>
                  </a:lnTo>
                  <a:close/>
                </a:path>
              </a:pathLst>
            </a:custGeom>
            <a:solidFill>
              <a:srgbClr val="E2E8F0"/>
            </a:solidFill>
          </p:spPr>
          <p:txBody>
            <a:bodyPr/>
            <a:lstStyle/>
            <a:p>
              <a:endParaRPr lang="vi-VN"/>
            </a:p>
          </p:txBody>
        </p:sp>
      </p:grpSp>
      <p:grpSp>
        <p:nvGrpSpPr>
          <p:cNvPr id="26" name="Group 26"/>
          <p:cNvGrpSpPr/>
          <p:nvPr/>
        </p:nvGrpSpPr>
        <p:grpSpPr>
          <a:xfrm>
            <a:off x="4171950" y="5634628"/>
            <a:ext cx="7458075" cy="14288"/>
            <a:chOff x="0" y="0"/>
            <a:chExt cx="9944100" cy="19050"/>
          </a:xfrm>
        </p:grpSpPr>
        <p:sp>
          <p:nvSpPr>
            <p:cNvPr id="27" name="Freeform 27"/>
            <p:cNvSpPr/>
            <p:nvPr/>
          </p:nvSpPr>
          <p:spPr>
            <a:xfrm>
              <a:off x="0" y="0"/>
              <a:ext cx="9944100" cy="19050"/>
            </a:xfrm>
            <a:custGeom>
              <a:avLst/>
              <a:gdLst/>
              <a:ahLst/>
              <a:cxnLst/>
              <a:rect l="l" t="t" r="r" b="b"/>
              <a:pathLst>
                <a:path w="9944100" h="19050">
                  <a:moveTo>
                    <a:pt x="0" y="0"/>
                  </a:moveTo>
                  <a:lnTo>
                    <a:pt x="9944100" y="0"/>
                  </a:lnTo>
                  <a:lnTo>
                    <a:pt x="9944100" y="19050"/>
                  </a:lnTo>
                  <a:lnTo>
                    <a:pt x="0" y="19050"/>
                  </a:lnTo>
                  <a:close/>
                </a:path>
              </a:pathLst>
            </a:custGeom>
            <a:solidFill>
              <a:srgbClr val="E2E8F0"/>
            </a:solidFill>
          </p:spPr>
          <p:txBody>
            <a:bodyPr/>
            <a:lstStyle/>
            <a:p>
              <a:endParaRPr lang="vi-VN"/>
            </a:p>
          </p:txBody>
        </p:sp>
      </p:grpSp>
      <p:grpSp>
        <p:nvGrpSpPr>
          <p:cNvPr id="28" name="Group 28"/>
          <p:cNvGrpSpPr/>
          <p:nvPr/>
        </p:nvGrpSpPr>
        <p:grpSpPr>
          <a:xfrm>
            <a:off x="11630025" y="5634628"/>
            <a:ext cx="5800725" cy="14288"/>
            <a:chOff x="0" y="0"/>
            <a:chExt cx="7734300" cy="19050"/>
          </a:xfrm>
        </p:grpSpPr>
        <p:sp>
          <p:nvSpPr>
            <p:cNvPr id="29" name="Freeform 29"/>
            <p:cNvSpPr/>
            <p:nvPr/>
          </p:nvSpPr>
          <p:spPr>
            <a:xfrm>
              <a:off x="0" y="0"/>
              <a:ext cx="7734300" cy="19050"/>
            </a:xfrm>
            <a:custGeom>
              <a:avLst/>
              <a:gdLst/>
              <a:ahLst/>
              <a:cxnLst/>
              <a:rect l="l" t="t" r="r" b="b"/>
              <a:pathLst>
                <a:path w="7734300" h="19050">
                  <a:moveTo>
                    <a:pt x="0" y="0"/>
                  </a:moveTo>
                  <a:lnTo>
                    <a:pt x="7734300" y="0"/>
                  </a:lnTo>
                  <a:lnTo>
                    <a:pt x="7734300" y="19050"/>
                  </a:lnTo>
                  <a:lnTo>
                    <a:pt x="0" y="19050"/>
                  </a:lnTo>
                  <a:close/>
                </a:path>
              </a:pathLst>
            </a:custGeom>
            <a:solidFill>
              <a:srgbClr val="E2E8F0"/>
            </a:solidFill>
          </p:spPr>
          <p:txBody>
            <a:bodyPr/>
            <a:lstStyle/>
            <a:p>
              <a:endParaRPr lang="vi-VN"/>
            </a:p>
          </p:txBody>
        </p:sp>
      </p:grpSp>
      <p:grpSp>
        <p:nvGrpSpPr>
          <p:cNvPr id="30" name="Group 30"/>
          <p:cNvGrpSpPr/>
          <p:nvPr/>
        </p:nvGrpSpPr>
        <p:grpSpPr>
          <a:xfrm>
            <a:off x="857250" y="6357490"/>
            <a:ext cx="3314700" cy="14288"/>
            <a:chOff x="0" y="0"/>
            <a:chExt cx="4419600" cy="19050"/>
          </a:xfrm>
        </p:grpSpPr>
        <p:sp>
          <p:nvSpPr>
            <p:cNvPr id="31" name="Freeform 31"/>
            <p:cNvSpPr/>
            <p:nvPr/>
          </p:nvSpPr>
          <p:spPr>
            <a:xfrm>
              <a:off x="0" y="0"/>
              <a:ext cx="4419600" cy="19050"/>
            </a:xfrm>
            <a:custGeom>
              <a:avLst/>
              <a:gdLst/>
              <a:ahLst/>
              <a:cxnLst/>
              <a:rect l="l" t="t" r="r" b="b"/>
              <a:pathLst>
                <a:path w="4419600" h="19050">
                  <a:moveTo>
                    <a:pt x="0" y="0"/>
                  </a:moveTo>
                  <a:lnTo>
                    <a:pt x="4419600" y="0"/>
                  </a:lnTo>
                  <a:lnTo>
                    <a:pt x="4419600" y="19050"/>
                  </a:lnTo>
                  <a:lnTo>
                    <a:pt x="0" y="19050"/>
                  </a:lnTo>
                  <a:close/>
                </a:path>
              </a:pathLst>
            </a:custGeom>
            <a:solidFill>
              <a:srgbClr val="E2E8F0"/>
            </a:solidFill>
          </p:spPr>
          <p:txBody>
            <a:bodyPr/>
            <a:lstStyle/>
            <a:p>
              <a:endParaRPr lang="vi-VN"/>
            </a:p>
          </p:txBody>
        </p:sp>
      </p:grpSp>
      <p:grpSp>
        <p:nvGrpSpPr>
          <p:cNvPr id="32" name="Group 32"/>
          <p:cNvGrpSpPr/>
          <p:nvPr/>
        </p:nvGrpSpPr>
        <p:grpSpPr>
          <a:xfrm>
            <a:off x="4171950" y="6357490"/>
            <a:ext cx="7458075" cy="14288"/>
            <a:chOff x="0" y="0"/>
            <a:chExt cx="9944100" cy="19050"/>
          </a:xfrm>
        </p:grpSpPr>
        <p:sp>
          <p:nvSpPr>
            <p:cNvPr id="33" name="Freeform 33"/>
            <p:cNvSpPr/>
            <p:nvPr/>
          </p:nvSpPr>
          <p:spPr>
            <a:xfrm>
              <a:off x="0" y="0"/>
              <a:ext cx="9944100" cy="19050"/>
            </a:xfrm>
            <a:custGeom>
              <a:avLst/>
              <a:gdLst/>
              <a:ahLst/>
              <a:cxnLst/>
              <a:rect l="l" t="t" r="r" b="b"/>
              <a:pathLst>
                <a:path w="9944100" h="19050">
                  <a:moveTo>
                    <a:pt x="0" y="0"/>
                  </a:moveTo>
                  <a:lnTo>
                    <a:pt x="9944100" y="0"/>
                  </a:lnTo>
                  <a:lnTo>
                    <a:pt x="9944100" y="19050"/>
                  </a:lnTo>
                  <a:lnTo>
                    <a:pt x="0" y="19050"/>
                  </a:lnTo>
                  <a:close/>
                </a:path>
              </a:pathLst>
            </a:custGeom>
            <a:solidFill>
              <a:srgbClr val="E2E8F0"/>
            </a:solidFill>
          </p:spPr>
          <p:txBody>
            <a:bodyPr/>
            <a:lstStyle/>
            <a:p>
              <a:endParaRPr lang="vi-VN"/>
            </a:p>
          </p:txBody>
        </p:sp>
      </p:grpSp>
      <p:grpSp>
        <p:nvGrpSpPr>
          <p:cNvPr id="34" name="Group 34"/>
          <p:cNvGrpSpPr/>
          <p:nvPr/>
        </p:nvGrpSpPr>
        <p:grpSpPr>
          <a:xfrm>
            <a:off x="11630025" y="6357490"/>
            <a:ext cx="5800725" cy="14288"/>
            <a:chOff x="0" y="0"/>
            <a:chExt cx="7734300" cy="19050"/>
          </a:xfrm>
        </p:grpSpPr>
        <p:sp>
          <p:nvSpPr>
            <p:cNvPr id="35" name="Freeform 35"/>
            <p:cNvSpPr/>
            <p:nvPr/>
          </p:nvSpPr>
          <p:spPr>
            <a:xfrm>
              <a:off x="0" y="0"/>
              <a:ext cx="7734300" cy="19050"/>
            </a:xfrm>
            <a:custGeom>
              <a:avLst/>
              <a:gdLst/>
              <a:ahLst/>
              <a:cxnLst/>
              <a:rect l="l" t="t" r="r" b="b"/>
              <a:pathLst>
                <a:path w="7734300" h="19050">
                  <a:moveTo>
                    <a:pt x="0" y="0"/>
                  </a:moveTo>
                  <a:lnTo>
                    <a:pt x="7734300" y="0"/>
                  </a:lnTo>
                  <a:lnTo>
                    <a:pt x="7734300" y="19050"/>
                  </a:lnTo>
                  <a:lnTo>
                    <a:pt x="0" y="19050"/>
                  </a:lnTo>
                  <a:close/>
                </a:path>
              </a:pathLst>
            </a:custGeom>
            <a:solidFill>
              <a:srgbClr val="E2E8F0"/>
            </a:solidFill>
          </p:spPr>
          <p:txBody>
            <a:bodyPr/>
            <a:lstStyle/>
            <a:p>
              <a:endParaRPr lang="vi-VN"/>
            </a:p>
          </p:txBody>
        </p:sp>
      </p:grpSp>
      <p:grpSp>
        <p:nvGrpSpPr>
          <p:cNvPr id="36" name="Group 36"/>
          <p:cNvGrpSpPr/>
          <p:nvPr/>
        </p:nvGrpSpPr>
        <p:grpSpPr>
          <a:xfrm>
            <a:off x="857250" y="7080352"/>
            <a:ext cx="3314700" cy="14288"/>
            <a:chOff x="0" y="0"/>
            <a:chExt cx="4419600" cy="19050"/>
          </a:xfrm>
        </p:grpSpPr>
        <p:sp>
          <p:nvSpPr>
            <p:cNvPr id="37" name="Freeform 37"/>
            <p:cNvSpPr/>
            <p:nvPr/>
          </p:nvSpPr>
          <p:spPr>
            <a:xfrm>
              <a:off x="0" y="0"/>
              <a:ext cx="4419600" cy="19050"/>
            </a:xfrm>
            <a:custGeom>
              <a:avLst/>
              <a:gdLst/>
              <a:ahLst/>
              <a:cxnLst/>
              <a:rect l="l" t="t" r="r" b="b"/>
              <a:pathLst>
                <a:path w="4419600" h="19050">
                  <a:moveTo>
                    <a:pt x="0" y="0"/>
                  </a:moveTo>
                  <a:lnTo>
                    <a:pt x="4419600" y="0"/>
                  </a:lnTo>
                  <a:lnTo>
                    <a:pt x="4419600" y="19050"/>
                  </a:lnTo>
                  <a:lnTo>
                    <a:pt x="0" y="19050"/>
                  </a:lnTo>
                  <a:close/>
                </a:path>
              </a:pathLst>
            </a:custGeom>
            <a:solidFill>
              <a:srgbClr val="E2E8F0"/>
            </a:solidFill>
          </p:spPr>
          <p:txBody>
            <a:bodyPr/>
            <a:lstStyle/>
            <a:p>
              <a:endParaRPr lang="vi-VN"/>
            </a:p>
          </p:txBody>
        </p:sp>
      </p:grpSp>
      <p:grpSp>
        <p:nvGrpSpPr>
          <p:cNvPr id="38" name="Group 38"/>
          <p:cNvGrpSpPr/>
          <p:nvPr/>
        </p:nvGrpSpPr>
        <p:grpSpPr>
          <a:xfrm>
            <a:off x="4171950" y="7080352"/>
            <a:ext cx="7458075" cy="14288"/>
            <a:chOff x="0" y="0"/>
            <a:chExt cx="9944100" cy="19050"/>
          </a:xfrm>
        </p:grpSpPr>
        <p:sp>
          <p:nvSpPr>
            <p:cNvPr id="39" name="Freeform 39"/>
            <p:cNvSpPr/>
            <p:nvPr/>
          </p:nvSpPr>
          <p:spPr>
            <a:xfrm>
              <a:off x="0" y="0"/>
              <a:ext cx="9944100" cy="19050"/>
            </a:xfrm>
            <a:custGeom>
              <a:avLst/>
              <a:gdLst/>
              <a:ahLst/>
              <a:cxnLst/>
              <a:rect l="l" t="t" r="r" b="b"/>
              <a:pathLst>
                <a:path w="9944100" h="19050">
                  <a:moveTo>
                    <a:pt x="0" y="0"/>
                  </a:moveTo>
                  <a:lnTo>
                    <a:pt x="9944100" y="0"/>
                  </a:lnTo>
                  <a:lnTo>
                    <a:pt x="9944100" y="19050"/>
                  </a:lnTo>
                  <a:lnTo>
                    <a:pt x="0" y="19050"/>
                  </a:lnTo>
                  <a:close/>
                </a:path>
              </a:pathLst>
            </a:custGeom>
            <a:solidFill>
              <a:srgbClr val="E2E8F0"/>
            </a:solidFill>
          </p:spPr>
          <p:txBody>
            <a:bodyPr/>
            <a:lstStyle/>
            <a:p>
              <a:endParaRPr lang="vi-VN"/>
            </a:p>
          </p:txBody>
        </p:sp>
      </p:grpSp>
      <p:grpSp>
        <p:nvGrpSpPr>
          <p:cNvPr id="40" name="Group 40"/>
          <p:cNvGrpSpPr/>
          <p:nvPr/>
        </p:nvGrpSpPr>
        <p:grpSpPr>
          <a:xfrm>
            <a:off x="11630025" y="7080352"/>
            <a:ext cx="5800725" cy="14288"/>
            <a:chOff x="0" y="0"/>
            <a:chExt cx="7734300" cy="19050"/>
          </a:xfrm>
        </p:grpSpPr>
        <p:sp>
          <p:nvSpPr>
            <p:cNvPr id="41" name="Freeform 41"/>
            <p:cNvSpPr/>
            <p:nvPr/>
          </p:nvSpPr>
          <p:spPr>
            <a:xfrm>
              <a:off x="0" y="0"/>
              <a:ext cx="7734300" cy="19050"/>
            </a:xfrm>
            <a:custGeom>
              <a:avLst/>
              <a:gdLst/>
              <a:ahLst/>
              <a:cxnLst/>
              <a:rect l="l" t="t" r="r" b="b"/>
              <a:pathLst>
                <a:path w="7734300" h="19050">
                  <a:moveTo>
                    <a:pt x="0" y="0"/>
                  </a:moveTo>
                  <a:lnTo>
                    <a:pt x="7734300" y="0"/>
                  </a:lnTo>
                  <a:lnTo>
                    <a:pt x="7734300" y="19050"/>
                  </a:lnTo>
                  <a:lnTo>
                    <a:pt x="0" y="19050"/>
                  </a:lnTo>
                  <a:close/>
                </a:path>
              </a:pathLst>
            </a:custGeom>
            <a:solidFill>
              <a:srgbClr val="E2E8F0"/>
            </a:solidFill>
          </p:spPr>
          <p:txBody>
            <a:bodyPr/>
            <a:lstStyle/>
            <a:p>
              <a:endParaRPr lang="vi-VN"/>
            </a:p>
          </p:txBody>
        </p:sp>
      </p:grpSp>
      <p:grpSp>
        <p:nvGrpSpPr>
          <p:cNvPr id="42" name="Group 42"/>
          <p:cNvGrpSpPr/>
          <p:nvPr/>
        </p:nvGrpSpPr>
        <p:grpSpPr>
          <a:xfrm>
            <a:off x="857250" y="7803204"/>
            <a:ext cx="3314700" cy="14288"/>
            <a:chOff x="0" y="0"/>
            <a:chExt cx="4419600" cy="19050"/>
          </a:xfrm>
        </p:grpSpPr>
        <p:sp>
          <p:nvSpPr>
            <p:cNvPr id="43" name="Freeform 43"/>
            <p:cNvSpPr/>
            <p:nvPr/>
          </p:nvSpPr>
          <p:spPr>
            <a:xfrm>
              <a:off x="0" y="0"/>
              <a:ext cx="4419600" cy="19050"/>
            </a:xfrm>
            <a:custGeom>
              <a:avLst/>
              <a:gdLst/>
              <a:ahLst/>
              <a:cxnLst/>
              <a:rect l="l" t="t" r="r" b="b"/>
              <a:pathLst>
                <a:path w="4419600" h="19050">
                  <a:moveTo>
                    <a:pt x="0" y="0"/>
                  </a:moveTo>
                  <a:lnTo>
                    <a:pt x="4419600" y="0"/>
                  </a:lnTo>
                  <a:lnTo>
                    <a:pt x="4419600" y="19050"/>
                  </a:lnTo>
                  <a:lnTo>
                    <a:pt x="0" y="19050"/>
                  </a:lnTo>
                  <a:close/>
                </a:path>
              </a:pathLst>
            </a:custGeom>
            <a:solidFill>
              <a:srgbClr val="E2E8F0"/>
            </a:solidFill>
          </p:spPr>
          <p:txBody>
            <a:bodyPr/>
            <a:lstStyle/>
            <a:p>
              <a:endParaRPr lang="vi-VN"/>
            </a:p>
          </p:txBody>
        </p:sp>
      </p:grpSp>
      <p:grpSp>
        <p:nvGrpSpPr>
          <p:cNvPr id="44" name="Group 44"/>
          <p:cNvGrpSpPr/>
          <p:nvPr/>
        </p:nvGrpSpPr>
        <p:grpSpPr>
          <a:xfrm>
            <a:off x="4171950" y="7803204"/>
            <a:ext cx="7458075" cy="14288"/>
            <a:chOff x="0" y="0"/>
            <a:chExt cx="9944100" cy="19050"/>
          </a:xfrm>
        </p:grpSpPr>
        <p:sp>
          <p:nvSpPr>
            <p:cNvPr id="45" name="Freeform 45"/>
            <p:cNvSpPr/>
            <p:nvPr/>
          </p:nvSpPr>
          <p:spPr>
            <a:xfrm>
              <a:off x="0" y="0"/>
              <a:ext cx="9944100" cy="19050"/>
            </a:xfrm>
            <a:custGeom>
              <a:avLst/>
              <a:gdLst/>
              <a:ahLst/>
              <a:cxnLst/>
              <a:rect l="l" t="t" r="r" b="b"/>
              <a:pathLst>
                <a:path w="9944100" h="19050">
                  <a:moveTo>
                    <a:pt x="0" y="0"/>
                  </a:moveTo>
                  <a:lnTo>
                    <a:pt x="9944100" y="0"/>
                  </a:lnTo>
                  <a:lnTo>
                    <a:pt x="9944100" y="19050"/>
                  </a:lnTo>
                  <a:lnTo>
                    <a:pt x="0" y="19050"/>
                  </a:lnTo>
                  <a:close/>
                </a:path>
              </a:pathLst>
            </a:custGeom>
            <a:solidFill>
              <a:srgbClr val="E2E8F0"/>
            </a:solidFill>
          </p:spPr>
          <p:txBody>
            <a:bodyPr/>
            <a:lstStyle/>
            <a:p>
              <a:endParaRPr lang="vi-VN"/>
            </a:p>
          </p:txBody>
        </p:sp>
      </p:grpSp>
      <p:grpSp>
        <p:nvGrpSpPr>
          <p:cNvPr id="46" name="Group 46"/>
          <p:cNvGrpSpPr/>
          <p:nvPr/>
        </p:nvGrpSpPr>
        <p:grpSpPr>
          <a:xfrm>
            <a:off x="11630025" y="7803204"/>
            <a:ext cx="5800725" cy="14288"/>
            <a:chOff x="0" y="0"/>
            <a:chExt cx="7734300" cy="19050"/>
          </a:xfrm>
        </p:grpSpPr>
        <p:sp>
          <p:nvSpPr>
            <p:cNvPr id="47" name="Freeform 47"/>
            <p:cNvSpPr/>
            <p:nvPr/>
          </p:nvSpPr>
          <p:spPr>
            <a:xfrm>
              <a:off x="0" y="0"/>
              <a:ext cx="7734300" cy="19050"/>
            </a:xfrm>
            <a:custGeom>
              <a:avLst/>
              <a:gdLst/>
              <a:ahLst/>
              <a:cxnLst/>
              <a:rect l="l" t="t" r="r" b="b"/>
              <a:pathLst>
                <a:path w="7734300" h="19050">
                  <a:moveTo>
                    <a:pt x="0" y="0"/>
                  </a:moveTo>
                  <a:lnTo>
                    <a:pt x="7734300" y="0"/>
                  </a:lnTo>
                  <a:lnTo>
                    <a:pt x="7734300" y="19050"/>
                  </a:lnTo>
                  <a:lnTo>
                    <a:pt x="0" y="19050"/>
                  </a:lnTo>
                  <a:close/>
                </a:path>
              </a:pathLst>
            </a:custGeom>
            <a:solidFill>
              <a:srgbClr val="E2E8F0"/>
            </a:solidFill>
          </p:spPr>
          <p:txBody>
            <a:bodyPr/>
            <a:lstStyle/>
            <a:p>
              <a:endParaRPr lang="vi-VN"/>
            </a:p>
          </p:txBody>
        </p:sp>
      </p:grpSp>
      <p:sp>
        <p:nvSpPr>
          <p:cNvPr id="48" name="TextBox 48"/>
          <p:cNvSpPr txBox="1"/>
          <p:nvPr/>
        </p:nvSpPr>
        <p:spPr>
          <a:xfrm>
            <a:off x="857250" y="857250"/>
            <a:ext cx="17402175" cy="700088"/>
          </a:xfrm>
          <a:prstGeom prst="rect">
            <a:avLst/>
          </a:prstGeom>
        </p:spPr>
        <p:txBody>
          <a:bodyPr lIns="0" tIns="0" rIns="0" bIns="0" rtlCol="0" anchor="t">
            <a:spAutoFit/>
          </a:bodyPr>
          <a:lstStyle/>
          <a:p>
            <a:pPr algn="l">
              <a:lnSpc>
                <a:spcPts val="5130"/>
              </a:lnSpc>
            </a:pPr>
            <a:r>
              <a:rPr lang="en-US" sz="4275" b="1">
                <a:solidFill>
                  <a:srgbClr val="164673"/>
                </a:solidFill>
                <a:latin typeface="Montserrat Bold"/>
                <a:ea typeface="Montserrat Bold"/>
                <a:cs typeface="Montserrat Bold"/>
                <a:sym typeface="Montserrat Bold"/>
              </a:rPr>
              <a:t>BẢNG 14 ĐẶC TRƯNG</a:t>
            </a:r>
          </a:p>
        </p:txBody>
      </p:sp>
      <p:grpSp>
        <p:nvGrpSpPr>
          <p:cNvPr id="49" name="Group 49"/>
          <p:cNvGrpSpPr/>
          <p:nvPr/>
        </p:nvGrpSpPr>
        <p:grpSpPr>
          <a:xfrm>
            <a:off x="857250" y="1671638"/>
            <a:ext cx="16573500" cy="28575"/>
            <a:chOff x="0" y="0"/>
            <a:chExt cx="22098000" cy="38100"/>
          </a:xfrm>
        </p:grpSpPr>
        <p:sp>
          <p:nvSpPr>
            <p:cNvPr id="50" name="Freeform 50"/>
            <p:cNvSpPr/>
            <p:nvPr/>
          </p:nvSpPr>
          <p:spPr>
            <a:xfrm>
              <a:off x="0" y="0"/>
              <a:ext cx="22098000" cy="38100"/>
            </a:xfrm>
            <a:custGeom>
              <a:avLst/>
              <a:gdLst/>
              <a:ahLst/>
              <a:cxnLst/>
              <a:rect l="l" t="t" r="r" b="b"/>
              <a:pathLst>
                <a:path w="22098000" h="38100">
                  <a:moveTo>
                    <a:pt x="0" y="0"/>
                  </a:moveTo>
                  <a:lnTo>
                    <a:pt x="22098000" y="0"/>
                  </a:lnTo>
                  <a:lnTo>
                    <a:pt x="22098000" y="38100"/>
                  </a:lnTo>
                  <a:lnTo>
                    <a:pt x="0" y="38100"/>
                  </a:lnTo>
                  <a:close/>
                </a:path>
              </a:pathLst>
            </a:custGeom>
            <a:solidFill>
              <a:srgbClr val="48A6D8"/>
            </a:solidFill>
          </p:spPr>
          <p:txBody>
            <a:bodyPr/>
            <a:lstStyle/>
            <a:p>
              <a:endParaRPr lang="vi-VN"/>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grpSp>
        <p:nvGrpSpPr>
          <p:cNvPr id="4" name="Group 4"/>
          <p:cNvGrpSpPr/>
          <p:nvPr/>
        </p:nvGrpSpPr>
        <p:grpSpPr>
          <a:xfrm>
            <a:off x="857250" y="6342088"/>
            <a:ext cx="8001000" cy="1805807"/>
            <a:chOff x="0" y="0"/>
            <a:chExt cx="10668000" cy="2407742"/>
          </a:xfrm>
        </p:grpSpPr>
        <p:sp>
          <p:nvSpPr>
            <p:cNvPr id="5" name="Freeform 5" descr="image.png"/>
            <p:cNvSpPr/>
            <p:nvPr/>
          </p:nvSpPr>
          <p:spPr>
            <a:xfrm>
              <a:off x="0" y="0"/>
              <a:ext cx="10668000" cy="2407793"/>
            </a:xfrm>
            <a:custGeom>
              <a:avLst/>
              <a:gdLst/>
              <a:ahLst/>
              <a:cxnLst/>
              <a:rect l="l" t="t" r="r" b="b"/>
              <a:pathLst>
                <a:path w="10668000" h="2407793">
                  <a:moveTo>
                    <a:pt x="0" y="0"/>
                  </a:moveTo>
                  <a:lnTo>
                    <a:pt x="10668000" y="0"/>
                  </a:lnTo>
                  <a:lnTo>
                    <a:pt x="10668000" y="2407793"/>
                  </a:lnTo>
                  <a:lnTo>
                    <a:pt x="0" y="2407793"/>
                  </a:lnTo>
                  <a:lnTo>
                    <a:pt x="0" y="0"/>
                  </a:lnTo>
                  <a:close/>
                </a:path>
              </a:pathLst>
            </a:custGeom>
            <a:blipFill>
              <a:blip r:embed="rId4"/>
              <a:stretch>
                <a:fillRect b="-1271"/>
              </a:stretch>
            </a:blipFill>
          </p:spPr>
          <p:txBody>
            <a:bodyPr/>
            <a:lstStyle/>
            <a:p>
              <a:endParaRPr lang="vi-VN"/>
            </a:p>
          </p:txBody>
        </p:sp>
      </p:grpSp>
      <p:grpSp>
        <p:nvGrpSpPr>
          <p:cNvPr id="6" name="Group 6"/>
          <p:cNvGrpSpPr/>
          <p:nvPr/>
        </p:nvGrpSpPr>
        <p:grpSpPr>
          <a:xfrm>
            <a:off x="9258300" y="5793581"/>
            <a:ext cx="8001000" cy="971550"/>
            <a:chOff x="0" y="0"/>
            <a:chExt cx="10668000" cy="1295400"/>
          </a:xfrm>
        </p:grpSpPr>
        <p:sp>
          <p:nvSpPr>
            <p:cNvPr id="7" name="Freeform 7"/>
            <p:cNvSpPr/>
            <p:nvPr/>
          </p:nvSpPr>
          <p:spPr>
            <a:xfrm>
              <a:off x="0" y="0"/>
              <a:ext cx="10668000" cy="1295400"/>
            </a:xfrm>
            <a:custGeom>
              <a:avLst/>
              <a:gdLst/>
              <a:ahLst/>
              <a:cxnLst/>
              <a:rect l="l" t="t" r="r" b="b"/>
              <a:pathLst>
                <a:path w="10668000" h="1295400">
                  <a:moveTo>
                    <a:pt x="0" y="0"/>
                  </a:moveTo>
                  <a:lnTo>
                    <a:pt x="10668000" y="0"/>
                  </a:lnTo>
                  <a:lnTo>
                    <a:pt x="10668000" y="1295400"/>
                  </a:lnTo>
                  <a:lnTo>
                    <a:pt x="0" y="1295400"/>
                  </a:lnTo>
                  <a:lnTo>
                    <a:pt x="0" y="0"/>
                  </a:lnTo>
                  <a:close/>
                </a:path>
              </a:pathLst>
            </a:custGeom>
            <a:blipFill>
              <a:blip r:embed="rId5"/>
              <a:stretch>
                <a:fillRect l="-1485" r="-1485"/>
              </a:stretch>
            </a:blipFill>
          </p:spPr>
          <p:txBody>
            <a:bodyPr/>
            <a:lstStyle/>
            <a:p>
              <a:endParaRPr lang="vi-VN"/>
            </a:p>
          </p:txBody>
        </p:sp>
      </p:grpSp>
      <p:grpSp>
        <p:nvGrpSpPr>
          <p:cNvPr id="8" name="Group 8"/>
          <p:cNvGrpSpPr/>
          <p:nvPr/>
        </p:nvGrpSpPr>
        <p:grpSpPr>
          <a:xfrm>
            <a:off x="857250" y="1614488"/>
            <a:ext cx="16573500" cy="28575"/>
            <a:chOff x="0" y="0"/>
            <a:chExt cx="22098000" cy="38100"/>
          </a:xfrm>
        </p:grpSpPr>
        <p:sp>
          <p:nvSpPr>
            <p:cNvPr id="9" name="Freeform 9"/>
            <p:cNvSpPr/>
            <p:nvPr/>
          </p:nvSpPr>
          <p:spPr>
            <a:xfrm>
              <a:off x="0" y="0"/>
              <a:ext cx="22098000" cy="38100"/>
            </a:xfrm>
            <a:custGeom>
              <a:avLst/>
              <a:gdLst/>
              <a:ahLst/>
              <a:cxnLst/>
              <a:rect l="l" t="t" r="r" b="b"/>
              <a:pathLst>
                <a:path w="22098000" h="38100">
                  <a:moveTo>
                    <a:pt x="0" y="0"/>
                  </a:moveTo>
                  <a:lnTo>
                    <a:pt x="22098000" y="0"/>
                  </a:lnTo>
                  <a:lnTo>
                    <a:pt x="22098000" y="38100"/>
                  </a:lnTo>
                  <a:lnTo>
                    <a:pt x="0" y="38100"/>
                  </a:lnTo>
                  <a:close/>
                </a:path>
              </a:pathLst>
            </a:custGeom>
            <a:solidFill>
              <a:srgbClr val="48A6D8"/>
            </a:solidFill>
          </p:spPr>
          <p:txBody>
            <a:bodyPr/>
            <a:lstStyle/>
            <a:p>
              <a:endParaRPr lang="vi-VN"/>
            </a:p>
          </p:txBody>
        </p:sp>
      </p:grpSp>
      <p:grpSp>
        <p:nvGrpSpPr>
          <p:cNvPr id="10" name="Group 10"/>
          <p:cNvGrpSpPr/>
          <p:nvPr/>
        </p:nvGrpSpPr>
        <p:grpSpPr>
          <a:xfrm>
            <a:off x="857250" y="4479131"/>
            <a:ext cx="200244" cy="300038"/>
            <a:chOff x="0" y="0"/>
            <a:chExt cx="266992" cy="400050"/>
          </a:xfrm>
        </p:grpSpPr>
        <p:sp>
          <p:nvSpPr>
            <p:cNvPr id="11" name="Freeform 11" descr="image.png"/>
            <p:cNvSpPr/>
            <p:nvPr/>
          </p:nvSpPr>
          <p:spPr>
            <a:xfrm>
              <a:off x="0" y="0"/>
              <a:ext cx="266954" cy="400050"/>
            </a:xfrm>
            <a:custGeom>
              <a:avLst/>
              <a:gdLst/>
              <a:ahLst/>
              <a:cxnLst/>
              <a:rect l="l" t="t" r="r" b="b"/>
              <a:pathLst>
                <a:path w="266954" h="400050">
                  <a:moveTo>
                    <a:pt x="0" y="0"/>
                  </a:moveTo>
                  <a:lnTo>
                    <a:pt x="266954" y="0"/>
                  </a:lnTo>
                  <a:lnTo>
                    <a:pt x="266954" y="400050"/>
                  </a:lnTo>
                  <a:lnTo>
                    <a:pt x="0" y="400050"/>
                  </a:lnTo>
                  <a:lnTo>
                    <a:pt x="0" y="0"/>
                  </a:lnTo>
                  <a:close/>
                </a:path>
              </a:pathLst>
            </a:custGeom>
            <a:blipFill>
              <a:blip r:embed="rId6"/>
              <a:stretch>
                <a:fillRect r="-14" b="-15279"/>
              </a:stretch>
            </a:blipFill>
          </p:spPr>
          <p:txBody>
            <a:bodyPr/>
            <a:lstStyle/>
            <a:p>
              <a:endParaRPr lang="vi-VN"/>
            </a:p>
          </p:txBody>
        </p:sp>
      </p:grpSp>
      <p:grpSp>
        <p:nvGrpSpPr>
          <p:cNvPr id="12" name="Group 12"/>
          <p:cNvGrpSpPr/>
          <p:nvPr/>
        </p:nvGrpSpPr>
        <p:grpSpPr>
          <a:xfrm>
            <a:off x="857250" y="5062014"/>
            <a:ext cx="200244" cy="300038"/>
            <a:chOff x="0" y="0"/>
            <a:chExt cx="266992" cy="400050"/>
          </a:xfrm>
        </p:grpSpPr>
        <p:sp>
          <p:nvSpPr>
            <p:cNvPr id="13" name="Freeform 13" descr="image.png"/>
            <p:cNvSpPr/>
            <p:nvPr/>
          </p:nvSpPr>
          <p:spPr>
            <a:xfrm>
              <a:off x="0" y="0"/>
              <a:ext cx="266954" cy="400050"/>
            </a:xfrm>
            <a:custGeom>
              <a:avLst/>
              <a:gdLst/>
              <a:ahLst/>
              <a:cxnLst/>
              <a:rect l="l" t="t" r="r" b="b"/>
              <a:pathLst>
                <a:path w="266954" h="400050">
                  <a:moveTo>
                    <a:pt x="0" y="0"/>
                  </a:moveTo>
                  <a:lnTo>
                    <a:pt x="266954" y="0"/>
                  </a:lnTo>
                  <a:lnTo>
                    <a:pt x="266954" y="400050"/>
                  </a:lnTo>
                  <a:lnTo>
                    <a:pt x="0" y="400050"/>
                  </a:lnTo>
                  <a:lnTo>
                    <a:pt x="0" y="0"/>
                  </a:lnTo>
                  <a:close/>
                </a:path>
              </a:pathLst>
            </a:custGeom>
            <a:blipFill>
              <a:blip r:embed="rId6"/>
              <a:stretch>
                <a:fillRect r="-14" b="-15279"/>
              </a:stretch>
            </a:blipFill>
          </p:spPr>
          <p:txBody>
            <a:bodyPr/>
            <a:lstStyle/>
            <a:p>
              <a:endParaRPr lang="vi-VN"/>
            </a:p>
          </p:txBody>
        </p:sp>
      </p:grpSp>
      <p:grpSp>
        <p:nvGrpSpPr>
          <p:cNvPr id="14" name="Group 14"/>
          <p:cNvGrpSpPr/>
          <p:nvPr/>
        </p:nvGrpSpPr>
        <p:grpSpPr>
          <a:xfrm>
            <a:off x="857250" y="5644896"/>
            <a:ext cx="200244" cy="300038"/>
            <a:chOff x="0" y="0"/>
            <a:chExt cx="266992" cy="400050"/>
          </a:xfrm>
        </p:grpSpPr>
        <p:sp>
          <p:nvSpPr>
            <p:cNvPr id="15" name="Freeform 15" descr="image.png"/>
            <p:cNvSpPr/>
            <p:nvPr/>
          </p:nvSpPr>
          <p:spPr>
            <a:xfrm>
              <a:off x="0" y="0"/>
              <a:ext cx="266954" cy="400050"/>
            </a:xfrm>
            <a:custGeom>
              <a:avLst/>
              <a:gdLst/>
              <a:ahLst/>
              <a:cxnLst/>
              <a:rect l="l" t="t" r="r" b="b"/>
              <a:pathLst>
                <a:path w="266954" h="400050">
                  <a:moveTo>
                    <a:pt x="0" y="0"/>
                  </a:moveTo>
                  <a:lnTo>
                    <a:pt x="266954" y="0"/>
                  </a:lnTo>
                  <a:lnTo>
                    <a:pt x="266954" y="400050"/>
                  </a:lnTo>
                  <a:lnTo>
                    <a:pt x="0" y="400050"/>
                  </a:lnTo>
                  <a:lnTo>
                    <a:pt x="0" y="0"/>
                  </a:lnTo>
                  <a:close/>
                </a:path>
              </a:pathLst>
            </a:custGeom>
            <a:blipFill>
              <a:blip r:embed="rId6"/>
              <a:stretch>
                <a:fillRect r="-14" b="-15279"/>
              </a:stretch>
            </a:blipFill>
          </p:spPr>
          <p:txBody>
            <a:bodyPr/>
            <a:lstStyle/>
            <a:p>
              <a:endParaRPr lang="vi-VN"/>
            </a:p>
          </p:txBody>
        </p:sp>
      </p:grpSp>
      <p:grpSp>
        <p:nvGrpSpPr>
          <p:cNvPr id="16" name="Group 16"/>
          <p:cNvGrpSpPr/>
          <p:nvPr/>
        </p:nvGrpSpPr>
        <p:grpSpPr>
          <a:xfrm>
            <a:off x="9429750" y="6865144"/>
            <a:ext cx="200244" cy="300038"/>
            <a:chOff x="0" y="0"/>
            <a:chExt cx="266992" cy="400050"/>
          </a:xfrm>
        </p:grpSpPr>
        <p:sp>
          <p:nvSpPr>
            <p:cNvPr id="17" name="Freeform 17" descr="image.png"/>
            <p:cNvSpPr/>
            <p:nvPr/>
          </p:nvSpPr>
          <p:spPr>
            <a:xfrm>
              <a:off x="0" y="0"/>
              <a:ext cx="266954" cy="400050"/>
            </a:xfrm>
            <a:custGeom>
              <a:avLst/>
              <a:gdLst/>
              <a:ahLst/>
              <a:cxnLst/>
              <a:rect l="l" t="t" r="r" b="b"/>
              <a:pathLst>
                <a:path w="266954" h="400050">
                  <a:moveTo>
                    <a:pt x="0" y="0"/>
                  </a:moveTo>
                  <a:lnTo>
                    <a:pt x="266954" y="0"/>
                  </a:lnTo>
                  <a:lnTo>
                    <a:pt x="266954" y="400050"/>
                  </a:lnTo>
                  <a:lnTo>
                    <a:pt x="0" y="400050"/>
                  </a:lnTo>
                  <a:lnTo>
                    <a:pt x="0" y="0"/>
                  </a:lnTo>
                  <a:close/>
                </a:path>
              </a:pathLst>
            </a:custGeom>
            <a:blipFill>
              <a:blip r:embed="rId6"/>
              <a:stretch>
                <a:fillRect r="-14" b="-15279"/>
              </a:stretch>
            </a:blipFill>
          </p:spPr>
          <p:txBody>
            <a:bodyPr/>
            <a:lstStyle/>
            <a:p>
              <a:endParaRPr lang="vi-VN"/>
            </a:p>
          </p:txBody>
        </p:sp>
      </p:grpSp>
      <p:grpSp>
        <p:nvGrpSpPr>
          <p:cNvPr id="18" name="Group 18"/>
          <p:cNvGrpSpPr/>
          <p:nvPr/>
        </p:nvGrpSpPr>
        <p:grpSpPr>
          <a:xfrm>
            <a:off x="9429750" y="7448026"/>
            <a:ext cx="200244" cy="300038"/>
            <a:chOff x="0" y="0"/>
            <a:chExt cx="266992" cy="400050"/>
          </a:xfrm>
        </p:grpSpPr>
        <p:sp>
          <p:nvSpPr>
            <p:cNvPr id="19" name="Freeform 19" descr="image.png"/>
            <p:cNvSpPr/>
            <p:nvPr/>
          </p:nvSpPr>
          <p:spPr>
            <a:xfrm>
              <a:off x="0" y="0"/>
              <a:ext cx="266954" cy="400050"/>
            </a:xfrm>
            <a:custGeom>
              <a:avLst/>
              <a:gdLst/>
              <a:ahLst/>
              <a:cxnLst/>
              <a:rect l="l" t="t" r="r" b="b"/>
              <a:pathLst>
                <a:path w="266954" h="400050">
                  <a:moveTo>
                    <a:pt x="0" y="0"/>
                  </a:moveTo>
                  <a:lnTo>
                    <a:pt x="266954" y="0"/>
                  </a:lnTo>
                  <a:lnTo>
                    <a:pt x="266954" y="400050"/>
                  </a:lnTo>
                  <a:lnTo>
                    <a:pt x="0" y="400050"/>
                  </a:lnTo>
                  <a:lnTo>
                    <a:pt x="0" y="0"/>
                  </a:lnTo>
                  <a:close/>
                </a:path>
              </a:pathLst>
            </a:custGeom>
            <a:blipFill>
              <a:blip r:embed="rId6"/>
              <a:stretch>
                <a:fillRect r="-14" b="-15279"/>
              </a:stretch>
            </a:blipFill>
          </p:spPr>
          <p:txBody>
            <a:bodyPr/>
            <a:lstStyle/>
            <a:p>
              <a:endParaRPr lang="vi-VN"/>
            </a:p>
          </p:txBody>
        </p:sp>
      </p:grpSp>
      <p:sp>
        <p:nvSpPr>
          <p:cNvPr id="20" name="TextBox 20"/>
          <p:cNvSpPr txBox="1"/>
          <p:nvPr/>
        </p:nvSpPr>
        <p:spPr>
          <a:xfrm>
            <a:off x="857250" y="1928813"/>
            <a:ext cx="16273015" cy="554307"/>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Vấn đề:</a:t>
            </a:r>
            <a:r>
              <a:rPr lang="en-US" sz="2025">
                <a:solidFill>
                  <a:srgbClr val="475569"/>
                </a:solidFill>
                <a:latin typeface="Open Sans"/>
                <a:ea typeface="Open Sans"/>
                <a:cs typeface="Open Sans"/>
                <a:sym typeface="Open Sans"/>
              </a:rPr>
              <a:t> Mô hình tĩnh (static) sẽ dần lỗi thời khi phân phối dữ liệu thay đổi theo thời gian (Concept Drift). Bài báo gốc không đề cập vấn đề này.</a:t>
            </a:r>
          </a:p>
        </p:txBody>
      </p:sp>
      <p:sp>
        <p:nvSpPr>
          <p:cNvPr id="21" name="TextBox 21"/>
          <p:cNvSpPr txBox="1"/>
          <p:nvPr/>
        </p:nvSpPr>
        <p:spPr>
          <a:xfrm>
            <a:off x="857250" y="3836194"/>
            <a:ext cx="8401050" cy="400050"/>
          </a:xfrm>
          <a:prstGeom prst="rect">
            <a:avLst/>
          </a:prstGeom>
        </p:spPr>
        <p:txBody>
          <a:bodyPr lIns="0" tIns="0" rIns="0" bIns="0" rtlCol="0" anchor="t">
            <a:spAutoFit/>
          </a:bodyPr>
          <a:lstStyle/>
          <a:p>
            <a:pPr algn="l">
              <a:lnSpc>
                <a:spcPts val="3240"/>
              </a:lnSpc>
            </a:pPr>
            <a:r>
              <a:rPr lang="en-US" sz="2700">
                <a:solidFill>
                  <a:srgbClr val="164673"/>
                </a:solidFill>
                <a:latin typeface="Montserrat"/>
                <a:ea typeface="Montserrat"/>
                <a:cs typeface="Montserrat"/>
                <a:sym typeface="Montserrat"/>
              </a:rPr>
              <a:t>Rolling Buffer Retrain</a:t>
            </a:r>
          </a:p>
        </p:txBody>
      </p:sp>
      <p:sp>
        <p:nvSpPr>
          <p:cNvPr id="22" name="TextBox 22"/>
          <p:cNvSpPr txBox="1"/>
          <p:nvPr/>
        </p:nvSpPr>
        <p:spPr>
          <a:xfrm>
            <a:off x="9429750" y="4196286"/>
            <a:ext cx="8401050" cy="400050"/>
          </a:xfrm>
          <a:prstGeom prst="rect">
            <a:avLst/>
          </a:prstGeom>
        </p:spPr>
        <p:txBody>
          <a:bodyPr lIns="0" tIns="0" rIns="0" bIns="0" rtlCol="0" anchor="t">
            <a:spAutoFit/>
          </a:bodyPr>
          <a:lstStyle/>
          <a:p>
            <a:pPr algn="l">
              <a:lnSpc>
                <a:spcPts val="3240"/>
              </a:lnSpc>
            </a:pPr>
            <a:r>
              <a:rPr lang="en-US" sz="2700">
                <a:solidFill>
                  <a:srgbClr val="164673"/>
                </a:solidFill>
                <a:latin typeface="Montserrat"/>
                <a:ea typeface="Montserrat"/>
                <a:cs typeface="Montserrat"/>
                <a:sym typeface="Montserrat"/>
              </a:rPr>
              <a:t>Adaptive Contamination Rate</a:t>
            </a:r>
          </a:p>
        </p:txBody>
      </p:sp>
      <p:sp>
        <p:nvSpPr>
          <p:cNvPr id="23" name="TextBox 23"/>
          <p:cNvSpPr txBox="1"/>
          <p:nvPr/>
        </p:nvSpPr>
        <p:spPr>
          <a:xfrm>
            <a:off x="9429750" y="4667774"/>
            <a:ext cx="8001000" cy="554307"/>
          </a:xfrm>
          <a:prstGeom prst="rect">
            <a:avLst/>
          </a:prstGeom>
        </p:spPr>
        <p:txBody>
          <a:bodyPr lIns="0" tIns="0" rIns="0" bIns="0" rtlCol="0" anchor="t">
            <a:spAutoFit/>
          </a:bodyPr>
          <a:lstStyle/>
          <a:p>
            <a:pPr algn="l">
              <a:lnSpc>
                <a:spcPts val="3887"/>
              </a:lnSpc>
            </a:pPr>
            <a:r>
              <a:rPr lang="en-US" sz="2025">
                <a:solidFill>
                  <a:srgbClr val="475569"/>
                </a:solidFill>
                <a:latin typeface="Open Sans"/>
                <a:ea typeface="Open Sans"/>
                <a:cs typeface="Open Sans"/>
                <a:sym typeface="Open Sans"/>
              </a:rPr>
              <a:t>Tự động điều chỉnh tỷ lệ kỳ vọng bất thường để tránh dao động:</a:t>
            </a:r>
          </a:p>
        </p:txBody>
      </p:sp>
      <p:sp>
        <p:nvSpPr>
          <p:cNvPr id="24" name="TextBox 24"/>
          <p:cNvSpPr txBox="1"/>
          <p:nvPr/>
        </p:nvSpPr>
        <p:spPr>
          <a:xfrm>
            <a:off x="1214438" y="4307681"/>
            <a:ext cx="7643812" cy="554307"/>
          </a:xfrm>
          <a:prstGeom prst="rect">
            <a:avLst/>
          </a:prstGeom>
        </p:spPr>
        <p:txBody>
          <a:bodyPr lIns="0" tIns="0" rIns="0" bIns="0" rtlCol="0" anchor="t">
            <a:spAutoFit/>
          </a:bodyPr>
          <a:lstStyle/>
          <a:p>
            <a:pPr algn="l">
              <a:lnSpc>
                <a:spcPts val="3887"/>
              </a:lnSpc>
            </a:pPr>
            <a:r>
              <a:rPr lang="en-US" sz="2025">
                <a:solidFill>
                  <a:srgbClr val="475569"/>
                </a:solidFill>
                <a:latin typeface="Open Sans"/>
                <a:ea typeface="Open Sans"/>
                <a:cs typeface="Open Sans"/>
                <a:sym typeface="Open Sans"/>
              </a:rPr>
              <a:t>Duy trì buffer lưu trữ </a:t>
            </a:r>
            <a:r>
              <a:rPr lang="en-US" sz="2025">
                <a:solidFill>
                  <a:srgbClr val="1E293B"/>
                </a:solidFill>
                <a:latin typeface="Open Sans"/>
                <a:ea typeface="Open Sans"/>
                <a:cs typeface="Open Sans"/>
                <a:sym typeface="Open Sans"/>
              </a:rPr>
              <a:t>10.000 bản ghi</a:t>
            </a:r>
            <a:r>
              <a:rPr lang="en-US" sz="2025">
                <a:solidFill>
                  <a:srgbClr val="475569"/>
                </a:solidFill>
                <a:latin typeface="Open Sans"/>
                <a:ea typeface="Open Sans"/>
                <a:cs typeface="Open Sans"/>
                <a:sym typeface="Open Sans"/>
              </a:rPr>
              <a:t> gần nhất.</a:t>
            </a:r>
          </a:p>
        </p:txBody>
      </p:sp>
      <p:sp>
        <p:nvSpPr>
          <p:cNvPr id="25" name="TextBox 25"/>
          <p:cNvSpPr txBox="1"/>
          <p:nvPr/>
        </p:nvSpPr>
        <p:spPr>
          <a:xfrm>
            <a:off x="1214438" y="4890564"/>
            <a:ext cx="7643812" cy="554307"/>
          </a:xfrm>
          <a:prstGeom prst="rect">
            <a:avLst/>
          </a:prstGeom>
        </p:spPr>
        <p:txBody>
          <a:bodyPr lIns="0" tIns="0" rIns="0" bIns="0" rtlCol="0" anchor="t">
            <a:spAutoFit/>
          </a:bodyPr>
          <a:lstStyle/>
          <a:p>
            <a:pPr algn="l">
              <a:lnSpc>
                <a:spcPts val="3887"/>
              </a:lnSpc>
            </a:pPr>
            <a:r>
              <a:rPr lang="en-US" sz="2025">
                <a:solidFill>
                  <a:srgbClr val="475569"/>
                </a:solidFill>
                <a:latin typeface="Open Sans"/>
                <a:ea typeface="Open Sans"/>
                <a:cs typeface="Open Sans"/>
                <a:sym typeface="Open Sans"/>
              </a:rPr>
              <a:t>Kích hoạt retrain tự động sau mỗi </a:t>
            </a:r>
            <a:r>
              <a:rPr lang="en-US" sz="2025">
                <a:solidFill>
                  <a:srgbClr val="1E293B"/>
                </a:solidFill>
                <a:latin typeface="Open Sans"/>
                <a:ea typeface="Open Sans"/>
                <a:cs typeface="Open Sans"/>
                <a:sym typeface="Open Sans"/>
              </a:rPr>
              <a:t>25 micro-batch</a:t>
            </a:r>
            <a:r>
              <a:rPr lang="en-US" sz="2025">
                <a:solidFill>
                  <a:srgbClr val="475569"/>
                </a:solidFill>
                <a:latin typeface="Open Sans"/>
                <a:ea typeface="Open Sans"/>
                <a:cs typeface="Open Sans"/>
                <a:sym typeface="Open Sans"/>
              </a:rPr>
              <a:t>.</a:t>
            </a:r>
          </a:p>
        </p:txBody>
      </p:sp>
      <p:sp>
        <p:nvSpPr>
          <p:cNvPr id="26" name="TextBox 26"/>
          <p:cNvSpPr txBox="1"/>
          <p:nvPr/>
        </p:nvSpPr>
        <p:spPr>
          <a:xfrm>
            <a:off x="1214438" y="5473446"/>
            <a:ext cx="7643812" cy="554307"/>
          </a:xfrm>
          <a:prstGeom prst="rect">
            <a:avLst/>
          </a:prstGeom>
        </p:spPr>
        <p:txBody>
          <a:bodyPr lIns="0" tIns="0" rIns="0" bIns="0" rtlCol="0" anchor="t">
            <a:spAutoFit/>
          </a:bodyPr>
          <a:lstStyle/>
          <a:p>
            <a:pPr algn="l">
              <a:lnSpc>
                <a:spcPts val="3887"/>
              </a:lnSpc>
            </a:pPr>
            <a:r>
              <a:rPr lang="en-US" sz="2025">
                <a:solidFill>
                  <a:srgbClr val="475569"/>
                </a:solidFill>
                <a:latin typeface="Open Sans"/>
                <a:ea typeface="Open Sans"/>
                <a:cs typeface="Open Sans"/>
                <a:sym typeface="Open Sans"/>
              </a:rPr>
              <a:t>Mô hình luôn phản ánh phân phối dữ liệu hiện tại.</a:t>
            </a:r>
          </a:p>
        </p:txBody>
      </p:sp>
      <p:sp>
        <p:nvSpPr>
          <p:cNvPr id="27" name="TextBox 27"/>
          <p:cNvSpPr txBox="1"/>
          <p:nvPr/>
        </p:nvSpPr>
        <p:spPr>
          <a:xfrm>
            <a:off x="1200150" y="6484963"/>
            <a:ext cx="7372350" cy="1377182"/>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Kết quả:</a:t>
            </a:r>
            <a:r>
              <a:rPr lang="en-US" sz="2025">
                <a:solidFill>
                  <a:srgbClr val="164673"/>
                </a:solidFill>
                <a:latin typeface="Open Sans"/>
                <a:ea typeface="Open Sans"/>
                <a:cs typeface="Open Sans"/>
                <a:sym typeface="Open Sans"/>
              </a:rPr>
              <a:t> Throughput tăng vọt tạm thời ~800 rows/s sau mỗi chu kỳ retrain do Kafka backlog được giải phóng → hệ thống tự cân bằng.</a:t>
            </a:r>
          </a:p>
        </p:txBody>
      </p:sp>
      <p:sp>
        <p:nvSpPr>
          <p:cNvPr id="28" name="TextBox 28"/>
          <p:cNvSpPr txBox="1"/>
          <p:nvPr/>
        </p:nvSpPr>
        <p:spPr>
          <a:xfrm>
            <a:off x="9786938" y="6693694"/>
            <a:ext cx="7643812" cy="554307"/>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Prior anchor (80%):</a:t>
            </a:r>
            <a:r>
              <a:rPr lang="en-US" sz="2025">
                <a:solidFill>
                  <a:srgbClr val="475569"/>
                </a:solidFill>
                <a:latin typeface="Open Sans"/>
                <a:ea typeface="Open Sans"/>
                <a:cs typeface="Open Sans"/>
                <a:sym typeface="Open Sans"/>
              </a:rPr>
              <a:t> giữ ổn định, tránh dao động cực đoan.</a:t>
            </a:r>
          </a:p>
        </p:txBody>
      </p:sp>
      <p:sp>
        <p:nvSpPr>
          <p:cNvPr id="29" name="TextBox 29"/>
          <p:cNvSpPr txBox="1"/>
          <p:nvPr/>
        </p:nvSpPr>
        <p:spPr>
          <a:xfrm>
            <a:off x="9786938" y="7276576"/>
            <a:ext cx="7643812" cy="554307"/>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Observed component (20%):</a:t>
            </a:r>
            <a:r>
              <a:rPr lang="en-US" sz="2025">
                <a:solidFill>
                  <a:srgbClr val="475569"/>
                </a:solidFill>
                <a:latin typeface="Open Sans"/>
                <a:ea typeface="Open Sans"/>
                <a:cs typeface="Open Sans"/>
                <a:sym typeface="Open Sans"/>
              </a:rPr>
              <a:t> phản ứng nhẹ với thay đổi thực tế.</a:t>
            </a:r>
          </a:p>
        </p:txBody>
      </p:sp>
      <p:sp>
        <p:nvSpPr>
          <p:cNvPr id="30" name="TextBox 30"/>
          <p:cNvSpPr txBox="1"/>
          <p:nvPr/>
        </p:nvSpPr>
        <p:spPr>
          <a:xfrm>
            <a:off x="857250" y="857250"/>
            <a:ext cx="17402175" cy="642938"/>
          </a:xfrm>
          <a:prstGeom prst="rect">
            <a:avLst/>
          </a:prstGeom>
        </p:spPr>
        <p:txBody>
          <a:bodyPr lIns="0" tIns="0" rIns="0" bIns="0" rtlCol="0" anchor="t">
            <a:spAutoFit/>
          </a:bodyPr>
          <a:lstStyle/>
          <a:p>
            <a:pPr algn="l">
              <a:lnSpc>
                <a:spcPts val="5130"/>
              </a:lnSpc>
            </a:pPr>
            <a:r>
              <a:rPr lang="en-US" sz="4275" b="1">
                <a:solidFill>
                  <a:srgbClr val="164673"/>
                </a:solidFill>
                <a:latin typeface="Montserrat Bold"/>
                <a:ea typeface="Montserrat Bold"/>
                <a:cs typeface="Montserrat Bold"/>
                <a:sym typeface="Montserrat Bold"/>
              </a:rPr>
              <a:t>CẢI TIẾN #4: HỌC LIÊN TỤC CHỐNG CONCEPT DRIFT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sp>
        <p:nvSpPr>
          <p:cNvPr id="4" name="TextBox 4"/>
          <p:cNvSpPr txBox="1"/>
          <p:nvPr/>
        </p:nvSpPr>
        <p:spPr>
          <a:xfrm>
            <a:off x="857250" y="1387669"/>
            <a:ext cx="16573500" cy="965749"/>
          </a:xfrm>
          <a:prstGeom prst="rect">
            <a:avLst/>
          </a:prstGeom>
        </p:spPr>
        <p:txBody>
          <a:bodyPr lIns="0" tIns="0" rIns="0" bIns="0" rtlCol="0" anchor="t">
            <a:spAutoFit/>
          </a:bodyPr>
          <a:lstStyle/>
          <a:p>
            <a:pPr algn="l">
              <a:lnSpc>
                <a:spcPts val="3887"/>
              </a:lnSpc>
            </a:pPr>
            <a:r>
              <a:rPr lang="en-US" sz="2025">
                <a:solidFill>
                  <a:srgbClr val="475569"/>
                </a:solidFill>
                <a:latin typeface="Open Sans"/>
                <a:ea typeface="Open Sans"/>
                <a:cs typeface="Open Sans"/>
                <a:sym typeface="Open Sans"/>
              </a:rPr>
              <a:t>Nếu không vi phạm bất kỳ luật nào dưới đây, điểm dữ liệu sẽ được chuyển cho ML và nếu bị flag sẽ mang nhãn </a:t>
            </a:r>
            <a:r>
              <a:rPr lang="en-US" sz="2025">
                <a:solidFill>
                  <a:srgbClr val="1E293B"/>
                </a:solidFill>
                <a:latin typeface="Open Sans"/>
                <a:ea typeface="Open Sans"/>
                <a:cs typeface="Open Sans"/>
                <a:sym typeface="Open Sans"/>
              </a:rPr>
              <a:t>"Statistical Outlier (IF+MCD)"</a:t>
            </a:r>
            <a:r>
              <a:rPr lang="en-US" sz="2025">
                <a:solidFill>
                  <a:srgbClr val="475569"/>
                </a:solidFill>
                <a:latin typeface="Open Sans"/>
                <a:ea typeface="Open Sans"/>
                <a:cs typeface="Open Sans"/>
                <a:sym typeface="Open Sans"/>
              </a:rPr>
              <a:t>.</a:t>
            </a:r>
          </a:p>
        </p:txBody>
      </p:sp>
      <p:graphicFrame>
        <p:nvGraphicFramePr>
          <p:cNvPr id="5" name="Table 5"/>
          <p:cNvGraphicFramePr>
            <a:graphicFrameLocks noGrp="1"/>
          </p:cNvGraphicFramePr>
          <p:nvPr/>
        </p:nvGraphicFramePr>
        <p:xfrm>
          <a:off x="857250" y="2496294"/>
          <a:ext cx="16535399" cy="7429500"/>
        </p:xfrm>
        <a:graphic>
          <a:graphicData uri="http://schemas.openxmlformats.org/drawingml/2006/table">
            <a:tbl>
              <a:tblPr/>
              <a:tblGrid>
                <a:gridCol w="1040522">
                  <a:extLst>
                    <a:ext uri="{9D8B030D-6E8A-4147-A177-3AD203B41FA5}">
                      <a16:colId xmlns:a16="http://schemas.microsoft.com/office/drawing/2014/main" val="20000"/>
                    </a:ext>
                  </a:extLst>
                </a:gridCol>
                <a:gridCol w="4896768">
                  <a:extLst>
                    <a:ext uri="{9D8B030D-6E8A-4147-A177-3AD203B41FA5}">
                      <a16:colId xmlns:a16="http://schemas.microsoft.com/office/drawing/2014/main" val="20001"/>
                    </a:ext>
                  </a:extLst>
                </a:gridCol>
                <a:gridCol w="8128136">
                  <a:extLst>
                    <a:ext uri="{9D8B030D-6E8A-4147-A177-3AD203B41FA5}">
                      <a16:colId xmlns:a16="http://schemas.microsoft.com/office/drawing/2014/main" val="20002"/>
                    </a:ext>
                  </a:extLst>
                </a:gridCol>
                <a:gridCol w="2469973">
                  <a:extLst>
                    <a:ext uri="{9D8B030D-6E8A-4147-A177-3AD203B41FA5}">
                      <a16:colId xmlns:a16="http://schemas.microsoft.com/office/drawing/2014/main" val="20003"/>
                    </a:ext>
                  </a:extLst>
                </a:gridCol>
              </a:tblGrid>
              <a:tr h="742950">
                <a:tc>
                  <a:txBody>
                    <a:bodyPr/>
                    <a:lstStyle/>
                    <a:p>
                      <a:pPr algn="ctr">
                        <a:lnSpc>
                          <a:spcPts val="2160"/>
                        </a:lnSpc>
                        <a:defRPr/>
                      </a:pPr>
                      <a:r>
                        <a:rPr lang="en-US" sz="1800" b="1">
                          <a:solidFill>
                            <a:srgbClr val="FFFFFF"/>
                          </a:solidFill>
                          <a:latin typeface="Montserrat Bold"/>
                          <a:ea typeface="Montserrat Bold"/>
                          <a:cs typeface="Montserrat Bold"/>
                          <a:sym typeface="Montserrat Bold"/>
                        </a:rPr>
                        <a:t>STT</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tc>
                  <a:txBody>
                    <a:bodyPr/>
                    <a:lstStyle/>
                    <a:p>
                      <a:pPr algn="ctr">
                        <a:lnSpc>
                          <a:spcPts val="2160"/>
                        </a:lnSpc>
                        <a:defRPr/>
                      </a:pPr>
                      <a:r>
                        <a:rPr lang="en-US" sz="1800" b="1">
                          <a:solidFill>
                            <a:srgbClr val="FFFFFF"/>
                          </a:solidFill>
                          <a:latin typeface="Montserrat Bold"/>
                          <a:ea typeface="Montserrat Bold"/>
                          <a:cs typeface="Montserrat Bold"/>
                          <a:sym typeface="Montserrat Bold"/>
                        </a:rPr>
                        <a:t>Loại bất thường</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tc>
                  <a:txBody>
                    <a:bodyPr/>
                    <a:lstStyle/>
                    <a:p>
                      <a:pPr algn="ctr">
                        <a:lnSpc>
                          <a:spcPts val="2160"/>
                        </a:lnSpc>
                        <a:defRPr/>
                      </a:pPr>
                      <a:r>
                        <a:rPr lang="en-US" sz="1800" b="1">
                          <a:solidFill>
                            <a:srgbClr val="FFFFFF"/>
                          </a:solidFill>
                          <a:latin typeface="Montserrat Bold"/>
                          <a:ea typeface="Montserrat Bold"/>
                          <a:cs typeface="Montserrat Bold"/>
                          <a:sym typeface="Montserrat Bold"/>
                        </a:rPr>
                        <a:t>Điều kiện</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tc>
                  <a:txBody>
                    <a:bodyPr/>
                    <a:lstStyle/>
                    <a:p>
                      <a:pPr algn="ctr">
                        <a:lnSpc>
                          <a:spcPts val="2160"/>
                        </a:lnSpc>
                        <a:defRPr/>
                      </a:pPr>
                      <a:r>
                        <a:rPr lang="en-US" sz="1800" b="1">
                          <a:solidFill>
                            <a:srgbClr val="FFFFFF"/>
                          </a:solidFill>
                          <a:latin typeface="Montserrat Bold"/>
                          <a:ea typeface="Montserrat Bold"/>
                          <a:cs typeface="Montserrat Bold"/>
                          <a:sym typeface="Montserrat Bold"/>
                        </a:rPr>
                        <a:t>Mức độ</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extLst>
                  <a:ext uri="{0D108BD9-81ED-4DB2-BD59-A6C34878D82A}">
                    <a16:rowId xmlns:a16="http://schemas.microsoft.com/office/drawing/2014/main" val="10000"/>
                  </a:ext>
                </a:extLst>
              </a:tr>
              <a:tr h="742950">
                <a:tc>
                  <a:txBody>
                    <a:bodyPr/>
                    <a:lstStyle/>
                    <a:p>
                      <a:pPr algn="ctr">
                        <a:lnSpc>
                          <a:spcPts val="2160"/>
                        </a:lnSpc>
                        <a:defRPr/>
                      </a:pPr>
                      <a:r>
                        <a:rPr lang="en-US" sz="1800">
                          <a:solidFill>
                            <a:srgbClr val="475569"/>
                          </a:solidFill>
                          <a:latin typeface="Open Sans"/>
                          <a:ea typeface="Open Sans"/>
                          <a:cs typeface="Open Sans"/>
                          <a:sym typeface="Open Sans"/>
                        </a:rPr>
                        <a:t>1</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b="1">
                          <a:solidFill>
                            <a:srgbClr val="475569"/>
                          </a:solidFill>
                          <a:latin typeface="Open Sans Bold"/>
                          <a:ea typeface="Open Sans Bold"/>
                          <a:cs typeface="Open Sans Bold"/>
                          <a:sym typeface="Open Sans Bold"/>
                        </a:rPr>
                        <a:t>Unrealistic Speed</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a:solidFill>
                            <a:srgbClr val="475569"/>
                          </a:solidFill>
                          <a:latin typeface="Open Sans"/>
                          <a:ea typeface="Open Sans"/>
                          <a:cs typeface="Open Sans"/>
                          <a:sym typeface="Open Sans"/>
                        </a:rPr>
                        <a:t>avg_speed &gt; 140 km/h</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b="1">
                          <a:solidFill>
                            <a:srgbClr val="EF4444"/>
                          </a:solidFill>
                          <a:latin typeface="Open Sans Bold"/>
                          <a:ea typeface="Open Sans Bold"/>
                          <a:cs typeface="Open Sans Bold"/>
                          <a:sym typeface="Open Sans Bold"/>
                        </a:rPr>
                        <a:t>HIGH</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1"/>
                  </a:ext>
                </a:extLst>
              </a:tr>
              <a:tr h="742950">
                <a:tc>
                  <a:txBody>
                    <a:bodyPr/>
                    <a:lstStyle/>
                    <a:p>
                      <a:pPr algn="ctr">
                        <a:lnSpc>
                          <a:spcPts val="2160"/>
                        </a:lnSpc>
                        <a:defRPr/>
                      </a:pPr>
                      <a:r>
                        <a:rPr lang="en-US" sz="1800">
                          <a:solidFill>
                            <a:srgbClr val="475569"/>
                          </a:solidFill>
                          <a:latin typeface="Open Sans"/>
                          <a:ea typeface="Open Sans"/>
                          <a:cs typeface="Open Sans"/>
                          <a:sym typeface="Open Sans"/>
                        </a:rPr>
                        <a:t>2</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b="1">
                          <a:solidFill>
                            <a:srgbClr val="475569"/>
                          </a:solidFill>
                          <a:latin typeface="Open Sans Bold"/>
                          <a:ea typeface="Open Sans Bold"/>
                          <a:cs typeface="Open Sans Bold"/>
                          <a:sym typeface="Open Sans Bold"/>
                        </a:rPr>
                        <a:t>Extremely High Fare/Mile</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a:solidFill>
                            <a:srgbClr val="475569"/>
                          </a:solidFill>
                          <a:latin typeface="Open Sans"/>
                          <a:ea typeface="Open Sans"/>
                          <a:cs typeface="Open Sans"/>
                          <a:sym typeface="Open Sans"/>
                        </a:rPr>
                        <a:t>fare_per_mile &gt; $15/mi</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b="1">
                          <a:solidFill>
                            <a:srgbClr val="EF4444"/>
                          </a:solidFill>
                          <a:latin typeface="Open Sans Bold"/>
                          <a:ea typeface="Open Sans Bold"/>
                          <a:cs typeface="Open Sans Bold"/>
                          <a:sym typeface="Open Sans Bold"/>
                        </a:rPr>
                        <a:t>HIGH</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742950">
                <a:tc>
                  <a:txBody>
                    <a:bodyPr/>
                    <a:lstStyle/>
                    <a:p>
                      <a:pPr algn="ctr">
                        <a:lnSpc>
                          <a:spcPts val="2160"/>
                        </a:lnSpc>
                        <a:defRPr/>
                      </a:pPr>
                      <a:r>
                        <a:rPr lang="en-US" sz="1800">
                          <a:solidFill>
                            <a:srgbClr val="475569"/>
                          </a:solidFill>
                          <a:latin typeface="Open Sans"/>
                          <a:ea typeface="Open Sans"/>
                          <a:cs typeface="Open Sans"/>
                          <a:sym typeface="Open Sans"/>
                        </a:rPr>
                        <a:t>3</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b="1">
                          <a:solidFill>
                            <a:srgbClr val="475569"/>
                          </a:solidFill>
                          <a:latin typeface="Open Sans Bold"/>
                          <a:ea typeface="Open Sans Bold"/>
                          <a:cs typeface="Open Sans Bold"/>
                          <a:sym typeface="Open Sans Bold"/>
                        </a:rPr>
                        <a:t>Short Trip, High Fare</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a:solidFill>
                            <a:srgbClr val="475569"/>
                          </a:solidFill>
                          <a:latin typeface="Open Sans"/>
                          <a:ea typeface="Open Sans"/>
                          <a:cs typeface="Open Sans"/>
                          <a:sym typeface="Open Sans"/>
                        </a:rPr>
                        <a:t>duration &lt; 120s VÀ fare &gt; $50</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b="1">
                          <a:solidFill>
                            <a:srgbClr val="EF4444"/>
                          </a:solidFill>
                          <a:latin typeface="Open Sans Bold"/>
                          <a:ea typeface="Open Sans Bold"/>
                          <a:cs typeface="Open Sans Bold"/>
                          <a:sym typeface="Open Sans Bold"/>
                        </a:rPr>
                        <a:t>HIGH</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3"/>
                  </a:ext>
                </a:extLst>
              </a:tr>
              <a:tr h="742950">
                <a:tc>
                  <a:txBody>
                    <a:bodyPr/>
                    <a:lstStyle/>
                    <a:p>
                      <a:pPr algn="ctr">
                        <a:lnSpc>
                          <a:spcPts val="2160"/>
                        </a:lnSpc>
                        <a:defRPr/>
                      </a:pPr>
                      <a:r>
                        <a:rPr lang="en-US" sz="1800">
                          <a:solidFill>
                            <a:srgbClr val="475569"/>
                          </a:solidFill>
                          <a:latin typeface="Open Sans"/>
                          <a:ea typeface="Open Sans"/>
                          <a:cs typeface="Open Sans"/>
                          <a:sym typeface="Open Sans"/>
                        </a:rPr>
                        <a:t>4</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b="1">
                          <a:solidFill>
                            <a:srgbClr val="475569"/>
                          </a:solidFill>
                          <a:latin typeface="Open Sans Bold"/>
                          <a:ea typeface="Open Sans Bold"/>
                          <a:cs typeface="Open Sans Bold"/>
                          <a:sym typeface="Open Sans Bold"/>
                        </a:rPr>
                        <a:t>Suspiciously Low Fare</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a:solidFill>
                            <a:srgbClr val="475569"/>
                          </a:solidFill>
                          <a:latin typeface="Open Sans"/>
                          <a:ea typeface="Open Sans"/>
                          <a:cs typeface="Open Sans"/>
                          <a:sym typeface="Open Sans"/>
                        </a:rPr>
                        <a:t>fare &lt; $2.5 VÀ distance &gt; 0.5mi</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b="1">
                          <a:solidFill>
                            <a:srgbClr val="EF4444"/>
                          </a:solidFill>
                          <a:latin typeface="Open Sans Bold"/>
                          <a:ea typeface="Open Sans Bold"/>
                          <a:cs typeface="Open Sans Bold"/>
                          <a:sym typeface="Open Sans Bold"/>
                        </a:rPr>
                        <a:t>HIGH</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742950">
                <a:tc>
                  <a:txBody>
                    <a:bodyPr/>
                    <a:lstStyle/>
                    <a:p>
                      <a:pPr algn="ctr">
                        <a:lnSpc>
                          <a:spcPts val="2160"/>
                        </a:lnSpc>
                        <a:defRPr/>
                      </a:pPr>
                      <a:r>
                        <a:rPr lang="en-US" sz="1800">
                          <a:solidFill>
                            <a:srgbClr val="475569"/>
                          </a:solidFill>
                          <a:latin typeface="Open Sans"/>
                          <a:ea typeface="Open Sans"/>
                          <a:cs typeface="Open Sans"/>
                          <a:sym typeface="Open Sans"/>
                        </a:rPr>
                        <a:t>5</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b="1">
                          <a:solidFill>
                            <a:srgbClr val="475569"/>
                          </a:solidFill>
                          <a:latin typeface="Open Sans Bold"/>
                          <a:ea typeface="Open Sans Bold"/>
                          <a:cs typeface="Open Sans Bold"/>
                          <a:sym typeface="Open Sans Bold"/>
                        </a:rPr>
                        <a:t>Long Duration, Short Dist</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a:solidFill>
                            <a:srgbClr val="475569"/>
                          </a:solidFill>
                          <a:latin typeface="Open Sans"/>
                          <a:ea typeface="Open Sans"/>
                          <a:cs typeface="Open Sans"/>
                          <a:sym typeface="Open Sans"/>
                        </a:rPr>
                        <a:t>duration &gt; 7200s VÀ distance &lt; 5mi</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b="1">
                          <a:solidFill>
                            <a:srgbClr val="FF751F"/>
                          </a:solidFill>
                          <a:latin typeface="Open Sans Bold"/>
                          <a:ea typeface="Open Sans Bold"/>
                          <a:cs typeface="Open Sans Bold"/>
                          <a:sym typeface="Open Sans Bold"/>
                        </a:rPr>
                        <a:t>MED</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5"/>
                  </a:ext>
                </a:extLst>
              </a:tr>
              <a:tr h="742950">
                <a:tc>
                  <a:txBody>
                    <a:bodyPr/>
                    <a:lstStyle/>
                    <a:p>
                      <a:pPr algn="ctr">
                        <a:lnSpc>
                          <a:spcPts val="2160"/>
                        </a:lnSpc>
                        <a:defRPr/>
                      </a:pPr>
                      <a:r>
                        <a:rPr lang="en-US" sz="1800">
                          <a:solidFill>
                            <a:srgbClr val="475569"/>
                          </a:solidFill>
                          <a:latin typeface="Open Sans"/>
                          <a:ea typeface="Open Sans"/>
                          <a:cs typeface="Open Sans"/>
                          <a:sym typeface="Open Sans"/>
                        </a:rPr>
                        <a:t>6</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b="1">
                          <a:solidFill>
                            <a:srgbClr val="475569"/>
                          </a:solidFill>
                          <a:latin typeface="Open Sans Bold"/>
                          <a:ea typeface="Open Sans Bold"/>
                          <a:cs typeface="Open Sans Bold"/>
                          <a:sym typeface="Open Sans Bold"/>
                        </a:rPr>
                        <a:t>Zero Passengers</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a:solidFill>
                            <a:srgbClr val="475569"/>
                          </a:solidFill>
                          <a:latin typeface="Open Sans"/>
                          <a:ea typeface="Open Sans"/>
                          <a:cs typeface="Open Sans"/>
                          <a:sym typeface="Open Sans"/>
                        </a:rPr>
                        <a:t>passenger_count = 0</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b="1">
                          <a:solidFill>
                            <a:srgbClr val="FF751F"/>
                          </a:solidFill>
                          <a:latin typeface="Open Sans Bold"/>
                          <a:ea typeface="Open Sans Bold"/>
                          <a:cs typeface="Open Sans Bold"/>
                          <a:sym typeface="Open Sans Bold"/>
                        </a:rPr>
                        <a:t>MED</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r h="742950">
                <a:tc>
                  <a:txBody>
                    <a:bodyPr/>
                    <a:lstStyle/>
                    <a:p>
                      <a:pPr algn="ctr">
                        <a:lnSpc>
                          <a:spcPts val="2160"/>
                        </a:lnSpc>
                        <a:defRPr/>
                      </a:pPr>
                      <a:r>
                        <a:rPr lang="en-US" sz="1800">
                          <a:solidFill>
                            <a:srgbClr val="475569"/>
                          </a:solidFill>
                          <a:latin typeface="Open Sans"/>
                          <a:ea typeface="Open Sans"/>
                          <a:cs typeface="Open Sans"/>
                          <a:sym typeface="Open Sans"/>
                        </a:rPr>
                        <a:t>7</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b="1">
                          <a:solidFill>
                            <a:srgbClr val="475569"/>
                          </a:solidFill>
                          <a:latin typeface="Open Sans Bold"/>
                          <a:ea typeface="Open Sans Bold"/>
                          <a:cs typeface="Open Sans Bold"/>
                          <a:sym typeface="Open Sans Bold"/>
                        </a:rPr>
                        <a:t>Night-time Speeding</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a:solidFill>
                            <a:srgbClr val="475569"/>
                          </a:solidFill>
                          <a:latin typeface="Open Sans"/>
                          <a:ea typeface="Open Sans"/>
                          <a:cs typeface="Open Sans"/>
                          <a:sym typeface="Open Sans"/>
                        </a:rPr>
                        <a:t>is_night=1 VÀ speed &gt; 100 km/h</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b="1">
                          <a:solidFill>
                            <a:srgbClr val="FF751F"/>
                          </a:solidFill>
                          <a:latin typeface="Open Sans Bold"/>
                          <a:ea typeface="Open Sans Bold"/>
                          <a:cs typeface="Open Sans Bold"/>
                          <a:sym typeface="Open Sans Bold"/>
                        </a:rPr>
                        <a:t>MED</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7"/>
                  </a:ext>
                </a:extLst>
              </a:tr>
              <a:tr h="742950">
                <a:tc>
                  <a:txBody>
                    <a:bodyPr/>
                    <a:lstStyle/>
                    <a:p>
                      <a:pPr algn="ctr">
                        <a:lnSpc>
                          <a:spcPts val="2160"/>
                        </a:lnSpc>
                        <a:defRPr/>
                      </a:pPr>
                      <a:r>
                        <a:rPr lang="en-US" sz="1800">
                          <a:solidFill>
                            <a:srgbClr val="475569"/>
                          </a:solidFill>
                          <a:latin typeface="Open Sans"/>
                          <a:ea typeface="Open Sans"/>
                          <a:cs typeface="Open Sans"/>
                          <a:sym typeface="Open Sans"/>
                        </a:rPr>
                        <a:t>8</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b="1">
                          <a:solidFill>
                            <a:srgbClr val="475569"/>
                          </a:solidFill>
                          <a:latin typeface="Open Sans Bold"/>
                          <a:ea typeface="Open Sans Bold"/>
                          <a:cs typeface="Open Sans Bold"/>
                          <a:sym typeface="Open Sans Bold"/>
                        </a:rPr>
                        <a:t>Extreme Fare Amount</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a:solidFill>
                            <a:srgbClr val="475569"/>
                          </a:solidFill>
                          <a:latin typeface="Open Sans"/>
                          <a:ea typeface="Open Sans"/>
                          <a:cs typeface="Open Sans"/>
                          <a:sym typeface="Open Sans"/>
                        </a:rPr>
                        <a:t>fare_amount &gt; $150</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b="1">
                          <a:solidFill>
                            <a:srgbClr val="EF4444"/>
                          </a:solidFill>
                          <a:latin typeface="Open Sans Bold"/>
                          <a:ea typeface="Open Sans Bold"/>
                          <a:cs typeface="Open Sans Bold"/>
                          <a:sym typeface="Open Sans Bold"/>
                        </a:rPr>
                        <a:t>HIGH</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8"/>
                  </a:ext>
                </a:extLst>
              </a:tr>
              <a:tr h="742950">
                <a:tc>
                  <a:txBody>
                    <a:bodyPr/>
                    <a:lstStyle/>
                    <a:p>
                      <a:pPr algn="ctr">
                        <a:lnSpc>
                          <a:spcPts val="2160"/>
                        </a:lnSpc>
                        <a:defRPr/>
                      </a:pPr>
                      <a:r>
                        <a:rPr lang="en-US" sz="1800">
                          <a:solidFill>
                            <a:srgbClr val="475569"/>
                          </a:solidFill>
                          <a:latin typeface="Open Sans"/>
                          <a:ea typeface="Open Sans"/>
                          <a:cs typeface="Open Sans"/>
                          <a:sym typeface="Open Sans"/>
                        </a:rPr>
                        <a:t>9</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b="1">
                          <a:solidFill>
                            <a:srgbClr val="475569"/>
                          </a:solidFill>
                          <a:latin typeface="Open Sans Bold"/>
                          <a:ea typeface="Open Sans Bold"/>
                          <a:cs typeface="Open Sans Bold"/>
                          <a:sym typeface="Open Sans Bold"/>
                        </a:rPr>
                        <a:t>Very Long Trip, Low Rate</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a:solidFill>
                            <a:srgbClr val="475569"/>
                          </a:solidFill>
                          <a:latin typeface="Open Sans"/>
                          <a:ea typeface="Open Sans"/>
                          <a:cs typeface="Open Sans"/>
                          <a:sym typeface="Open Sans"/>
                        </a:rPr>
                        <a:t>distance &gt; 50mi VÀ fare_per_mile &lt; $1</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b="1">
                          <a:solidFill>
                            <a:srgbClr val="FF751F"/>
                          </a:solidFill>
                          <a:latin typeface="Open Sans Bold"/>
                          <a:ea typeface="Open Sans Bold"/>
                          <a:cs typeface="Open Sans Bold"/>
                          <a:sym typeface="Open Sans Bold"/>
                        </a:rPr>
                        <a:t>MED</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9"/>
                  </a:ext>
                </a:extLst>
              </a:tr>
            </a:tbl>
          </a:graphicData>
        </a:graphic>
      </p:graphicFrame>
      <p:grpSp>
        <p:nvGrpSpPr>
          <p:cNvPr id="6" name="Group 6"/>
          <p:cNvGrpSpPr/>
          <p:nvPr/>
        </p:nvGrpSpPr>
        <p:grpSpPr>
          <a:xfrm>
            <a:off x="857250" y="3879275"/>
            <a:ext cx="1021556" cy="14288"/>
            <a:chOff x="0" y="0"/>
            <a:chExt cx="1362075" cy="19050"/>
          </a:xfrm>
        </p:grpSpPr>
        <p:sp>
          <p:nvSpPr>
            <p:cNvPr id="7" name="Freeform 7"/>
            <p:cNvSpPr/>
            <p:nvPr/>
          </p:nvSpPr>
          <p:spPr>
            <a:xfrm>
              <a:off x="0" y="0"/>
              <a:ext cx="1362075" cy="19050"/>
            </a:xfrm>
            <a:custGeom>
              <a:avLst/>
              <a:gdLst/>
              <a:ahLst/>
              <a:cxnLst/>
              <a:rect l="l" t="t" r="r" b="b"/>
              <a:pathLst>
                <a:path w="1362075" h="19050">
                  <a:moveTo>
                    <a:pt x="0" y="0"/>
                  </a:moveTo>
                  <a:lnTo>
                    <a:pt x="1362075" y="0"/>
                  </a:lnTo>
                  <a:lnTo>
                    <a:pt x="1362075" y="19050"/>
                  </a:lnTo>
                  <a:lnTo>
                    <a:pt x="0" y="19050"/>
                  </a:lnTo>
                  <a:close/>
                </a:path>
              </a:pathLst>
            </a:custGeom>
            <a:solidFill>
              <a:srgbClr val="E2E8F0"/>
            </a:solidFill>
          </p:spPr>
          <p:txBody>
            <a:bodyPr/>
            <a:lstStyle/>
            <a:p>
              <a:endParaRPr lang="vi-VN"/>
            </a:p>
          </p:txBody>
        </p:sp>
      </p:grpSp>
      <p:grpSp>
        <p:nvGrpSpPr>
          <p:cNvPr id="8" name="Group 8"/>
          <p:cNvGrpSpPr/>
          <p:nvPr/>
        </p:nvGrpSpPr>
        <p:grpSpPr>
          <a:xfrm>
            <a:off x="1878806" y="3879275"/>
            <a:ext cx="4913338" cy="14288"/>
            <a:chOff x="0" y="0"/>
            <a:chExt cx="6551117" cy="19050"/>
          </a:xfrm>
        </p:grpSpPr>
        <p:sp>
          <p:nvSpPr>
            <p:cNvPr id="9" name="Freeform 9"/>
            <p:cNvSpPr/>
            <p:nvPr/>
          </p:nvSpPr>
          <p:spPr>
            <a:xfrm>
              <a:off x="0" y="0"/>
              <a:ext cx="6551168" cy="19050"/>
            </a:xfrm>
            <a:custGeom>
              <a:avLst/>
              <a:gdLst/>
              <a:ahLst/>
              <a:cxnLst/>
              <a:rect l="l" t="t" r="r" b="b"/>
              <a:pathLst>
                <a:path w="6551168" h="19050">
                  <a:moveTo>
                    <a:pt x="0" y="0"/>
                  </a:moveTo>
                  <a:lnTo>
                    <a:pt x="6551168" y="0"/>
                  </a:lnTo>
                  <a:lnTo>
                    <a:pt x="6551168" y="19050"/>
                  </a:lnTo>
                  <a:lnTo>
                    <a:pt x="0" y="19050"/>
                  </a:lnTo>
                  <a:close/>
                </a:path>
              </a:pathLst>
            </a:custGeom>
            <a:solidFill>
              <a:srgbClr val="E2E8F0"/>
            </a:solidFill>
          </p:spPr>
          <p:txBody>
            <a:bodyPr/>
            <a:lstStyle/>
            <a:p>
              <a:endParaRPr lang="vi-VN"/>
            </a:p>
          </p:txBody>
        </p:sp>
      </p:grpSp>
      <p:grpSp>
        <p:nvGrpSpPr>
          <p:cNvPr id="10" name="Group 10"/>
          <p:cNvGrpSpPr/>
          <p:nvPr/>
        </p:nvGrpSpPr>
        <p:grpSpPr>
          <a:xfrm>
            <a:off x="6792144" y="3879275"/>
            <a:ext cx="8174460" cy="14288"/>
            <a:chOff x="0" y="0"/>
            <a:chExt cx="10899280" cy="19050"/>
          </a:xfrm>
        </p:grpSpPr>
        <p:sp>
          <p:nvSpPr>
            <p:cNvPr id="11" name="Freeform 11"/>
            <p:cNvSpPr/>
            <p:nvPr/>
          </p:nvSpPr>
          <p:spPr>
            <a:xfrm>
              <a:off x="0" y="0"/>
              <a:ext cx="10899267" cy="19050"/>
            </a:xfrm>
            <a:custGeom>
              <a:avLst/>
              <a:gdLst/>
              <a:ahLst/>
              <a:cxnLst/>
              <a:rect l="l" t="t" r="r" b="b"/>
              <a:pathLst>
                <a:path w="10899267" h="19050">
                  <a:moveTo>
                    <a:pt x="0" y="0"/>
                  </a:moveTo>
                  <a:lnTo>
                    <a:pt x="10899267" y="0"/>
                  </a:lnTo>
                  <a:lnTo>
                    <a:pt x="10899267" y="19050"/>
                  </a:lnTo>
                  <a:lnTo>
                    <a:pt x="0" y="19050"/>
                  </a:lnTo>
                  <a:close/>
                </a:path>
              </a:pathLst>
            </a:custGeom>
            <a:solidFill>
              <a:srgbClr val="E2E8F0"/>
            </a:solidFill>
          </p:spPr>
          <p:txBody>
            <a:bodyPr/>
            <a:lstStyle/>
            <a:p>
              <a:endParaRPr lang="vi-VN"/>
            </a:p>
          </p:txBody>
        </p:sp>
      </p:grpSp>
      <p:grpSp>
        <p:nvGrpSpPr>
          <p:cNvPr id="12" name="Group 12"/>
          <p:cNvGrpSpPr/>
          <p:nvPr/>
        </p:nvGrpSpPr>
        <p:grpSpPr>
          <a:xfrm>
            <a:off x="14966604" y="3879275"/>
            <a:ext cx="2464146" cy="14288"/>
            <a:chOff x="0" y="0"/>
            <a:chExt cx="3285528" cy="19050"/>
          </a:xfrm>
        </p:grpSpPr>
        <p:sp>
          <p:nvSpPr>
            <p:cNvPr id="13" name="Freeform 13"/>
            <p:cNvSpPr/>
            <p:nvPr/>
          </p:nvSpPr>
          <p:spPr>
            <a:xfrm>
              <a:off x="0" y="0"/>
              <a:ext cx="3285490" cy="19050"/>
            </a:xfrm>
            <a:custGeom>
              <a:avLst/>
              <a:gdLst/>
              <a:ahLst/>
              <a:cxnLst/>
              <a:rect l="l" t="t" r="r" b="b"/>
              <a:pathLst>
                <a:path w="3285490" h="19050">
                  <a:moveTo>
                    <a:pt x="0" y="0"/>
                  </a:moveTo>
                  <a:lnTo>
                    <a:pt x="3285490" y="0"/>
                  </a:lnTo>
                  <a:lnTo>
                    <a:pt x="3285490" y="19050"/>
                  </a:lnTo>
                  <a:lnTo>
                    <a:pt x="0" y="19050"/>
                  </a:lnTo>
                  <a:close/>
                </a:path>
              </a:pathLst>
            </a:custGeom>
            <a:solidFill>
              <a:srgbClr val="E2E8F0"/>
            </a:solidFill>
          </p:spPr>
          <p:txBody>
            <a:bodyPr/>
            <a:lstStyle/>
            <a:p>
              <a:endParaRPr lang="vi-VN"/>
            </a:p>
          </p:txBody>
        </p:sp>
      </p:grpSp>
      <p:grpSp>
        <p:nvGrpSpPr>
          <p:cNvPr id="14" name="Group 14"/>
          <p:cNvGrpSpPr/>
          <p:nvPr/>
        </p:nvGrpSpPr>
        <p:grpSpPr>
          <a:xfrm>
            <a:off x="857250" y="4647905"/>
            <a:ext cx="1021556" cy="14288"/>
            <a:chOff x="0" y="0"/>
            <a:chExt cx="1362075" cy="19050"/>
          </a:xfrm>
        </p:grpSpPr>
        <p:sp>
          <p:nvSpPr>
            <p:cNvPr id="15" name="Freeform 15"/>
            <p:cNvSpPr/>
            <p:nvPr/>
          </p:nvSpPr>
          <p:spPr>
            <a:xfrm>
              <a:off x="0" y="0"/>
              <a:ext cx="1362075" cy="19050"/>
            </a:xfrm>
            <a:custGeom>
              <a:avLst/>
              <a:gdLst/>
              <a:ahLst/>
              <a:cxnLst/>
              <a:rect l="l" t="t" r="r" b="b"/>
              <a:pathLst>
                <a:path w="1362075" h="19050">
                  <a:moveTo>
                    <a:pt x="0" y="0"/>
                  </a:moveTo>
                  <a:lnTo>
                    <a:pt x="1362075" y="0"/>
                  </a:lnTo>
                  <a:lnTo>
                    <a:pt x="1362075" y="19050"/>
                  </a:lnTo>
                  <a:lnTo>
                    <a:pt x="0" y="19050"/>
                  </a:lnTo>
                  <a:close/>
                </a:path>
              </a:pathLst>
            </a:custGeom>
            <a:solidFill>
              <a:srgbClr val="E2E8F0"/>
            </a:solidFill>
          </p:spPr>
          <p:txBody>
            <a:bodyPr/>
            <a:lstStyle/>
            <a:p>
              <a:endParaRPr lang="vi-VN"/>
            </a:p>
          </p:txBody>
        </p:sp>
      </p:grpSp>
      <p:grpSp>
        <p:nvGrpSpPr>
          <p:cNvPr id="16" name="Group 16"/>
          <p:cNvGrpSpPr/>
          <p:nvPr/>
        </p:nvGrpSpPr>
        <p:grpSpPr>
          <a:xfrm>
            <a:off x="1878806" y="4647905"/>
            <a:ext cx="4913338" cy="14288"/>
            <a:chOff x="0" y="0"/>
            <a:chExt cx="6551117" cy="19050"/>
          </a:xfrm>
        </p:grpSpPr>
        <p:sp>
          <p:nvSpPr>
            <p:cNvPr id="17" name="Freeform 17"/>
            <p:cNvSpPr/>
            <p:nvPr/>
          </p:nvSpPr>
          <p:spPr>
            <a:xfrm>
              <a:off x="0" y="0"/>
              <a:ext cx="6551168" cy="19050"/>
            </a:xfrm>
            <a:custGeom>
              <a:avLst/>
              <a:gdLst/>
              <a:ahLst/>
              <a:cxnLst/>
              <a:rect l="l" t="t" r="r" b="b"/>
              <a:pathLst>
                <a:path w="6551168" h="19050">
                  <a:moveTo>
                    <a:pt x="0" y="0"/>
                  </a:moveTo>
                  <a:lnTo>
                    <a:pt x="6551168" y="0"/>
                  </a:lnTo>
                  <a:lnTo>
                    <a:pt x="6551168" y="19050"/>
                  </a:lnTo>
                  <a:lnTo>
                    <a:pt x="0" y="19050"/>
                  </a:lnTo>
                  <a:close/>
                </a:path>
              </a:pathLst>
            </a:custGeom>
            <a:solidFill>
              <a:srgbClr val="E2E8F0"/>
            </a:solidFill>
          </p:spPr>
          <p:txBody>
            <a:bodyPr/>
            <a:lstStyle/>
            <a:p>
              <a:endParaRPr lang="vi-VN"/>
            </a:p>
          </p:txBody>
        </p:sp>
      </p:grpSp>
      <p:grpSp>
        <p:nvGrpSpPr>
          <p:cNvPr id="18" name="Group 18"/>
          <p:cNvGrpSpPr/>
          <p:nvPr/>
        </p:nvGrpSpPr>
        <p:grpSpPr>
          <a:xfrm>
            <a:off x="6792144" y="4647905"/>
            <a:ext cx="8174460" cy="14288"/>
            <a:chOff x="0" y="0"/>
            <a:chExt cx="10899280" cy="19050"/>
          </a:xfrm>
        </p:grpSpPr>
        <p:sp>
          <p:nvSpPr>
            <p:cNvPr id="19" name="Freeform 19"/>
            <p:cNvSpPr/>
            <p:nvPr/>
          </p:nvSpPr>
          <p:spPr>
            <a:xfrm>
              <a:off x="0" y="0"/>
              <a:ext cx="10899267" cy="19050"/>
            </a:xfrm>
            <a:custGeom>
              <a:avLst/>
              <a:gdLst/>
              <a:ahLst/>
              <a:cxnLst/>
              <a:rect l="l" t="t" r="r" b="b"/>
              <a:pathLst>
                <a:path w="10899267" h="19050">
                  <a:moveTo>
                    <a:pt x="0" y="0"/>
                  </a:moveTo>
                  <a:lnTo>
                    <a:pt x="10899267" y="0"/>
                  </a:lnTo>
                  <a:lnTo>
                    <a:pt x="10899267" y="19050"/>
                  </a:lnTo>
                  <a:lnTo>
                    <a:pt x="0" y="19050"/>
                  </a:lnTo>
                  <a:close/>
                </a:path>
              </a:pathLst>
            </a:custGeom>
            <a:solidFill>
              <a:srgbClr val="E2E8F0"/>
            </a:solidFill>
          </p:spPr>
          <p:txBody>
            <a:bodyPr/>
            <a:lstStyle/>
            <a:p>
              <a:endParaRPr lang="vi-VN"/>
            </a:p>
          </p:txBody>
        </p:sp>
      </p:grpSp>
      <p:grpSp>
        <p:nvGrpSpPr>
          <p:cNvPr id="20" name="Group 20"/>
          <p:cNvGrpSpPr/>
          <p:nvPr/>
        </p:nvGrpSpPr>
        <p:grpSpPr>
          <a:xfrm>
            <a:off x="14966604" y="4647905"/>
            <a:ext cx="2464146" cy="14288"/>
            <a:chOff x="0" y="0"/>
            <a:chExt cx="3285528" cy="19050"/>
          </a:xfrm>
        </p:grpSpPr>
        <p:sp>
          <p:nvSpPr>
            <p:cNvPr id="21" name="Freeform 21"/>
            <p:cNvSpPr/>
            <p:nvPr/>
          </p:nvSpPr>
          <p:spPr>
            <a:xfrm>
              <a:off x="0" y="0"/>
              <a:ext cx="3285490" cy="19050"/>
            </a:xfrm>
            <a:custGeom>
              <a:avLst/>
              <a:gdLst/>
              <a:ahLst/>
              <a:cxnLst/>
              <a:rect l="l" t="t" r="r" b="b"/>
              <a:pathLst>
                <a:path w="3285490" h="19050">
                  <a:moveTo>
                    <a:pt x="0" y="0"/>
                  </a:moveTo>
                  <a:lnTo>
                    <a:pt x="3285490" y="0"/>
                  </a:lnTo>
                  <a:lnTo>
                    <a:pt x="3285490" y="19050"/>
                  </a:lnTo>
                  <a:lnTo>
                    <a:pt x="0" y="19050"/>
                  </a:lnTo>
                  <a:close/>
                </a:path>
              </a:pathLst>
            </a:custGeom>
            <a:solidFill>
              <a:srgbClr val="E2E8F0"/>
            </a:solidFill>
          </p:spPr>
          <p:txBody>
            <a:bodyPr/>
            <a:lstStyle/>
            <a:p>
              <a:endParaRPr lang="vi-VN"/>
            </a:p>
          </p:txBody>
        </p:sp>
      </p:grpSp>
      <p:grpSp>
        <p:nvGrpSpPr>
          <p:cNvPr id="22" name="Group 22"/>
          <p:cNvGrpSpPr/>
          <p:nvPr/>
        </p:nvGrpSpPr>
        <p:grpSpPr>
          <a:xfrm>
            <a:off x="857250" y="5416525"/>
            <a:ext cx="1021556" cy="14288"/>
            <a:chOff x="0" y="0"/>
            <a:chExt cx="1362075" cy="19050"/>
          </a:xfrm>
        </p:grpSpPr>
        <p:sp>
          <p:nvSpPr>
            <p:cNvPr id="23" name="Freeform 23"/>
            <p:cNvSpPr/>
            <p:nvPr/>
          </p:nvSpPr>
          <p:spPr>
            <a:xfrm>
              <a:off x="0" y="0"/>
              <a:ext cx="1362075" cy="19050"/>
            </a:xfrm>
            <a:custGeom>
              <a:avLst/>
              <a:gdLst/>
              <a:ahLst/>
              <a:cxnLst/>
              <a:rect l="l" t="t" r="r" b="b"/>
              <a:pathLst>
                <a:path w="1362075" h="19050">
                  <a:moveTo>
                    <a:pt x="0" y="0"/>
                  </a:moveTo>
                  <a:lnTo>
                    <a:pt x="1362075" y="0"/>
                  </a:lnTo>
                  <a:lnTo>
                    <a:pt x="1362075" y="19050"/>
                  </a:lnTo>
                  <a:lnTo>
                    <a:pt x="0" y="19050"/>
                  </a:lnTo>
                  <a:close/>
                </a:path>
              </a:pathLst>
            </a:custGeom>
            <a:solidFill>
              <a:srgbClr val="E2E8F0"/>
            </a:solidFill>
          </p:spPr>
          <p:txBody>
            <a:bodyPr/>
            <a:lstStyle/>
            <a:p>
              <a:endParaRPr lang="vi-VN"/>
            </a:p>
          </p:txBody>
        </p:sp>
      </p:grpSp>
      <p:grpSp>
        <p:nvGrpSpPr>
          <p:cNvPr id="24" name="Group 24"/>
          <p:cNvGrpSpPr/>
          <p:nvPr/>
        </p:nvGrpSpPr>
        <p:grpSpPr>
          <a:xfrm>
            <a:off x="1878806" y="5416525"/>
            <a:ext cx="4913338" cy="14288"/>
            <a:chOff x="0" y="0"/>
            <a:chExt cx="6551117" cy="19050"/>
          </a:xfrm>
        </p:grpSpPr>
        <p:sp>
          <p:nvSpPr>
            <p:cNvPr id="25" name="Freeform 25"/>
            <p:cNvSpPr/>
            <p:nvPr/>
          </p:nvSpPr>
          <p:spPr>
            <a:xfrm>
              <a:off x="0" y="0"/>
              <a:ext cx="6551168" cy="19050"/>
            </a:xfrm>
            <a:custGeom>
              <a:avLst/>
              <a:gdLst/>
              <a:ahLst/>
              <a:cxnLst/>
              <a:rect l="l" t="t" r="r" b="b"/>
              <a:pathLst>
                <a:path w="6551168" h="19050">
                  <a:moveTo>
                    <a:pt x="0" y="0"/>
                  </a:moveTo>
                  <a:lnTo>
                    <a:pt x="6551168" y="0"/>
                  </a:lnTo>
                  <a:lnTo>
                    <a:pt x="6551168" y="19050"/>
                  </a:lnTo>
                  <a:lnTo>
                    <a:pt x="0" y="19050"/>
                  </a:lnTo>
                  <a:close/>
                </a:path>
              </a:pathLst>
            </a:custGeom>
            <a:solidFill>
              <a:srgbClr val="E2E8F0"/>
            </a:solidFill>
          </p:spPr>
          <p:txBody>
            <a:bodyPr/>
            <a:lstStyle/>
            <a:p>
              <a:endParaRPr lang="vi-VN"/>
            </a:p>
          </p:txBody>
        </p:sp>
      </p:grpSp>
      <p:grpSp>
        <p:nvGrpSpPr>
          <p:cNvPr id="26" name="Group 26"/>
          <p:cNvGrpSpPr/>
          <p:nvPr/>
        </p:nvGrpSpPr>
        <p:grpSpPr>
          <a:xfrm>
            <a:off x="6792144" y="5416525"/>
            <a:ext cx="8174460" cy="14288"/>
            <a:chOff x="0" y="0"/>
            <a:chExt cx="10899280" cy="19050"/>
          </a:xfrm>
        </p:grpSpPr>
        <p:sp>
          <p:nvSpPr>
            <p:cNvPr id="27" name="Freeform 27"/>
            <p:cNvSpPr/>
            <p:nvPr/>
          </p:nvSpPr>
          <p:spPr>
            <a:xfrm>
              <a:off x="0" y="0"/>
              <a:ext cx="10899267" cy="19050"/>
            </a:xfrm>
            <a:custGeom>
              <a:avLst/>
              <a:gdLst/>
              <a:ahLst/>
              <a:cxnLst/>
              <a:rect l="l" t="t" r="r" b="b"/>
              <a:pathLst>
                <a:path w="10899267" h="19050">
                  <a:moveTo>
                    <a:pt x="0" y="0"/>
                  </a:moveTo>
                  <a:lnTo>
                    <a:pt x="10899267" y="0"/>
                  </a:lnTo>
                  <a:lnTo>
                    <a:pt x="10899267" y="19050"/>
                  </a:lnTo>
                  <a:lnTo>
                    <a:pt x="0" y="19050"/>
                  </a:lnTo>
                  <a:close/>
                </a:path>
              </a:pathLst>
            </a:custGeom>
            <a:solidFill>
              <a:srgbClr val="E2E8F0"/>
            </a:solidFill>
          </p:spPr>
          <p:txBody>
            <a:bodyPr/>
            <a:lstStyle/>
            <a:p>
              <a:endParaRPr lang="vi-VN"/>
            </a:p>
          </p:txBody>
        </p:sp>
      </p:grpSp>
      <p:grpSp>
        <p:nvGrpSpPr>
          <p:cNvPr id="28" name="Group 28"/>
          <p:cNvGrpSpPr/>
          <p:nvPr/>
        </p:nvGrpSpPr>
        <p:grpSpPr>
          <a:xfrm>
            <a:off x="14966604" y="5416525"/>
            <a:ext cx="2464146" cy="14288"/>
            <a:chOff x="0" y="0"/>
            <a:chExt cx="3285528" cy="19050"/>
          </a:xfrm>
        </p:grpSpPr>
        <p:sp>
          <p:nvSpPr>
            <p:cNvPr id="29" name="Freeform 29"/>
            <p:cNvSpPr/>
            <p:nvPr/>
          </p:nvSpPr>
          <p:spPr>
            <a:xfrm>
              <a:off x="0" y="0"/>
              <a:ext cx="3285490" cy="19050"/>
            </a:xfrm>
            <a:custGeom>
              <a:avLst/>
              <a:gdLst/>
              <a:ahLst/>
              <a:cxnLst/>
              <a:rect l="l" t="t" r="r" b="b"/>
              <a:pathLst>
                <a:path w="3285490" h="19050">
                  <a:moveTo>
                    <a:pt x="0" y="0"/>
                  </a:moveTo>
                  <a:lnTo>
                    <a:pt x="3285490" y="0"/>
                  </a:lnTo>
                  <a:lnTo>
                    <a:pt x="3285490" y="19050"/>
                  </a:lnTo>
                  <a:lnTo>
                    <a:pt x="0" y="19050"/>
                  </a:lnTo>
                  <a:close/>
                </a:path>
              </a:pathLst>
            </a:custGeom>
            <a:solidFill>
              <a:srgbClr val="E2E8F0"/>
            </a:solidFill>
          </p:spPr>
          <p:txBody>
            <a:bodyPr/>
            <a:lstStyle/>
            <a:p>
              <a:endParaRPr lang="vi-VN"/>
            </a:p>
          </p:txBody>
        </p:sp>
      </p:grpSp>
      <p:grpSp>
        <p:nvGrpSpPr>
          <p:cNvPr id="30" name="Group 30"/>
          <p:cNvGrpSpPr/>
          <p:nvPr/>
        </p:nvGrpSpPr>
        <p:grpSpPr>
          <a:xfrm>
            <a:off x="857250" y="6185144"/>
            <a:ext cx="1021556" cy="14288"/>
            <a:chOff x="0" y="0"/>
            <a:chExt cx="1362075" cy="19050"/>
          </a:xfrm>
        </p:grpSpPr>
        <p:sp>
          <p:nvSpPr>
            <p:cNvPr id="31" name="Freeform 31"/>
            <p:cNvSpPr/>
            <p:nvPr/>
          </p:nvSpPr>
          <p:spPr>
            <a:xfrm>
              <a:off x="0" y="0"/>
              <a:ext cx="1362075" cy="19050"/>
            </a:xfrm>
            <a:custGeom>
              <a:avLst/>
              <a:gdLst/>
              <a:ahLst/>
              <a:cxnLst/>
              <a:rect l="l" t="t" r="r" b="b"/>
              <a:pathLst>
                <a:path w="1362075" h="19050">
                  <a:moveTo>
                    <a:pt x="0" y="0"/>
                  </a:moveTo>
                  <a:lnTo>
                    <a:pt x="1362075" y="0"/>
                  </a:lnTo>
                  <a:lnTo>
                    <a:pt x="1362075" y="19050"/>
                  </a:lnTo>
                  <a:lnTo>
                    <a:pt x="0" y="19050"/>
                  </a:lnTo>
                  <a:close/>
                </a:path>
              </a:pathLst>
            </a:custGeom>
            <a:solidFill>
              <a:srgbClr val="E2E8F0"/>
            </a:solidFill>
          </p:spPr>
          <p:txBody>
            <a:bodyPr/>
            <a:lstStyle/>
            <a:p>
              <a:endParaRPr lang="vi-VN"/>
            </a:p>
          </p:txBody>
        </p:sp>
      </p:grpSp>
      <p:grpSp>
        <p:nvGrpSpPr>
          <p:cNvPr id="32" name="Group 32"/>
          <p:cNvGrpSpPr/>
          <p:nvPr/>
        </p:nvGrpSpPr>
        <p:grpSpPr>
          <a:xfrm>
            <a:off x="1878806" y="6185144"/>
            <a:ext cx="4913338" cy="14288"/>
            <a:chOff x="0" y="0"/>
            <a:chExt cx="6551117" cy="19050"/>
          </a:xfrm>
        </p:grpSpPr>
        <p:sp>
          <p:nvSpPr>
            <p:cNvPr id="33" name="Freeform 33"/>
            <p:cNvSpPr/>
            <p:nvPr/>
          </p:nvSpPr>
          <p:spPr>
            <a:xfrm>
              <a:off x="0" y="0"/>
              <a:ext cx="6551168" cy="19050"/>
            </a:xfrm>
            <a:custGeom>
              <a:avLst/>
              <a:gdLst/>
              <a:ahLst/>
              <a:cxnLst/>
              <a:rect l="l" t="t" r="r" b="b"/>
              <a:pathLst>
                <a:path w="6551168" h="19050">
                  <a:moveTo>
                    <a:pt x="0" y="0"/>
                  </a:moveTo>
                  <a:lnTo>
                    <a:pt x="6551168" y="0"/>
                  </a:lnTo>
                  <a:lnTo>
                    <a:pt x="6551168" y="19050"/>
                  </a:lnTo>
                  <a:lnTo>
                    <a:pt x="0" y="19050"/>
                  </a:lnTo>
                  <a:close/>
                </a:path>
              </a:pathLst>
            </a:custGeom>
            <a:solidFill>
              <a:srgbClr val="E2E8F0"/>
            </a:solidFill>
          </p:spPr>
          <p:txBody>
            <a:bodyPr/>
            <a:lstStyle/>
            <a:p>
              <a:endParaRPr lang="vi-VN"/>
            </a:p>
          </p:txBody>
        </p:sp>
      </p:grpSp>
      <p:grpSp>
        <p:nvGrpSpPr>
          <p:cNvPr id="34" name="Group 34"/>
          <p:cNvGrpSpPr/>
          <p:nvPr/>
        </p:nvGrpSpPr>
        <p:grpSpPr>
          <a:xfrm>
            <a:off x="6792144" y="6185144"/>
            <a:ext cx="8174460" cy="14288"/>
            <a:chOff x="0" y="0"/>
            <a:chExt cx="10899280" cy="19050"/>
          </a:xfrm>
        </p:grpSpPr>
        <p:sp>
          <p:nvSpPr>
            <p:cNvPr id="35" name="Freeform 35"/>
            <p:cNvSpPr/>
            <p:nvPr/>
          </p:nvSpPr>
          <p:spPr>
            <a:xfrm>
              <a:off x="0" y="0"/>
              <a:ext cx="10899267" cy="19050"/>
            </a:xfrm>
            <a:custGeom>
              <a:avLst/>
              <a:gdLst/>
              <a:ahLst/>
              <a:cxnLst/>
              <a:rect l="l" t="t" r="r" b="b"/>
              <a:pathLst>
                <a:path w="10899267" h="19050">
                  <a:moveTo>
                    <a:pt x="0" y="0"/>
                  </a:moveTo>
                  <a:lnTo>
                    <a:pt x="10899267" y="0"/>
                  </a:lnTo>
                  <a:lnTo>
                    <a:pt x="10899267" y="19050"/>
                  </a:lnTo>
                  <a:lnTo>
                    <a:pt x="0" y="19050"/>
                  </a:lnTo>
                  <a:close/>
                </a:path>
              </a:pathLst>
            </a:custGeom>
            <a:solidFill>
              <a:srgbClr val="E2E8F0"/>
            </a:solidFill>
          </p:spPr>
          <p:txBody>
            <a:bodyPr/>
            <a:lstStyle/>
            <a:p>
              <a:endParaRPr lang="vi-VN"/>
            </a:p>
          </p:txBody>
        </p:sp>
      </p:grpSp>
      <p:grpSp>
        <p:nvGrpSpPr>
          <p:cNvPr id="36" name="Group 36"/>
          <p:cNvGrpSpPr/>
          <p:nvPr/>
        </p:nvGrpSpPr>
        <p:grpSpPr>
          <a:xfrm>
            <a:off x="14966604" y="6185144"/>
            <a:ext cx="2464146" cy="14288"/>
            <a:chOff x="0" y="0"/>
            <a:chExt cx="3285528" cy="19050"/>
          </a:xfrm>
        </p:grpSpPr>
        <p:sp>
          <p:nvSpPr>
            <p:cNvPr id="37" name="Freeform 37"/>
            <p:cNvSpPr/>
            <p:nvPr/>
          </p:nvSpPr>
          <p:spPr>
            <a:xfrm>
              <a:off x="0" y="0"/>
              <a:ext cx="3285490" cy="19050"/>
            </a:xfrm>
            <a:custGeom>
              <a:avLst/>
              <a:gdLst/>
              <a:ahLst/>
              <a:cxnLst/>
              <a:rect l="l" t="t" r="r" b="b"/>
              <a:pathLst>
                <a:path w="3285490" h="19050">
                  <a:moveTo>
                    <a:pt x="0" y="0"/>
                  </a:moveTo>
                  <a:lnTo>
                    <a:pt x="3285490" y="0"/>
                  </a:lnTo>
                  <a:lnTo>
                    <a:pt x="3285490" y="19050"/>
                  </a:lnTo>
                  <a:lnTo>
                    <a:pt x="0" y="19050"/>
                  </a:lnTo>
                  <a:close/>
                </a:path>
              </a:pathLst>
            </a:custGeom>
            <a:solidFill>
              <a:srgbClr val="E2E8F0"/>
            </a:solidFill>
          </p:spPr>
          <p:txBody>
            <a:bodyPr/>
            <a:lstStyle/>
            <a:p>
              <a:endParaRPr lang="vi-VN"/>
            </a:p>
          </p:txBody>
        </p:sp>
      </p:grpSp>
      <p:grpSp>
        <p:nvGrpSpPr>
          <p:cNvPr id="38" name="Group 38"/>
          <p:cNvGrpSpPr/>
          <p:nvPr/>
        </p:nvGrpSpPr>
        <p:grpSpPr>
          <a:xfrm>
            <a:off x="857250" y="6953774"/>
            <a:ext cx="1021556" cy="14288"/>
            <a:chOff x="0" y="0"/>
            <a:chExt cx="1362075" cy="19050"/>
          </a:xfrm>
        </p:grpSpPr>
        <p:sp>
          <p:nvSpPr>
            <p:cNvPr id="39" name="Freeform 39"/>
            <p:cNvSpPr/>
            <p:nvPr/>
          </p:nvSpPr>
          <p:spPr>
            <a:xfrm>
              <a:off x="0" y="0"/>
              <a:ext cx="1362075" cy="19050"/>
            </a:xfrm>
            <a:custGeom>
              <a:avLst/>
              <a:gdLst/>
              <a:ahLst/>
              <a:cxnLst/>
              <a:rect l="l" t="t" r="r" b="b"/>
              <a:pathLst>
                <a:path w="1362075" h="19050">
                  <a:moveTo>
                    <a:pt x="0" y="0"/>
                  </a:moveTo>
                  <a:lnTo>
                    <a:pt x="1362075" y="0"/>
                  </a:lnTo>
                  <a:lnTo>
                    <a:pt x="1362075" y="19050"/>
                  </a:lnTo>
                  <a:lnTo>
                    <a:pt x="0" y="19050"/>
                  </a:lnTo>
                  <a:close/>
                </a:path>
              </a:pathLst>
            </a:custGeom>
            <a:solidFill>
              <a:srgbClr val="E2E8F0"/>
            </a:solidFill>
          </p:spPr>
          <p:txBody>
            <a:bodyPr/>
            <a:lstStyle/>
            <a:p>
              <a:endParaRPr lang="vi-VN"/>
            </a:p>
          </p:txBody>
        </p:sp>
      </p:grpSp>
      <p:grpSp>
        <p:nvGrpSpPr>
          <p:cNvPr id="40" name="Group 40"/>
          <p:cNvGrpSpPr/>
          <p:nvPr/>
        </p:nvGrpSpPr>
        <p:grpSpPr>
          <a:xfrm>
            <a:off x="1878806" y="6953774"/>
            <a:ext cx="4913338" cy="14288"/>
            <a:chOff x="0" y="0"/>
            <a:chExt cx="6551117" cy="19050"/>
          </a:xfrm>
        </p:grpSpPr>
        <p:sp>
          <p:nvSpPr>
            <p:cNvPr id="41" name="Freeform 41"/>
            <p:cNvSpPr/>
            <p:nvPr/>
          </p:nvSpPr>
          <p:spPr>
            <a:xfrm>
              <a:off x="0" y="0"/>
              <a:ext cx="6551168" cy="19050"/>
            </a:xfrm>
            <a:custGeom>
              <a:avLst/>
              <a:gdLst/>
              <a:ahLst/>
              <a:cxnLst/>
              <a:rect l="l" t="t" r="r" b="b"/>
              <a:pathLst>
                <a:path w="6551168" h="19050">
                  <a:moveTo>
                    <a:pt x="0" y="0"/>
                  </a:moveTo>
                  <a:lnTo>
                    <a:pt x="6551168" y="0"/>
                  </a:lnTo>
                  <a:lnTo>
                    <a:pt x="6551168" y="19050"/>
                  </a:lnTo>
                  <a:lnTo>
                    <a:pt x="0" y="19050"/>
                  </a:lnTo>
                  <a:close/>
                </a:path>
              </a:pathLst>
            </a:custGeom>
            <a:solidFill>
              <a:srgbClr val="E2E8F0"/>
            </a:solidFill>
          </p:spPr>
          <p:txBody>
            <a:bodyPr/>
            <a:lstStyle/>
            <a:p>
              <a:endParaRPr lang="vi-VN"/>
            </a:p>
          </p:txBody>
        </p:sp>
      </p:grpSp>
      <p:grpSp>
        <p:nvGrpSpPr>
          <p:cNvPr id="42" name="Group 42"/>
          <p:cNvGrpSpPr/>
          <p:nvPr/>
        </p:nvGrpSpPr>
        <p:grpSpPr>
          <a:xfrm>
            <a:off x="6792144" y="6953774"/>
            <a:ext cx="8174460" cy="14288"/>
            <a:chOff x="0" y="0"/>
            <a:chExt cx="10899280" cy="19050"/>
          </a:xfrm>
        </p:grpSpPr>
        <p:sp>
          <p:nvSpPr>
            <p:cNvPr id="43" name="Freeform 43"/>
            <p:cNvSpPr/>
            <p:nvPr/>
          </p:nvSpPr>
          <p:spPr>
            <a:xfrm>
              <a:off x="0" y="0"/>
              <a:ext cx="10899267" cy="19050"/>
            </a:xfrm>
            <a:custGeom>
              <a:avLst/>
              <a:gdLst/>
              <a:ahLst/>
              <a:cxnLst/>
              <a:rect l="l" t="t" r="r" b="b"/>
              <a:pathLst>
                <a:path w="10899267" h="19050">
                  <a:moveTo>
                    <a:pt x="0" y="0"/>
                  </a:moveTo>
                  <a:lnTo>
                    <a:pt x="10899267" y="0"/>
                  </a:lnTo>
                  <a:lnTo>
                    <a:pt x="10899267" y="19050"/>
                  </a:lnTo>
                  <a:lnTo>
                    <a:pt x="0" y="19050"/>
                  </a:lnTo>
                  <a:close/>
                </a:path>
              </a:pathLst>
            </a:custGeom>
            <a:solidFill>
              <a:srgbClr val="E2E8F0"/>
            </a:solidFill>
          </p:spPr>
          <p:txBody>
            <a:bodyPr/>
            <a:lstStyle/>
            <a:p>
              <a:endParaRPr lang="vi-VN"/>
            </a:p>
          </p:txBody>
        </p:sp>
      </p:grpSp>
      <p:grpSp>
        <p:nvGrpSpPr>
          <p:cNvPr id="44" name="Group 44"/>
          <p:cNvGrpSpPr/>
          <p:nvPr/>
        </p:nvGrpSpPr>
        <p:grpSpPr>
          <a:xfrm>
            <a:off x="14966604" y="6953774"/>
            <a:ext cx="2464146" cy="14288"/>
            <a:chOff x="0" y="0"/>
            <a:chExt cx="3285528" cy="19050"/>
          </a:xfrm>
        </p:grpSpPr>
        <p:sp>
          <p:nvSpPr>
            <p:cNvPr id="45" name="Freeform 45"/>
            <p:cNvSpPr/>
            <p:nvPr/>
          </p:nvSpPr>
          <p:spPr>
            <a:xfrm>
              <a:off x="0" y="0"/>
              <a:ext cx="3285490" cy="19050"/>
            </a:xfrm>
            <a:custGeom>
              <a:avLst/>
              <a:gdLst/>
              <a:ahLst/>
              <a:cxnLst/>
              <a:rect l="l" t="t" r="r" b="b"/>
              <a:pathLst>
                <a:path w="3285490" h="19050">
                  <a:moveTo>
                    <a:pt x="0" y="0"/>
                  </a:moveTo>
                  <a:lnTo>
                    <a:pt x="3285490" y="0"/>
                  </a:lnTo>
                  <a:lnTo>
                    <a:pt x="3285490" y="19050"/>
                  </a:lnTo>
                  <a:lnTo>
                    <a:pt x="0" y="19050"/>
                  </a:lnTo>
                  <a:close/>
                </a:path>
              </a:pathLst>
            </a:custGeom>
            <a:solidFill>
              <a:srgbClr val="E2E8F0"/>
            </a:solidFill>
          </p:spPr>
          <p:txBody>
            <a:bodyPr/>
            <a:lstStyle/>
            <a:p>
              <a:endParaRPr lang="vi-VN"/>
            </a:p>
          </p:txBody>
        </p:sp>
      </p:grpSp>
      <p:grpSp>
        <p:nvGrpSpPr>
          <p:cNvPr id="46" name="Group 46"/>
          <p:cNvGrpSpPr/>
          <p:nvPr/>
        </p:nvGrpSpPr>
        <p:grpSpPr>
          <a:xfrm>
            <a:off x="857250" y="7722394"/>
            <a:ext cx="1021556" cy="14288"/>
            <a:chOff x="0" y="0"/>
            <a:chExt cx="1362075" cy="19050"/>
          </a:xfrm>
        </p:grpSpPr>
        <p:sp>
          <p:nvSpPr>
            <p:cNvPr id="47" name="Freeform 47"/>
            <p:cNvSpPr/>
            <p:nvPr/>
          </p:nvSpPr>
          <p:spPr>
            <a:xfrm>
              <a:off x="0" y="0"/>
              <a:ext cx="1362075" cy="19050"/>
            </a:xfrm>
            <a:custGeom>
              <a:avLst/>
              <a:gdLst/>
              <a:ahLst/>
              <a:cxnLst/>
              <a:rect l="l" t="t" r="r" b="b"/>
              <a:pathLst>
                <a:path w="1362075" h="19050">
                  <a:moveTo>
                    <a:pt x="0" y="0"/>
                  </a:moveTo>
                  <a:lnTo>
                    <a:pt x="1362075" y="0"/>
                  </a:lnTo>
                  <a:lnTo>
                    <a:pt x="1362075" y="19050"/>
                  </a:lnTo>
                  <a:lnTo>
                    <a:pt x="0" y="19050"/>
                  </a:lnTo>
                  <a:close/>
                </a:path>
              </a:pathLst>
            </a:custGeom>
            <a:solidFill>
              <a:srgbClr val="E2E8F0"/>
            </a:solidFill>
          </p:spPr>
          <p:txBody>
            <a:bodyPr/>
            <a:lstStyle/>
            <a:p>
              <a:endParaRPr lang="vi-VN"/>
            </a:p>
          </p:txBody>
        </p:sp>
      </p:grpSp>
      <p:grpSp>
        <p:nvGrpSpPr>
          <p:cNvPr id="48" name="Group 48"/>
          <p:cNvGrpSpPr/>
          <p:nvPr/>
        </p:nvGrpSpPr>
        <p:grpSpPr>
          <a:xfrm>
            <a:off x="1878806" y="7722394"/>
            <a:ext cx="4913338" cy="14288"/>
            <a:chOff x="0" y="0"/>
            <a:chExt cx="6551117" cy="19050"/>
          </a:xfrm>
        </p:grpSpPr>
        <p:sp>
          <p:nvSpPr>
            <p:cNvPr id="49" name="Freeform 49"/>
            <p:cNvSpPr/>
            <p:nvPr/>
          </p:nvSpPr>
          <p:spPr>
            <a:xfrm>
              <a:off x="0" y="0"/>
              <a:ext cx="6551168" cy="19050"/>
            </a:xfrm>
            <a:custGeom>
              <a:avLst/>
              <a:gdLst/>
              <a:ahLst/>
              <a:cxnLst/>
              <a:rect l="l" t="t" r="r" b="b"/>
              <a:pathLst>
                <a:path w="6551168" h="19050">
                  <a:moveTo>
                    <a:pt x="0" y="0"/>
                  </a:moveTo>
                  <a:lnTo>
                    <a:pt x="6551168" y="0"/>
                  </a:lnTo>
                  <a:lnTo>
                    <a:pt x="6551168" y="19050"/>
                  </a:lnTo>
                  <a:lnTo>
                    <a:pt x="0" y="19050"/>
                  </a:lnTo>
                  <a:close/>
                </a:path>
              </a:pathLst>
            </a:custGeom>
            <a:solidFill>
              <a:srgbClr val="E2E8F0"/>
            </a:solidFill>
          </p:spPr>
          <p:txBody>
            <a:bodyPr/>
            <a:lstStyle/>
            <a:p>
              <a:endParaRPr lang="vi-VN"/>
            </a:p>
          </p:txBody>
        </p:sp>
      </p:grpSp>
      <p:grpSp>
        <p:nvGrpSpPr>
          <p:cNvPr id="50" name="Group 50"/>
          <p:cNvGrpSpPr/>
          <p:nvPr/>
        </p:nvGrpSpPr>
        <p:grpSpPr>
          <a:xfrm>
            <a:off x="6792144" y="7722394"/>
            <a:ext cx="8174460" cy="14288"/>
            <a:chOff x="0" y="0"/>
            <a:chExt cx="10899280" cy="19050"/>
          </a:xfrm>
        </p:grpSpPr>
        <p:sp>
          <p:nvSpPr>
            <p:cNvPr id="51" name="Freeform 51"/>
            <p:cNvSpPr/>
            <p:nvPr/>
          </p:nvSpPr>
          <p:spPr>
            <a:xfrm>
              <a:off x="0" y="0"/>
              <a:ext cx="10899267" cy="19050"/>
            </a:xfrm>
            <a:custGeom>
              <a:avLst/>
              <a:gdLst/>
              <a:ahLst/>
              <a:cxnLst/>
              <a:rect l="l" t="t" r="r" b="b"/>
              <a:pathLst>
                <a:path w="10899267" h="19050">
                  <a:moveTo>
                    <a:pt x="0" y="0"/>
                  </a:moveTo>
                  <a:lnTo>
                    <a:pt x="10899267" y="0"/>
                  </a:lnTo>
                  <a:lnTo>
                    <a:pt x="10899267" y="19050"/>
                  </a:lnTo>
                  <a:lnTo>
                    <a:pt x="0" y="19050"/>
                  </a:lnTo>
                  <a:close/>
                </a:path>
              </a:pathLst>
            </a:custGeom>
            <a:solidFill>
              <a:srgbClr val="E2E8F0"/>
            </a:solidFill>
          </p:spPr>
          <p:txBody>
            <a:bodyPr/>
            <a:lstStyle/>
            <a:p>
              <a:endParaRPr lang="vi-VN"/>
            </a:p>
          </p:txBody>
        </p:sp>
      </p:grpSp>
      <p:grpSp>
        <p:nvGrpSpPr>
          <p:cNvPr id="52" name="Group 52"/>
          <p:cNvGrpSpPr/>
          <p:nvPr/>
        </p:nvGrpSpPr>
        <p:grpSpPr>
          <a:xfrm>
            <a:off x="14966604" y="7722394"/>
            <a:ext cx="2464146" cy="14288"/>
            <a:chOff x="0" y="0"/>
            <a:chExt cx="3285528" cy="19050"/>
          </a:xfrm>
        </p:grpSpPr>
        <p:sp>
          <p:nvSpPr>
            <p:cNvPr id="53" name="Freeform 53"/>
            <p:cNvSpPr/>
            <p:nvPr/>
          </p:nvSpPr>
          <p:spPr>
            <a:xfrm>
              <a:off x="0" y="0"/>
              <a:ext cx="3285490" cy="19050"/>
            </a:xfrm>
            <a:custGeom>
              <a:avLst/>
              <a:gdLst/>
              <a:ahLst/>
              <a:cxnLst/>
              <a:rect l="l" t="t" r="r" b="b"/>
              <a:pathLst>
                <a:path w="3285490" h="19050">
                  <a:moveTo>
                    <a:pt x="0" y="0"/>
                  </a:moveTo>
                  <a:lnTo>
                    <a:pt x="3285490" y="0"/>
                  </a:lnTo>
                  <a:lnTo>
                    <a:pt x="3285490" y="19050"/>
                  </a:lnTo>
                  <a:lnTo>
                    <a:pt x="0" y="19050"/>
                  </a:lnTo>
                  <a:close/>
                </a:path>
              </a:pathLst>
            </a:custGeom>
            <a:solidFill>
              <a:srgbClr val="E2E8F0"/>
            </a:solidFill>
          </p:spPr>
          <p:txBody>
            <a:bodyPr/>
            <a:lstStyle/>
            <a:p>
              <a:endParaRPr lang="vi-VN"/>
            </a:p>
          </p:txBody>
        </p:sp>
      </p:grpSp>
      <p:grpSp>
        <p:nvGrpSpPr>
          <p:cNvPr id="54" name="Group 54"/>
          <p:cNvGrpSpPr/>
          <p:nvPr/>
        </p:nvGrpSpPr>
        <p:grpSpPr>
          <a:xfrm>
            <a:off x="857250" y="8491014"/>
            <a:ext cx="1021556" cy="14288"/>
            <a:chOff x="0" y="0"/>
            <a:chExt cx="1362075" cy="19050"/>
          </a:xfrm>
        </p:grpSpPr>
        <p:sp>
          <p:nvSpPr>
            <p:cNvPr id="55" name="Freeform 55"/>
            <p:cNvSpPr/>
            <p:nvPr/>
          </p:nvSpPr>
          <p:spPr>
            <a:xfrm>
              <a:off x="0" y="0"/>
              <a:ext cx="1362075" cy="19050"/>
            </a:xfrm>
            <a:custGeom>
              <a:avLst/>
              <a:gdLst/>
              <a:ahLst/>
              <a:cxnLst/>
              <a:rect l="l" t="t" r="r" b="b"/>
              <a:pathLst>
                <a:path w="1362075" h="19050">
                  <a:moveTo>
                    <a:pt x="0" y="0"/>
                  </a:moveTo>
                  <a:lnTo>
                    <a:pt x="1362075" y="0"/>
                  </a:lnTo>
                  <a:lnTo>
                    <a:pt x="1362075" y="19050"/>
                  </a:lnTo>
                  <a:lnTo>
                    <a:pt x="0" y="19050"/>
                  </a:lnTo>
                  <a:close/>
                </a:path>
              </a:pathLst>
            </a:custGeom>
            <a:solidFill>
              <a:srgbClr val="E2E8F0"/>
            </a:solidFill>
          </p:spPr>
          <p:txBody>
            <a:bodyPr/>
            <a:lstStyle/>
            <a:p>
              <a:endParaRPr lang="vi-VN"/>
            </a:p>
          </p:txBody>
        </p:sp>
      </p:grpSp>
      <p:grpSp>
        <p:nvGrpSpPr>
          <p:cNvPr id="56" name="Group 56"/>
          <p:cNvGrpSpPr/>
          <p:nvPr/>
        </p:nvGrpSpPr>
        <p:grpSpPr>
          <a:xfrm>
            <a:off x="1878806" y="8491014"/>
            <a:ext cx="4913338" cy="14288"/>
            <a:chOff x="0" y="0"/>
            <a:chExt cx="6551117" cy="19050"/>
          </a:xfrm>
        </p:grpSpPr>
        <p:sp>
          <p:nvSpPr>
            <p:cNvPr id="57" name="Freeform 57"/>
            <p:cNvSpPr/>
            <p:nvPr/>
          </p:nvSpPr>
          <p:spPr>
            <a:xfrm>
              <a:off x="0" y="0"/>
              <a:ext cx="6551168" cy="19050"/>
            </a:xfrm>
            <a:custGeom>
              <a:avLst/>
              <a:gdLst/>
              <a:ahLst/>
              <a:cxnLst/>
              <a:rect l="l" t="t" r="r" b="b"/>
              <a:pathLst>
                <a:path w="6551168" h="19050">
                  <a:moveTo>
                    <a:pt x="0" y="0"/>
                  </a:moveTo>
                  <a:lnTo>
                    <a:pt x="6551168" y="0"/>
                  </a:lnTo>
                  <a:lnTo>
                    <a:pt x="6551168" y="19050"/>
                  </a:lnTo>
                  <a:lnTo>
                    <a:pt x="0" y="19050"/>
                  </a:lnTo>
                  <a:close/>
                </a:path>
              </a:pathLst>
            </a:custGeom>
            <a:solidFill>
              <a:srgbClr val="E2E8F0"/>
            </a:solidFill>
          </p:spPr>
          <p:txBody>
            <a:bodyPr/>
            <a:lstStyle/>
            <a:p>
              <a:endParaRPr lang="vi-VN"/>
            </a:p>
          </p:txBody>
        </p:sp>
      </p:grpSp>
      <p:grpSp>
        <p:nvGrpSpPr>
          <p:cNvPr id="58" name="Group 58"/>
          <p:cNvGrpSpPr/>
          <p:nvPr/>
        </p:nvGrpSpPr>
        <p:grpSpPr>
          <a:xfrm>
            <a:off x="6792144" y="8491014"/>
            <a:ext cx="8174460" cy="14288"/>
            <a:chOff x="0" y="0"/>
            <a:chExt cx="10899280" cy="19050"/>
          </a:xfrm>
        </p:grpSpPr>
        <p:sp>
          <p:nvSpPr>
            <p:cNvPr id="59" name="Freeform 59"/>
            <p:cNvSpPr/>
            <p:nvPr/>
          </p:nvSpPr>
          <p:spPr>
            <a:xfrm>
              <a:off x="0" y="0"/>
              <a:ext cx="10899267" cy="19050"/>
            </a:xfrm>
            <a:custGeom>
              <a:avLst/>
              <a:gdLst/>
              <a:ahLst/>
              <a:cxnLst/>
              <a:rect l="l" t="t" r="r" b="b"/>
              <a:pathLst>
                <a:path w="10899267" h="19050">
                  <a:moveTo>
                    <a:pt x="0" y="0"/>
                  </a:moveTo>
                  <a:lnTo>
                    <a:pt x="10899267" y="0"/>
                  </a:lnTo>
                  <a:lnTo>
                    <a:pt x="10899267" y="19050"/>
                  </a:lnTo>
                  <a:lnTo>
                    <a:pt x="0" y="19050"/>
                  </a:lnTo>
                  <a:close/>
                </a:path>
              </a:pathLst>
            </a:custGeom>
            <a:solidFill>
              <a:srgbClr val="E2E8F0"/>
            </a:solidFill>
          </p:spPr>
          <p:txBody>
            <a:bodyPr/>
            <a:lstStyle/>
            <a:p>
              <a:endParaRPr lang="vi-VN"/>
            </a:p>
          </p:txBody>
        </p:sp>
      </p:grpSp>
      <p:grpSp>
        <p:nvGrpSpPr>
          <p:cNvPr id="60" name="Group 60"/>
          <p:cNvGrpSpPr/>
          <p:nvPr/>
        </p:nvGrpSpPr>
        <p:grpSpPr>
          <a:xfrm>
            <a:off x="14966604" y="8491014"/>
            <a:ext cx="2464146" cy="14288"/>
            <a:chOff x="0" y="0"/>
            <a:chExt cx="3285528" cy="19050"/>
          </a:xfrm>
        </p:grpSpPr>
        <p:sp>
          <p:nvSpPr>
            <p:cNvPr id="61" name="Freeform 61"/>
            <p:cNvSpPr/>
            <p:nvPr/>
          </p:nvSpPr>
          <p:spPr>
            <a:xfrm>
              <a:off x="0" y="0"/>
              <a:ext cx="3285490" cy="19050"/>
            </a:xfrm>
            <a:custGeom>
              <a:avLst/>
              <a:gdLst/>
              <a:ahLst/>
              <a:cxnLst/>
              <a:rect l="l" t="t" r="r" b="b"/>
              <a:pathLst>
                <a:path w="3285490" h="19050">
                  <a:moveTo>
                    <a:pt x="0" y="0"/>
                  </a:moveTo>
                  <a:lnTo>
                    <a:pt x="3285490" y="0"/>
                  </a:lnTo>
                  <a:lnTo>
                    <a:pt x="3285490" y="19050"/>
                  </a:lnTo>
                  <a:lnTo>
                    <a:pt x="0" y="19050"/>
                  </a:lnTo>
                  <a:close/>
                </a:path>
              </a:pathLst>
            </a:custGeom>
            <a:solidFill>
              <a:srgbClr val="E2E8F0"/>
            </a:solidFill>
          </p:spPr>
          <p:txBody>
            <a:bodyPr/>
            <a:lstStyle/>
            <a:p>
              <a:endParaRPr lang="vi-VN"/>
            </a:p>
          </p:txBody>
        </p:sp>
      </p:grpSp>
      <p:grpSp>
        <p:nvGrpSpPr>
          <p:cNvPr id="62" name="Group 62"/>
          <p:cNvGrpSpPr/>
          <p:nvPr/>
        </p:nvGrpSpPr>
        <p:grpSpPr>
          <a:xfrm>
            <a:off x="857250" y="9259634"/>
            <a:ext cx="1021556" cy="14288"/>
            <a:chOff x="0" y="0"/>
            <a:chExt cx="1362075" cy="19050"/>
          </a:xfrm>
        </p:grpSpPr>
        <p:sp>
          <p:nvSpPr>
            <p:cNvPr id="63" name="Freeform 63"/>
            <p:cNvSpPr/>
            <p:nvPr/>
          </p:nvSpPr>
          <p:spPr>
            <a:xfrm>
              <a:off x="0" y="0"/>
              <a:ext cx="1362075" cy="19050"/>
            </a:xfrm>
            <a:custGeom>
              <a:avLst/>
              <a:gdLst/>
              <a:ahLst/>
              <a:cxnLst/>
              <a:rect l="l" t="t" r="r" b="b"/>
              <a:pathLst>
                <a:path w="1362075" h="19050">
                  <a:moveTo>
                    <a:pt x="0" y="0"/>
                  </a:moveTo>
                  <a:lnTo>
                    <a:pt x="1362075" y="0"/>
                  </a:lnTo>
                  <a:lnTo>
                    <a:pt x="1362075" y="19050"/>
                  </a:lnTo>
                  <a:lnTo>
                    <a:pt x="0" y="19050"/>
                  </a:lnTo>
                  <a:close/>
                </a:path>
              </a:pathLst>
            </a:custGeom>
            <a:solidFill>
              <a:srgbClr val="E2E8F0"/>
            </a:solidFill>
          </p:spPr>
          <p:txBody>
            <a:bodyPr/>
            <a:lstStyle/>
            <a:p>
              <a:endParaRPr lang="vi-VN"/>
            </a:p>
          </p:txBody>
        </p:sp>
      </p:grpSp>
      <p:grpSp>
        <p:nvGrpSpPr>
          <p:cNvPr id="64" name="Group 64"/>
          <p:cNvGrpSpPr/>
          <p:nvPr/>
        </p:nvGrpSpPr>
        <p:grpSpPr>
          <a:xfrm>
            <a:off x="1878806" y="9259634"/>
            <a:ext cx="4913338" cy="14288"/>
            <a:chOff x="0" y="0"/>
            <a:chExt cx="6551117" cy="19050"/>
          </a:xfrm>
        </p:grpSpPr>
        <p:sp>
          <p:nvSpPr>
            <p:cNvPr id="65" name="Freeform 65"/>
            <p:cNvSpPr/>
            <p:nvPr/>
          </p:nvSpPr>
          <p:spPr>
            <a:xfrm>
              <a:off x="0" y="0"/>
              <a:ext cx="6551168" cy="19050"/>
            </a:xfrm>
            <a:custGeom>
              <a:avLst/>
              <a:gdLst/>
              <a:ahLst/>
              <a:cxnLst/>
              <a:rect l="l" t="t" r="r" b="b"/>
              <a:pathLst>
                <a:path w="6551168" h="19050">
                  <a:moveTo>
                    <a:pt x="0" y="0"/>
                  </a:moveTo>
                  <a:lnTo>
                    <a:pt x="6551168" y="0"/>
                  </a:lnTo>
                  <a:lnTo>
                    <a:pt x="6551168" y="19050"/>
                  </a:lnTo>
                  <a:lnTo>
                    <a:pt x="0" y="19050"/>
                  </a:lnTo>
                  <a:close/>
                </a:path>
              </a:pathLst>
            </a:custGeom>
            <a:solidFill>
              <a:srgbClr val="E2E8F0"/>
            </a:solidFill>
          </p:spPr>
          <p:txBody>
            <a:bodyPr/>
            <a:lstStyle/>
            <a:p>
              <a:endParaRPr lang="vi-VN"/>
            </a:p>
          </p:txBody>
        </p:sp>
      </p:grpSp>
      <p:grpSp>
        <p:nvGrpSpPr>
          <p:cNvPr id="66" name="Group 66"/>
          <p:cNvGrpSpPr/>
          <p:nvPr/>
        </p:nvGrpSpPr>
        <p:grpSpPr>
          <a:xfrm>
            <a:off x="6792144" y="9259634"/>
            <a:ext cx="8174460" cy="14288"/>
            <a:chOff x="0" y="0"/>
            <a:chExt cx="10899280" cy="19050"/>
          </a:xfrm>
        </p:grpSpPr>
        <p:sp>
          <p:nvSpPr>
            <p:cNvPr id="67" name="Freeform 67"/>
            <p:cNvSpPr/>
            <p:nvPr/>
          </p:nvSpPr>
          <p:spPr>
            <a:xfrm>
              <a:off x="0" y="0"/>
              <a:ext cx="10899267" cy="19050"/>
            </a:xfrm>
            <a:custGeom>
              <a:avLst/>
              <a:gdLst/>
              <a:ahLst/>
              <a:cxnLst/>
              <a:rect l="l" t="t" r="r" b="b"/>
              <a:pathLst>
                <a:path w="10899267" h="19050">
                  <a:moveTo>
                    <a:pt x="0" y="0"/>
                  </a:moveTo>
                  <a:lnTo>
                    <a:pt x="10899267" y="0"/>
                  </a:lnTo>
                  <a:lnTo>
                    <a:pt x="10899267" y="19050"/>
                  </a:lnTo>
                  <a:lnTo>
                    <a:pt x="0" y="19050"/>
                  </a:lnTo>
                  <a:close/>
                </a:path>
              </a:pathLst>
            </a:custGeom>
            <a:solidFill>
              <a:srgbClr val="E2E8F0"/>
            </a:solidFill>
          </p:spPr>
          <p:txBody>
            <a:bodyPr/>
            <a:lstStyle/>
            <a:p>
              <a:endParaRPr lang="vi-VN"/>
            </a:p>
          </p:txBody>
        </p:sp>
      </p:grpSp>
      <p:grpSp>
        <p:nvGrpSpPr>
          <p:cNvPr id="68" name="Group 68"/>
          <p:cNvGrpSpPr/>
          <p:nvPr/>
        </p:nvGrpSpPr>
        <p:grpSpPr>
          <a:xfrm>
            <a:off x="14966604" y="9259634"/>
            <a:ext cx="2464146" cy="14288"/>
            <a:chOff x="0" y="0"/>
            <a:chExt cx="3285528" cy="19050"/>
          </a:xfrm>
        </p:grpSpPr>
        <p:sp>
          <p:nvSpPr>
            <p:cNvPr id="69" name="Freeform 69"/>
            <p:cNvSpPr/>
            <p:nvPr/>
          </p:nvSpPr>
          <p:spPr>
            <a:xfrm>
              <a:off x="0" y="0"/>
              <a:ext cx="3285490" cy="19050"/>
            </a:xfrm>
            <a:custGeom>
              <a:avLst/>
              <a:gdLst/>
              <a:ahLst/>
              <a:cxnLst/>
              <a:rect l="l" t="t" r="r" b="b"/>
              <a:pathLst>
                <a:path w="3285490" h="19050">
                  <a:moveTo>
                    <a:pt x="0" y="0"/>
                  </a:moveTo>
                  <a:lnTo>
                    <a:pt x="3285490" y="0"/>
                  </a:lnTo>
                  <a:lnTo>
                    <a:pt x="3285490" y="19050"/>
                  </a:lnTo>
                  <a:lnTo>
                    <a:pt x="0" y="19050"/>
                  </a:lnTo>
                  <a:close/>
                </a:path>
              </a:pathLst>
            </a:custGeom>
            <a:solidFill>
              <a:srgbClr val="E2E8F0"/>
            </a:solidFill>
          </p:spPr>
          <p:txBody>
            <a:bodyPr/>
            <a:lstStyle/>
            <a:p>
              <a:endParaRPr lang="vi-VN"/>
            </a:p>
          </p:txBody>
        </p:sp>
      </p:grpSp>
      <p:sp>
        <p:nvSpPr>
          <p:cNvPr id="70" name="TextBox 70"/>
          <p:cNvSpPr txBox="1"/>
          <p:nvPr/>
        </p:nvSpPr>
        <p:spPr>
          <a:xfrm>
            <a:off x="857250" y="258956"/>
            <a:ext cx="17402175" cy="700088"/>
          </a:xfrm>
          <a:prstGeom prst="rect">
            <a:avLst/>
          </a:prstGeom>
        </p:spPr>
        <p:txBody>
          <a:bodyPr lIns="0" tIns="0" rIns="0" bIns="0" rtlCol="0" anchor="t">
            <a:spAutoFit/>
          </a:bodyPr>
          <a:lstStyle/>
          <a:p>
            <a:pPr algn="l">
              <a:lnSpc>
                <a:spcPts val="5130"/>
              </a:lnSpc>
            </a:pPr>
            <a:r>
              <a:rPr lang="en-US" sz="4275" b="1">
                <a:solidFill>
                  <a:srgbClr val="164673"/>
                </a:solidFill>
                <a:latin typeface="Montserrat Bold"/>
                <a:ea typeface="Montserrat Bold"/>
                <a:cs typeface="Montserrat Bold"/>
                <a:sym typeface="Montserrat Bold"/>
              </a:rPr>
              <a:t>HỆ THỐNG PHÂN LOẠI: 9 LUẬT NGHIỆP VỤ CỨNG</a:t>
            </a:r>
          </a:p>
        </p:txBody>
      </p:sp>
      <p:grpSp>
        <p:nvGrpSpPr>
          <p:cNvPr id="71" name="Group 71"/>
          <p:cNvGrpSpPr/>
          <p:nvPr/>
        </p:nvGrpSpPr>
        <p:grpSpPr>
          <a:xfrm>
            <a:off x="857250" y="1073344"/>
            <a:ext cx="16573500" cy="28575"/>
            <a:chOff x="0" y="0"/>
            <a:chExt cx="22098000" cy="38100"/>
          </a:xfrm>
        </p:grpSpPr>
        <p:sp>
          <p:nvSpPr>
            <p:cNvPr id="72" name="Freeform 72"/>
            <p:cNvSpPr/>
            <p:nvPr/>
          </p:nvSpPr>
          <p:spPr>
            <a:xfrm>
              <a:off x="0" y="0"/>
              <a:ext cx="22098000" cy="38100"/>
            </a:xfrm>
            <a:custGeom>
              <a:avLst/>
              <a:gdLst/>
              <a:ahLst/>
              <a:cxnLst/>
              <a:rect l="l" t="t" r="r" b="b"/>
              <a:pathLst>
                <a:path w="22098000" h="38100">
                  <a:moveTo>
                    <a:pt x="0" y="0"/>
                  </a:moveTo>
                  <a:lnTo>
                    <a:pt x="22098000" y="0"/>
                  </a:lnTo>
                  <a:lnTo>
                    <a:pt x="22098000" y="38100"/>
                  </a:lnTo>
                  <a:lnTo>
                    <a:pt x="0" y="38100"/>
                  </a:lnTo>
                  <a:close/>
                </a:path>
              </a:pathLst>
            </a:custGeom>
            <a:solidFill>
              <a:srgbClr val="48A6D8"/>
            </a:solidFill>
          </p:spPr>
          <p:txBody>
            <a:bodyPr/>
            <a:lstStyle/>
            <a:p>
              <a:endParaRPr lang="vi-VN"/>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sp>
        <p:nvSpPr>
          <p:cNvPr id="4" name="TextBox 4"/>
          <p:cNvSpPr txBox="1"/>
          <p:nvPr/>
        </p:nvSpPr>
        <p:spPr>
          <a:xfrm>
            <a:off x="857250" y="4016350"/>
            <a:ext cx="8401050" cy="414338"/>
          </a:xfrm>
          <a:prstGeom prst="rect">
            <a:avLst/>
          </a:prstGeom>
        </p:spPr>
        <p:txBody>
          <a:bodyPr lIns="0" tIns="0" rIns="0" bIns="0" rtlCol="0" anchor="t">
            <a:spAutoFit/>
          </a:bodyPr>
          <a:lstStyle/>
          <a:p>
            <a:pPr algn="l">
              <a:lnSpc>
                <a:spcPts val="3240"/>
              </a:lnSpc>
            </a:pPr>
            <a:r>
              <a:rPr lang="en-US" sz="2700">
                <a:solidFill>
                  <a:srgbClr val="164673"/>
                </a:solidFill>
                <a:latin typeface="Montserrat"/>
                <a:ea typeface="Montserrat"/>
                <a:cs typeface="Montserrat"/>
                <a:sym typeface="Montserrat"/>
              </a:rPr>
              <a:t>Nút thắt cổ chai (Bottleneck)</a:t>
            </a:r>
          </a:p>
        </p:txBody>
      </p:sp>
      <p:sp>
        <p:nvSpPr>
          <p:cNvPr id="5" name="TextBox 5"/>
          <p:cNvSpPr txBox="1"/>
          <p:nvPr/>
        </p:nvSpPr>
        <p:spPr>
          <a:xfrm>
            <a:off x="857250" y="4502125"/>
            <a:ext cx="8001000" cy="965749"/>
          </a:xfrm>
          <a:prstGeom prst="rect">
            <a:avLst/>
          </a:prstGeom>
        </p:spPr>
        <p:txBody>
          <a:bodyPr lIns="0" tIns="0" rIns="0" bIns="0" rtlCol="0" anchor="t">
            <a:spAutoFit/>
          </a:bodyPr>
          <a:lstStyle/>
          <a:p>
            <a:pPr algn="l">
              <a:lnSpc>
                <a:spcPts val="3887"/>
              </a:lnSpc>
            </a:pPr>
            <a:r>
              <a:rPr lang="en-US" sz="2025">
                <a:solidFill>
                  <a:srgbClr val="475569"/>
                </a:solidFill>
                <a:latin typeface="Open Sans"/>
                <a:ea typeface="Open Sans"/>
                <a:cs typeface="Open Sans"/>
                <a:sym typeface="Open Sans"/>
              </a:rPr>
              <a:t>Cấu hình ban đầu tạo ra tổng </a:t>
            </a:r>
            <a:r>
              <a:rPr lang="en-US" sz="2025">
                <a:solidFill>
                  <a:srgbClr val="1E293B"/>
                </a:solidFill>
                <a:latin typeface="Open Sans"/>
                <a:ea typeface="Open Sans"/>
                <a:cs typeface="Open Sans"/>
                <a:sym typeface="Open Sans"/>
              </a:rPr>
              <a:t>~1.500 msg/s</a:t>
            </a:r>
            <a:r>
              <a:rPr lang="en-US" sz="2025">
                <a:solidFill>
                  <a:srgbClr val="475569"/>
                </a:solidFill>
                <a:latin typeface="Open Sans"/>
                <a:ea typeface="Open Sans"/>
                <a:cs typeface="Open Sans"/>
                <a:sym typeface="Open Sans"/>
              </a:rPr>
              <a:t> (Yellow: ~1000, Green: ~500). Mỗi micro-batch chứa từ 7.000–10.000 bản ghi.</a:t>
            </a:r>
          </a:p>
        </p:txBody>
      </p:sp>
      <p:sp>
        <p:nvSpPr>
          <p:cNvPr id="6" name="TextBox 6"/>
          <p:cNvSpPr txBox="1"/>
          <p:nvPr/>
        </p:nvSpPr>
        <p:spPr>
          <a:xfrm>
            <a:off x="857250" y="5539311"/>
            <a:ext cx="8001000" cy="1788614"/>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Vấn đề:</a:t>
            </a:r>
            <a:r>
              <a:rPr lang="en-US" sz="2025">
                <a:solidFill>
                  <a:srgbClr val="475569"/>
                </a:solidFill>
                <a:latin typeface="Open Sans"/>
                <a:ea typeface="Open Sans"/>
                <a:cs typeface="Open Sans"/>
                <a:sym typeface="Open Sans"/>
              </a:rPr>
              <a:t> ML Inference bằng scikit-learn chạy </a:t>
            </a:r>
            <a:r>
              <a:rPr lang="en-US" sz="2025">
                <a:solidFill>
                  <a:srgbClr val="1E293B"/>
                </a:solidFill>
                <a:latin typeface="Open Sans"/>
                <a:ea typeface="Open Sans"/>
                <a:cs typeface="Open Sans"/>
                <a:sym typeface="Open Sans"/>
              </a:rPr>
              <a:t>single-thread trên Spark driver</a:t>
            </a:r>
            <a:r>
              <a:rPr lang="en-US" sz="2025">
                <a:solidFill>
                  <a:srgbClr val="475569"/>
                </a:solidFill>
                <a:latin typeface="Open Sans"/>
                <a:ea typeface="Open Sans"/>
                <a:cs typeface="Open Sans"/>
                <a:sym typeface="Open Sans"/>
              </a:rPr>
              <a:t> không thể scale ngang (không phân tán được như DataFrame). Inference time tăng, vượt trigger interval gây ra: Kafka backpressure → Tràn RAM (OOM) → Sập Pipeline.</a:t>
            </a:r>
          </a:p>
        </p:txBody>
      </p:sp>
      <p:sp>
        <p:nvSpPr>
          <p:cNvPr id="7" name="TextBox 7"/>
          <p:cNvSpPr txBox="1"/>
          <p:nvPr/>
        </p:nvSpPr>
        <p:spPr>
          <a:xfrm>
            <a:off x="9429750" y="3050600"/>
            <a:ext cx="8401050" cy="414338"/>
          </a:xfrm>
          <a:prstGeom prst="rect">
            <a:avLst/>
          </a:prstGeom>
        </p:spPr>
        <p:txBody>
          <a:bodyPr lIns="0" tIns="0" rIns="0" bIns="0" rtlCol="0" anchor="t">
            <a:spAutoFit/>
          </a:bodyPr>
          <a:lstStyle/>
          <a:p>
            <a:pPr algn="l">
              <a:lnSpc>
                <a:spcPts val="3240"/>
              </a:lnSpc>
            </a:pPr>
            <a:r>
              <a:rPr lang="en-US" sz="2700">
                <a:solidFill>
                  <a:srgbClr val="164673"/>
                </a:solidFill>
                <a:latin typeface="Montserrat"/>
                <a:ea typeface="Montserrat"/>
                <a:cs typeface="Montserrat"/>
                <a:sym typeface="Montserrat"/>
              </a:rPr>
              <a:t>Biện pháp khắc phục</a:t>
            </a:r>
          </a:p>
        </p:txBody>
      </p:sp>
      <p:sp>
        <p:nvSpPr>
          <p:cNvPr id="8" name="TextBox 8"/>
          <p:cNvSpPr txBox="1"/>
          <p:nvPr/>
        </p:nvSpPr>
        <p:spPr>
          <a:xfrm>
            <a:off x="9601200" y="7327925"/>
            <a:ext cx="7829550" cy="965749"/>
          </a:xfrm>
          <a:prstGeom prst="rect">
            <a:avLst/>
          </a:prstGeom>
        </p:spPr>
        <p:txBody>
          <a:bodyPr lIns="0" tIns="0" rIns="0" bIns="0" rtlCol="0" anchor="t">
            <a:spAutoFit/>
          </a:bodyPr>
          <a:lstStyle/>
          <a:p>
            <a:pPr algn="l">
              <a:lnSpc>
                <a:spcPts val="3887"/>
              </a:lnSpc>
            </a:pPr>
            <a:r>
              <a:rPr lang="en-US" sz="2025">
                <a:solidFill>
                  <a:srgbClr val="10B981"/>
                </a:solidFill>
                <a:latin typeface="Open Sans"/>
                <a:ea typeface="Open Sans"/>
                <a:cs typeface="Open Sans"/>
                <a:sym typeface="Open Sans"/>
              </a:rPr>
              <a:t>Kết quả: Hệ thống chạy ổn định ở ~400 rows/s, độ trễ 230ms, không còn OOM hay backpressure.</a:t>
            </a:r>
          </a:p>
        </p:txBody>
      </p:sp>
      <p:graphicFrame>
        <p:nvGraphicFramePr>
          <p:cNvPr id="9" name="Table 9"/>
          <p:cNvGraphicFramePr>
            <a:graphicFrameLocks noGrp="1"/>
          </p:cNvGraphicFramePr>
          <p:nvPr/>
        </p:nvGraphicFramePr>
        <p:xfrm>
          <a:off x="9429750" y="3676111"/>
          <a:ext cx="7962900" cy="3429000"/>
        </p:xfrm>
        <a:graphic>
          <a:graphicData uri="http://schemas.openxmlformats.org/drawingml/2006/table">
            <a:tbl>
              <a:tblPr/>
              <a:tblGrid>
                <a:gridCol w="2444894">
                  <a:extLst>
                    <a:ext uri="{9D8B030D-6E8A-4147-A177-3AD203B41FA5}">
                      <a16:colId xmlns:a16="http://schemas.microsoft.com/office/drawing/2014/main" val="20000"/>
                    </a:ext>
                  </a:extLst>
                </a:gridCol>
                <a:gridCol w="2837489">
                  <a:extLst>
                    <a:ext uri="{9D8B030D-6E8A-4147-A177-3AD203B41FA5}">
                      <a16:colId xmlns:a16="http://schemas.microsoft.com/office/drawing/2014/main" val="20001"/>
                    </a:ext>
                  </a:extLst>
                </a:gridCol>
                <a:gridCol w="2680517">
                  <a:extLst>
                    <a:ext uri="{9D8B030D-6E8A-4147-A177-3AD203B41FA5}">
                      <a16:colId xmlns:a16="http://schemas.microsoft.com/office/drawing/2014/main" val="20002"/>
                    </a:ext>
                  </a:extLst>
                </a:gridCol>
              </a:tblGrid>
              <a:tr h="685800">
                <a:tc>
                  <a:txBody>
                    <a:bodyPr/>
                    <a:lstStyle/>
                    <a:p>
                      <a:pPr algn="l">
                        <a:lnSpc>
                          <a:spcPts val="2160"/>
                        </a:lnSpc>
                        <a:defRPr/>
                      </a:pPr>
                      <a:r>
                        <a:rPr lang="en-US" sz="1800">
                          <a:solidFill>
                            <a:srgbClr val="FFFFFF"/>
                          </a:solidFill>
                          <a:latin typeface="Montserrat"/>
                          <a:ea typeface="Montserrat"/>
                          <a:cs typeface="Montserrat"/>
                          <a:sym typeface="Montserrat"/>
                        </a:rPr>
                        <a:t>Biện pháp</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tc>
                  <a:txBody>
                    <a:bodyPr/>
                    <a:lstStyle/>
                    <a:p>
                      <a:pPr algn="l">
                        <a:lnSpc>
                          <a:spcPts val="2160"/>
                        </a:lnSpc>
                        <a:defRPr/>
                      </a:pPr>
                      <a:r>
                        <a:rPr lang="en-US" sz="1800">
                          <a:solidFill>
                            <a:srgbClr val="FFFFFF"/>
                          </a:solidFill>
                          <a:latin typeface="Montserrat"/>
                          <a:ea typeface="Montserrat"/>
                          <a:cs typeface="Montserrat"/>
                          <a:sym typeface="Montserrat"/>
                        </a:rPr>
                        <a:t>Trước</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tc>
                  <a:txBody>
                    <a:bodyPr/>
                    <a:lstStyle/>
                    <a:p>
                      <a:pPr algn="l">
                        <a:lnSpc>
                          <a:spcPts val="2160"/>
                        </a:lnSpc>
                        <a:defRPr/>
                      </a:pPr>
                      <a:r>
                        <a:rPr lang="en-US" sz="1800">
                          <a:solidFill>
                            <a:srgbClr val="FFFFFF"/>
                          </a:solidFill>
                          <a:latin typeface="Montserrat"/>
                          <a:ea typeface="Montserrat"/>
                          <a:cs typeface="Montserrat"/>
                          <a:sym typeface="Montserrat"/>
                        </a:rPr>
                        <a:t>Sau</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extLst>
                  <a:ext uri="{0D108BD9-81ED-4DB2-BD59-A6C34878D82A}">
                    <a16:rowId xmlns:a16="http://schemas.microsoft.com/office/drawing/2014/main" val="10000"/>
                  </a:ext>
                </a:extLst>
              </a:tr>
              <a:tr h="685800">
                <a:tc>
                  <a:txBody>
                    <a:bodyPr/>
                    <a:lstStyle/>
                    <a:p>
                      <a:pPr algn="l">
                        <a:lnSpc>
                          <a:spcPts val="2160"/>
                        </a:lnSpc>
                        <a:defRPr/>
                      </a:pPr>
                      <a:r>
                        <a:rPr lang="en-US" sz="1800">
                          <a:solidFill>
                            <a:srgbClr val="475569"/>
                          </a:solidFill>
                          <a:latin typeface="Open Sans"/>
                          <a:ea typeface="Open Sans"/>
                          <a:cs typeface="Open Sans"/>
                          <a:sym typeface="Open Sans"/>
                        </a:rPr>
                        <a:t>Yellow sleep</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l">
                        <a:lnSpc>
                          <a:spcPts val="2160"/>
                        </a:lnSpc>
                        <a:defRPr/>
                      </a:pPr>
                      <a:r>
                        <a:rPr lang="en-US" sz="1800">
                          <a:solidFill>
                            <a:srgbClr val="475569"/>
                          </a:solidFill>
                          <a:latin typeface="Open Sans"/>
                          <a:ea typeface="Open Sans"/>
                          <a:cs typeface="Open Sans"/>
                          <a:sym typeface="Open Sans"/>
                        </a:rPr>
                        <a:t>0.001s (~1000/s)</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l">
                        <a:lnSpc>
                          <a:spcPts val="2160"/>
                        </a:lnSpc>
                        <a:defRPr/>
                      </a:pPr>
                      <a:r>
                        <a:rPr lang="en-US" sz="1800">
                          <a:solidFill>
                            <a:srgbClr val="475569"/>
                          </a:solidFill>
                          <a:latin typeface="Open Sans"/>
                          <a:ea typeface="Open Sans"/>
                          <a:cs typeface="Open Sans"/>
                          <a:sym typeface="Open Sans"/>
                        </a:rPr>
                        <a:t>0.005s (~200/s)</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1"/>
                  </a:ext>
                </a:extLst>
              </a:tr>
              <a:tr h="685800">
                <a:tc>
                  <a:txBody>
                    <a:bodyPr/>
                    <a:lstStyle/>
                    <a:p>
                      <a:pPr algn="l">
                        <a:lnSpc>
                          <a:spcPts val="2160"/>
                        </a:lnSpc>
                        <a:defRPr/>
                      </a:pPr>
                      <a:r>
                        <a:rPr lang="en-US" sz="1800">
                          <a:solidFill>
                            <a:srgbClr val="475569"/>
                          </a:solidFill>
                          <a:latin typeface="Open Sans"/>
                          <a:ea typeface="Open Sans"/>
                          <a:cs typeface="Open Sans"/>
                          <a:sym typeface="Open Sans"/>
                        </a:rPr>
                        <a:t>Green sleep</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l">
                        <a:lnSpc>
                          <a:spcPts val="2160"/>
                        </a:lnSpc>
                        <a:defRPr/>
                      </a:pPr>
                      <a:r>
                        <a:rPr lang="en-US" sz="1800">
                          <a:solidFill>
                            <a:srgbClr val="475569"/>
                          </a:solidFill>
                          <a:latin typeface="Open Sans"/>
                          <a:ea typeface="Open Sans"/>
                          <a:cs typeface="Open Sans"/>
                          <a:sym typeface="Open Sans"/>
                        </a:rPr>
                        <a:t>0.002s (~500/s)</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l">
                        <a:lnSpc>
                          <a:spcPts val="2160"/>
                        </a:lnSpc>
                        <a:defRPr/>
                      </a:pPr>
                      <a:r>
                        <a:rPr lang="en-US" sz="1800">
                          <a:solidFill>
                            <a:srgbClr val="475569"/>
                          </a:solidFill>
                          <a:latin typeface="Open Sans"/>
                          <a:ea typeface="Open Sans"/>
                          <a:cs typeface="Open Sans"/>
                          <a:sym typeface="Open Sans"/>
                        </a:rPr>
                        <a:t>0.005s (~200/s)</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685800">
                <a:tc>
                  <a:txBody>
                    <a:bodyPr/>
                    <a:lstStyle/>
                    <a:p>
                      <a:pPr algn="l">
                        <a:lnSpc>
                          <a:spcPts val="2160"/>
                        </a:lnSpc>
                        <a:defRPr/>
                      </a:pPr>
                      <a:r>
                        <a:rPr lang="en-US" sz="1800">
                          <a:solidFill>
                            <a:srgbClr val="475569"/>
                          </a:solidFill>
                          <a:latin typeface="Open Sans"/>
                          <a:ea typeface="Open Sans"/>
                          <a:cs typeface="Open Sans"/>
                          <a:sym typeface="Open Sans"/>
                        </a:rPr>
                        <a:t>maxOffsets...</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l">
                        <a:lnSpc>
                          <a:spcPts val="2160"/>
                        </a:lnSpc>
                        <a:defRPr/>
                      </a:pPr>
                      <a:r>
                        <a:rPr lang="en-US" sz="1800">
                          <a:solidFill>
                            <a:srgbClr val="475569"/>
                          </a:solidFill>
                          <a:latin typeface="Open Sans"/>
                          <a:ea typeface="Open Sans"/>
                          <a:cs typeface="Open Sans"/>
                          <a:sym typeface="Open Sans"/>
                        </a:rPr>
                        <a:t>Không giới hạn</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l">
                        <a:lnSpc>
                          <a:spcPts val="2160"/>
                        </a:lnSpc>
                        <a:defRPr/>
                      </a:pPr>
                      <a:r>
                        <a:rPr lang="en-US" sz="1800">
                          <a:solidFill>
                            <a:srgbClr val="475569"/>
                          </a:solidFill>
                          <a:latin typeface="Open Sans"/>
                          <a:ea typeface="Open Sans"/>
                          <a:cs typeface="Open Sans"/>
                          <a:sym typeface="Open Sans"/>
                        </a:rPr>
                        <a:t>5.000 / batch</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3"/>
                  </a:ext>
                </a:extLst>
              </a:tr>
              <a:tr h="685800">
                <a:tc>
                  <a:txBody>
                    <a:bodyPr/>
                    <a:lstStyle/>
                    <a:p>
                      <a:pPr algn="l">
                        <a:lnSpc>
                          <a:spcPts val="2160"/>
                        </a:lnSpc>
                        <a:defRPr/>
                      </a:pPr>
                      <a:r>
                        <a:rPr lang="en-US" sz="1800">
                          <a:solidFill>
                            <a:srgbClr val="475569"/>
                          </a:solidFill>
                          <a:latin typeface="Open Sans"/>
                          <a:ea typeface="Open Sans"/>
                          <a:cs typeface="Open Sans"/>
                          <a:sym typeface="Open Sans"/>
                        </a:rPr>
                        <a:t>kafka...poll</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l">
                        <a:lnSpc>
                          <a:spcPts val="2160"/>
                        </a:lnSpc>
                        <a:defRPr/>
                      </a:pPr>
                      <a:r>
                        <a:rPr lang="en-US" sz="1800">
                          <a:solidFill>
                            <a:srgbClr val="475569"/>
                          </a:solidFill>
                          <a:latin typeface="Open Sans"/>
                          <a:ea typeface="Open Sans"/>
                          <a:cs typeface="Open Sans"/>
                          <a:sym typeface="Open Sans"/>
                        </a:rPr>
                        <a:t>Mặc định</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l">
                        <a:lnSpc>
                          <a:spcPts val="2160"/>
                        </a:lnSpc>
                        <a:defRPr/>
                      </a:pPr>
                      <a:r>
                        <a:rPr lang="en-US" sz="1800">
                          <a:solidFill>
                            <a:srgbClr val="475569"/>
                          </a:solidFill>
                          <a:latin typeface="Open Sans"/>
                          <a:ea typeface="Open Sans"/>
                          <a:cs typeface="Open Sans"/>
                          <a:sym typeface="Open Sans"/>
                        </a:rPr>
                        <a:t>500</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bl>
          </a:graphicData>
        </a:graphic>
      </p:graphicFrame>
      <p:sp>
        <p:nvSpPr>
          <p:cNvPr id="10" name="TextBox 10"/>
          <p:cNvSpPr txBox="1"/>
          <p:nvPr/>
        </p:nvSpPr>
        <p:spPr>
          <a:xfrm>
            <a:off x="857250" y="857250"/>
            <a:ext cx="17402175" cy="700088"/>
          </a:xfrm>
          <a:prstGeom prst="rect">
            <a:avLst/>
          </a:prstGeom>
        </p:spPr>
        <p:txBody>
          <a:bodyPr lIns="0" tIns="0" rIns="0" bIns="0" rtlCol="0" anchor="t">
            <a:spAutoFit/>
          </a:bodyPr>
          <a:lstStyle/>
          <a:p>
            <a:pPr algn="l">
              <a:lnSpc>
                <a:spcPts val="5130"/>
              </a:lnSpc>
            </a:pPr>
            <a:r>
              <a:rPr lang="en-US" sz="4275" b="1">
                <a:solidFill>
                  <a:srgbClr val="164673"/>
                </a:solidFill>
                <a:latin typeface="Montserrat Bold"/>
                <a:ea typeface="Montserrat Bold"/>
                <a:cs typeface="Montserrat Bold"/>
                <a:sym typeface="Montserrat Bold"/>
              </a:rPr>
              <a:t>THÁCH THỨC THỰC TẾ #1: THROUGHPUT CAO</a:t>
            </a:r>
          </a:p>
        </p:txBody>
      </p:sp>
      <p:grpSp>
        <p:nvGrpSpPr>
          <p:cNvPr id="11" name="Group 11"/>
          <p:cNvGrpSpPr/>
          <p:nvPr/>
        </p:nvGrpSpPr>
        <p:grpSpPr>
          <a:xfrm>
            <a:off x="857250" y="1671638"/>
            <a:ext cx="16573500" cy="28575"/>
            <a:chOff x="0" y="0"/>
            <a:chExt cx="22098000" cy="38100"/>
          </a:xfrm>
        </p:grpSpPr>
        <p:sp>
          <p:nvSpPr>
            <p:cNvPr id="12" name="Freeform 12"/>
            <p:cNvSpPr/>
            <p:nvPr/>
          </p:nvSpPr>
          <p:spPr>
            <a:xfrm>
              <a:off x="0" y="0"/>
              <a:ext cx="22098000" cy="38100"/>
            </a:xfrm>
            <a:custGeom>
              <a:avLst/>
              <a:gdLst/>
              <a:ahLst/>
              <a:cxnLst/>
              <a:rect l="l" t="t" r="r" b="b"/>
              <a:pathLst>
                <a:path w="22098000" h="38100">
                  <a:moveTo>
                    <a:pt x="0" y="0"/>
                  </a:moveTo>
                  <a:lnTo>
                    <a:pt x="22098000" y="0"/>
                  </a:lnTo>
                  <a:lnTo>
                    <a:pt x="22098000" y="38100"/>
                  </a:lnTo>
                  <a:lnTo>
                    <a:pt x="0" y="38100"/>
                  </a:lnTo>
                  <a:close/>
                </a:path>
              </a:pathLst>
            </a:custGeom>
            <a:solidFill>
              <a:srgbClr val="48A6D8"/>
            </a:solidFill>
          </p:spPr>
          <p:txBody>
            <a:bodyPr/>
            <a:lstStyle/>
            <a:p>
              <a:endParaRPr lang="vi-VN"/>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grpSp>
        <p:nvGrpSpPr>
          <p:cNvPr id="4" name="Group 4"/>
          <p:cNvGrpSpPr/>
          <p:nvPr/>
        </p:nvGrpSpPr>
        <p:grpSpPr>
          <a:xfrm>
            <a:off x="857250" y="2840307"/>
            <a:ext cx="5238826" cy="6589443"/>
            <a:chOff x="0" y="0"/>
            <a:chExt cx="6985102" cy="8785924"/>
          </a:xfrm>
        </p:grpSpPr>
        <p:sp>
          <p:nvSpPr>
            <p:cNvPr id="5" name="Freeform 5" descr="image.png"/>
            <p:cNvSpPr/>
            <p:nvPr/>
          </p:nvSpPr>
          <p:spPr>
            <a:xfrm>
              <a:off x="0" y="0"/>
              <a:ext cx="6985127" cy="8785860"/>
            </a:xfrm>
            <a:custGeom>
              <a:avLst/>
              <a:gdLst/>
              <a:ahLst/>
              <a:cxnLst/>
              <a:rect l="l" t="t" r="r" b="b"/>
              <a:pathLst>
                <a:path w="6985127" h="8785860">
                  <a:moveTo>
                    <a:pt x="0" y="0"/>
                  </a:moveTo>
                  <a:lnTo>
                    <a:pt x="6985127" y="0"/>
                  </a:lnTo>
                  <a:lnTo>
                    <a:pt x="6985127" y="8785860"/>
                  </a:lnTo>
                  <a:lnTo>
                    <a:pt x="0" y="8785860"/>
                  </a:lnTo>
                  <a:lnTo>
                    <a:pt x="0" y="0"/>
                  </a:lnTo>
                  <a:close/>
                </a:path>
              </a:pathLst>
            </a:custGeom>
            <a:blipFill>
              <a:blip r:embed="rId4"/>
              <a:stretch>
                <a:fillRect b="-83"/>
              </a:stretch>
            </a:blipFill>
          </p:spPr>
          <p:txBody>
            <a:bodyPr/>
            <a:lstStyle/>
            <a:p>
              <a:endParaRPr lang="vi-VN"/>
            </a:p>
          </p:txBody>
        </p:sp>
      </p:grpSp>
      <p:grpSp>
        <p:nvGrpSpPr>
          <p:cNvPr id="6" name="Group 6"/>
          <p:cNvGrpSpPr/>
          <p:nvPr/>
        </p:nvGrpSpPr>
        <p:grpSpPr>
          <a:xfrm>
            <a:off x="6524701" y="2840307"/>
            <a:ext cx="5238826" cy="6589443"/>
            <a:chOff x="0" y="0"/>
            <a:chExt cx="6985102" cy="8785924"/>
          </a:xfrm>
        </p:grpSpPr>
        <p:sp>
          <p:nvSpPr>
            <p:cNvPr id="7" name="Freeform 7" descr="image.png"/>
            <p:cNvSpPr/>
            <p:nvPr/>
          </p:nvSpPr>
          <p:spPr>
            <a:xfrm>
              <a:off x="0" y="0"/>
              <a:ext cx="6985127" cy="8785860"/>
            </a:xfrm>
            <a:custGeom>
              <a:avLst/>
              <a:gdLst/>
              <a:ahLst/>
              <a:cxnLst/>
              <a:rect l="l" t="t" r="r" b="b"/>
              <a:pathLst>
                <a:path w="6985127" h="8785860">
                  <a:moveTo>
                    <a:pt x="0" y="0"/>
                  </a:moveTo>
                  <a:lnTo>
                    <a:pt x="6985127" y="0"/>
                  </a:lnTo>
                  <a:lnTo>
                    <a:pt x="6985127" y="8785860"/>
                  </a:lnTo>
                  <a:lnTo>
                    <a:pt x="0" y="8785860"/>
                  </a:lnTo>
                  <a:lnTo>
                    <a:pt x="0" y="0"/>
                  </a:lnTo>
                  <a:close/>
                </a:path>
              </a:pathLst>
            </a:custGeom>
            <a:blipFill>
              <a:blip r:embed="rId5"/>
              <a:stretch>
                <a:fillRect r="-188"/>
              </a:stretch>
            </a:blipFill>
          </p:spPr>
          <p:txBody>
            <a:bodyPr/>
            <a:lstStyle/>
            <a:p>
              <a:endParaRPr lang="vi-VN"/>
            </a:p>
          </p:txBody>
        </p:sp>
      </p:grpSp>
      <p:grpSp>
        <p:nvGrpSpPr>
          <p:cNvPr id="8" name="Group 8"/>
          <p:cNvGrpSpPr/>
          <p:nvPr/>
        </p:nvGrpSpPr>
        <p:grpSpPr>
          <a:xfrm>
            <a:off x="12192152" y="2840307"/>
            <a:ext cx="5238826" cy="6589443"/>
            <a:chOff x="0" y="0"/>
            <a:chExt cx="6985102" cy="8785924"/>
          </a:xfrm>
        </p:grpSpPr>
        <p:sp>
          <p:nvSpPr>
            <p:cNvPr id="9" name="Freeform 9" descr="image.png"/>
            <p:cNvSpPr/>
            <p:nvPr/>
          </p:nvSpPr>
          <p:spPr>
            <a:xfrm>
              <a:off x="0" y="0"/>
              <a:ext cx="6985127" cy="8785860"/>
            </a:xfrm>
            <a:custGeom>
              <a:avLst/>
              <a:gdLst/>
              <a:ahLst/>
              <a:cxnLst/>
              <a:rect l="l" t="t" r="r" b="b"/>
              <a:pathLst>
                <a:path w="6985127" h="8785860">
                  <a:moveTo>
                    <a:pt x="0" y="0"/>
                  </a:moveTo>
                  <a:lnTo>
                    <a:pt x="6985127" y="0"/>
                  </a:lnTo>
                  <a:lnTo>
                    <a:pt x="6985127" y="8785860"/>
                  </a:lnTo>
                  <a:lnTo>
                    <a:pt x="0" y="8785860"/>
                  </a:lnTo>
                  <a:lnTo>
                    <a:pt x="0" y="0"/>
                  </a:lnTo>
                  <a:close/>
                </a:path>
              </a:pathLst>
            </a:custGeom>
            <a:blipFill>
              <a:blip r:embed="rId6"/>
              <a:stretch>
                <a:fillRect r="-188"/>
              </a:stretch>
            </a:blipFill>
          </p:spPr>
          <p:txBody>
            <a:bodyPr/>
            <a:lstStyle/>
            <a:p>
              <a:endParaRPr lang="vi-VN"/>
            </a:p>
          </p:txBody>
        </p:sp>
      </p:grpSp>
      <p:sp>
        <p:nvSpPr>
          <p:cNvPr id="10" name="TextBox 10"/>
          <p:cNvSpPr txBox="1"/>
          <p:nvPr/>
        </p:nvSpPr>
        <p:spPr>
          <a:xfrm>
            <a:off x="857250" y="1985963"/>
            <a:ext cx="12887325" cy="568595"/>
          </a:xfrm>
          <a:prstGeom prst="rect">
            <a:avLst/>
          </a:prstGeom>
        </p:spPr>
        <p:txBody>
          <a:bodyPr lIns="0" tIns="0" rIns="0" bIns="0" rtlCol="0" anchor="t">
            <a:spAutoFit/>
          </a:bodyPr>
          <a:lstStyle/>
          <a:p>
            <a:pPr algn="ctr">
              <a:lnSpc>
                <a:spcPts val="3887"/>
              </a:lnSpc>
            </a:pPr>
            <a:r>
              <a:rPr lang="en-US" sz="2025">
                <a:solidFill>
                  <a:srgbClr val="475569"/>
                </a:solidFill>
                <a:latin typeface="Open Sans"/>
                <a:ea typeface="Open Sans"/>
                <a:cs typeface="Open Sans"/>
                <a:sym typeface="Open Sans"/>
              </a:rPr>
              <a:t>Dữ liệu NYC TLC là dữ liệu thô, không có cột is_fraud hay is_anomaly. Giải pháp: Tạo Ground Truth bằng AI.</a:t>
            </a:r>
          </a:p>
        </p:txBody>
      </p:sp>
      <p:grpSp>
        <p:nvGrpSpPr>
          <p:cNvPr id="11" name="Group 11"/>
          <p:cNvGrpSpPr/>
          <p:nvPr/>
        </p:nvGrpSpPr>
        <p:grpSpPr>
          <a:xfrm>
            <a:off x="2976486" y="3283220"/>
            <a:ext cx="1000125" cy="1000125"/>
            <a:chOff x="0" y="0"/>
            <a:chExt cx="1333500" cy="1333500"/>
          </a:xfrm>
        </p:grpSpPr>
        <p:sp>
          <p:nvSpPr>
            <p:cNvPr id="12" name="Freeform 12" descr="image.png"/>
            <p:cNvSpPr/>
            <p:nvPr/>
          </p:nvSpPr>
          <p:spPr>
            <a:xfrm>
              <a:off x="0" y="0"/>
              <a:ext cx="1333500" cy="1333500"/>
            </a:xfrm>
            <a:custGeom>
              <a:avLst/>
              <a:gdLst/>
              <a:ahLst/>
              <a:cxnLst/>
              <a:rect l="l" t="t" r="r" b="b"/>
              <a:pathLst>
                <a:path w="1333500" h="1333500">
                  <a:moveTo>
                    <a:pt x="0" y="0"/>
                  </a:moveTo>
                  <a:lnTo>
                    <a:pt x="1333500" y="0"/>
                  </a:lnTo>
                  <a:lnTo>
                    <a:pt x="1333500" y="1333500"/>
                  </a:lnTo>
                  <a:lnTo>
                    <a:pt x="0" y="1333500"/>
                  </a:lnTo>
                  <a:lnTo>
                    <a:pt x="0" y="0"/>
                  </a:lnTo>
                  <a:close/>
                </a:path>
              </a:pathLst>
            </a:custGeom>
            <a:blipFill>
              <a:blip r:embed="rId7"/>
              <a:stretch>
                <a:fillRect/>
              </a:stretch>
            </a:blipFill>
          </p:spPr>
          <p:txBody>
            <a:bodyPr/>
            <a:lstStyle/>
            <a:p>
              <a:endParaRPr lang="vi-VN"/>
            </a:p>
          </p:txBody>
        </p:sp>
      </p:grpSp>
      <p:sp>
        <p:nvSpPr>
          <p:cNvPr id="13" name="TextBox 13"/>
          <p:cNvSpPr txBox="1"/>
          <p:nvPr/>
        </p:nvSpPr>
        <p:spPr>
          <a:xfrm>
            <a:off x="1191339" y="4569095"/>
            <a:ext cx="4570647" cy="828675"/>
          </a:xfrm>
          <a:prstGeom prst="rect">
            <a:avLst/>
          </a:prstGeom>
        </p:spPr>
        <p:txBody>
          <a:bodyPr lIns="0" tIns="0" rIns="0" bIns="0" rtlCol="0" anchor="t">
            <a:spAutoFit/>
          </a:bodyPr>
          <a:lstStyle/>
          <a:p>
            <a:pPr algn="ctr">
              <a:lnSpc>
                <a:spcPts val="3240"/>
              </a:lnSpc>
            </a:pPr>
            <a:r>
              <a:rPr lang="en-US" sz="2700">
                <a:solidFill>
                  <a:srgbClr val="164673"/>
                </a:solidFill>
                <a:latin typeface="Montserrat"/>
                <a:ea typeface="Montserrat"/>
                <a:cs typeface="Montserrat"/>
                <a:sym typeface="Montserrat"/>
              </a:rPr>
              <a:t>Bước 1: Offline AI Labeler</a:t>
            </a:r>
          </a:p>
        </p:txBody>
      </p:sp>
      <p:sp>
        <p:nvSpPr>
          <p:cNvPr id="14" name="TextBox 14"/>
          <p:cNvSpPr txBox="1"/>
          <p:nvPr/>
        </p:nvSpPr>
        <p:spPr>
          <a:xfrm>
            <a:off x="1300162" y="5497782"/>
            <a:ext cx="4353001" cy="1942652"/>
          </a:xfrm>
          <a:prstGeom prst="rect">
            <a:avLst/>
          </a:prstGeom>
        </p:spPr>
        <p:txBody>
          <a:bodyPr lIns="0" tIns="0" rIns="0" bIns="0" rtlCol="0" anchor="t">
            <a:spAutoFit/>
          </a:bodyPr>
          <a:lstStyle/>
          <a:p>
            <a:pPr algn="ctr">
              <a:lnSpc>
                <a:spcPts val="3456"/>
              </a:lnSpc>
            </a:pPr>
            <a:r>
              <a:rPr lang="en-US" sz="1800">
                <a:solidFill>
                  <a:srgbClr val="64748B"/>
                </a:solidFill>
                <a:latin typeface="Open Sans"/>
                <a:ea typeface="Open Sans"/>
                <a:cs typeface="Open Sans"/>
                <a:sym typeface="Open Sans"/>
              </a:rPr>
              <a:t>Chạy mô hình IF cực mạnh (n_estimators=300, max_samples=256k, n_jobs=-1) trên toàn bộ 4M bản ghi kết hợp 9 luật nghiệp vụ để tạo bộ dữ liệu gán nhãn Parquet tiêu chuẩn.</a:t>
            </a:r>
          </a:p>
        </p:txBody>
      </p:sp>
      <p:grpSp>
        <p:nvGrpSpPr>
          <p:cNvPr id="15" name="Group 15"/>
          <p:cNvGrpSpPr/>
          <p:nvPr/>
        </p:nvGrpSpPr>
        <p:grpSpPr>
          <a:xfrm>
            <a:off x="8643938" y="3283220"/>
            <a:ext cx="1000125" cy="1000125"/>
            <a:chOff x="0" y="0"/>
            <a:chExt cx="1333500" cy="1333500"/>
          </a:xfrm>
        </p:grpSpPr>
        <p:sp>
          <p:nvSpPr>
            <p:cNvPr id="16" name="Freeform 16" descr="image.png"/>
            <p:cNvSpPr/>
            <p:nvPr/>
          </p:nvSpPr>
          <p:spPr>
            <a:xfrm>
              <a:off x="0" y="0"/>
              <a:ext cx="1333500" cy="1333500"/>
            </a:xfrm>
            <a:custGeom>
              <a:avLst/>
              <a:gdLst/>
              <a:ahLst/>
              <a:cxnLst/>
              <a:rect l="l" t="t" r="r" b="b"/>
              <a:pathLst>
                <a:path w="1333500" h="1333500">
                  <a:moveTo>
                    <a:pt x="0" y="0"/>
                  </a:moveTo>
                  <a:lnTo>
                    <a:pt x="1333500" y="0"/>
                  </a:lnTo>
                  <a:lnTo>
                    <a:pt x="1333500" y="1333500"/>
                  </a:lnTo>
                  <a:lnTo>
                    <a:pt x="0" y="1333500"/>
                  </a:lnTo>
                  <a:lnTo>
                    <a:pt x="0" y="0"/>
                  </a:lnTo>
                  <a:close/>
                </a:path>
              </a:pathLst>
            </a:custGeom>
            <a:blipFill>
              <a:blip r:embed="rId8"/>
              <a:stretch>
                <a:fillRect/>
              </a:stretch>
            </a:blipFill>
          </p:spPr>
          <p:txBody>
            <a:bodyPr/>
            <a:lstStyle/>
            <a:p>
              <a:endParaRPr lang="vi-VN"/>
            </a:p>
          </p:txBody>
        </p:sp>
      </p:grpSp>
      <p:sp>
        <p:nvSpPr>
          <p:cNvPr id="17" name="TextBox 17"/>
          <p:cNvSpPr txBox="1"/>
          <p:nvPr/>
        </p:nvSpPr>
        <p:spPr>
          <a:xfrm>
            <a:off x="6858791" y="4569095"/>
            <a:ext cx="4570647" cy="828675"/>
          </a:xfrm>
          <a:prstGeom prst="rect">
            <a:avLst/>
          </a:prstGeom>
        </p:spPr>
        <p:txBody>
          <a:bodyPr lIns="0" tIns="0" rIns="0" bIns="0" rtlCol="0" anchor="t">
            <a:spAutoFit/>
          </a:bodyPr>
          <a:lstStyle/>
          <a:p>
            <a:pPr algn="ctr">
              <a:lnSpc>
                <a:spcPts val="3240"/>
              </a:lnSpc>
            </a:pPr>
            <a:r>
              <a:rPr lang="en-US" sz="2700">
                <a:solidFill>
                  <a:srgbClr val="164673"/>
                </a:solidFill>
                <a:latin typeface="Montserrat"/>
                <a:ea typeface="Montserrat"/>
                <a:cs typeface="Montserrat"/>
                <a:sym typeface="Montserrat"/>
              </a:rPr>
              <a:t>Bước 2: Real-time Matching</a:t>
            </a:r>
          </a:p>
        </p:txBody>
      </p:sp>
      <p:sp>
        <p:nvSpPr>
          <p:cNvPr id="18" name="TextBox 18"/>
          <p:cNvSpPr txBox="1"/>
          <p:nvPr/>
        </p:nvSpPr>
        <p:spPr>
          <a:xfrm>
            <a:off x="6967614" y="5497782"/>
            <a:ext cx="4353001" cy="1605553"/>
          </a:xfrm>
          <a:prstGeom prst="rect">
            <a:avLst/>
          </a:prstGeom>
        </p:spPr>
        <p:txBody>
          <a:bodyPr lIns="0" tIns="0" rIns="0" bIns="0" rtlCol="0" anchor="t">
            <a:spAutoFit/>
          </a:bodyPr>
          <a:lstStyle/>
          <a:p>
            <a:pPr algn="ctr">
              <a:lnSpc>
                <a:spcPts val="3456"/>
              </a:lnSpc>
            </a:pPr>
            <a:r>
              <a:rPr lang="en-US" sz="1800">
                <a:solidFill>
                  <a:srgbClr val="64748B"/>
                </a:solidFill>
                <a:latin typeface="Open Sans"/>
                <a:ea typeface="Open Sans"/>
                <a:cs typeface="Open Sans"/>
                <a:sym typeface="Open Sans"/>
              </a:rPr>
              <a:t>Benchmark Evaluator đối chiếu luồng Streaming với bảng Offline dựa trên composite key: floor_to_minute(pickup) | round2(dist) | round2(fare).</a:t>
            </a:r>
          </a:p>
        </p:txBody>
      </p:sp>
      <p:grpSp>
        <p:nvGrpSpPr>
          <p:cNvPr id="19" name="Group 19"/>
          <p:cNvGrpSpPr/>
          <p:nvPr/>
        </p:nvGrpSpPr>
        <p:grpSpPr>
          <a:xfrm>
            <a:off x="14311389" y="3283220"/>
            <a:ext cx="1000125" cy="1000125"/>
            <a:chOff x="0" y="0"/>
            <a:chExt cx="1333500" cy="1333500"/>
          </a:xfrm>
        </p:grpSpPr>
        <p:sp>
          <p:nvSpPr>
            <p:cNvPr id="20" name="Freeform 20" descr="image.png"/>
            <p:cNvSpPr/>
            <p:nvPr/>
          </p:nvSpPr>
          <p:spPr>
            <a:xfrm>
              <a:off x="0" y="0"/>
              <a:ext cx="1333500" cy="1333500"/>
            </a:xfrm>
            <a:custGeom>
              <a:avLst/>
              <a:gdLst/>
              <a:ahLst/>
              <a:cxnLst/>
              <a:rect l="l" t="t" r="r" b="b"/>
              <a:pathLst>
                <a:path w="1333500" h="1333500">
                  <a:moveTo>
                    <a:pt x="0" y="0"/>
                  </a:moveTo>
                  <a:lnTo>
                    <a:pt x="1333500" y="0"/>
                  </a:lnTo>
                  <a:lnTo>
                    <a:pt x="1333500" y="1333500"/>
                  </a:lnTo>
                  <a:lnTo>
                    <a:pt x="0" y="1333500"/>
                  </a:lnTo>
                  <a:lnTo>
                    <a:pt x="0" y="0"/>
                  </a:lnTo>
                  <a:close/>
                </a:path>
              </a:pathLst>
            </a:custGeom>
            <a:blipFill>
              <a:blip r:embed="rId9"/>
              <a:stretch>
                <a:fillRect/>
              </a:stretch>
            </a:blipFill>
          </p:spPr>
          <p:txBody>
            <a:bodyPr/>
            <a:lstStyle/>
            <a:p>
              <a:endParaRPr lang="vi-VN"/>
            </a:p>
          </p:txBody>
        </p:sp>
      </p:grpSp>
      <p:sp>
        <p:nvSpPr>
          <p:cNvPr id="21" name="TextBox 21"/>
          <p:cNvSpPr txBox="1"/>
          <p:nvPr/>
        </p:nvSpPr>
        <p:spPr>
          <a:xfrm>
            <a:off x="12526232" y="4569095"/>
            <a:ext cx="4570647" cy="828675"/>
          </a:xfrm>
          <a:prstGeom prst="rect">
            <a:avLst/>
          </a:prstGeom>
        </p:spPr>
        <p:txBody>
          <a:bodyPr lIns="0" tIns="0" rIns="0" bIns="0" rtlCol="0" anchor="t">
            <a:spAutoFit/>
          </a:bodyPr>
          <a:lstStyle/>
          <a:p>
            <a:pPr algn="ctr">
              <a:lnSpc>
                <a:spcPts val="3240"/>
              </a:lnSpc>
            </a:pPr>
            <a:r>
              <a:rPr lang="en-US" sz="2700">
                <a:solidFill>
                  <a:srgbClr val="164673"/>
                </a:solidFill>
                <a:latin typeface="Montserrat"/>
                <a:ea typeface="Montserrat"/>
                <a:cs typeface="Montserrat"/>
                <a:sym typeface="Montserrat"/>
              </a:rPr>
              <a:t>Bước 3: Đo lường Trade-off</a:t>
            </a:r>
          </a:p>
        </p:txBody>
      </p:sp>
      <p:sp>
        <p:nvSpPr>
          <p:cNvPr id="22" name="TextBox 22"/>
          <p:cNvSpPr txBox="1"/>
          <p:nvPr/>
        </p:nvSpPr>
        <p:spPr>
          <a:xfrm>
            <a:off x="12635065" y="5497782"/>
            <a:ext cx="4353001" cy="1942652"/>
          </a:xfrm>
          <a:prstGeom prst="rect">
            <a:avLst/>
          </a:prstGeom>
        </p:spPr>
        <p:txBody>
          <a:bodyPr lIns="0" tIns="0" rIns="0" bIns="0" rtlCol="0" anchor="t">
            <a:spAutoFit/>
          </a:bodyPr>
          <a:lstStyle/>
          <a:p>
            <a:pPr algn="ctr">
              <a:lnSpc>
                <a:spcPts val="3456"/>
              </a:lnSpc>
            </a:pPr>
            <a:r>
              <a:rPr lang="en-US" sz="1800">
                <a:solidFill>
                  <a:srgbClr val="64748B"/>
                </a:solidFill>
                <a:latin typeface="Open Sans"/>
                <a:ea typeface="Open Sans"/>
                <a:cs typeface="Open Sans"/>
                <a:sym typeface="Open Sans"/>
              </a:rPr>
              <a:t>Đánh giá hiệu quả của Streaming (nhanh, tài nguyên thấp) so với Batch offline (chậm hàng giờ, độ chính xác cao), tính toán P/R/F1 theo thời gian thực.</a:t>
            </a:r>
          </a:p>
        </p:txBody>
      </p:sp>
      <p:grpSp>
        <p:nvGrpSpPr>
          <p:cNvPr id="23" name="Group 23"/>
          <p:cNvGrpSpPr/>
          <p:nvPr/>
        </p:nvGrpSpPr>
        <p:grpSpPr>
          <a:xfrm>
            <a:off x="3247949" y="3554682"/>
            <a:ext cx="457200" cy="457200"/>
            <a:chOff x="0" y="0"/>
            <a:chExt cx="609600" cy="609600"/>
          </a:xfrm>
        </p:grpSpPr>
        <p:sp>
          <p:nvSpPr>
            <p:cNvPr id="24" name="Freeform 24" descr="image.png"/>
            <p:cNvSpPr/>
            <p:nvPr/>
          </p:nvSpPr>
          <p:spPr>
            <a:xfrm>
              <a:off x="0" y="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blipFill>
              <a:blip r:embed="rId10"/>
              <a:stretch>
                <a:fillRect/>
              </a:stretch>
            </a:blipFill>
          </p:spPr>
          <p:txBody>
            <a:bodyPr/>
            <a:lstStyle/>
            <a:p>
              <a:endParaRPr lang="vi-VN"/>
            </a:p>
          </p:txBody>
        </p:sp>
      </p:grpSp>
      <p:grpSp>
        <p:nvGrpSpPr>
          <p:cNvPr id="25" name="Group 25"/>
          <p:cNvGrpSpPr/>
          <p:nvPr/>
        </p:nvGrpSpPr>
        <p:grpSpPr>
          <a:xfrm>
            <a:off x="8915400" y="3554682"/>
            <a:ext cx="457200" cy="457200"/>
            <a:chOff x="0" y="0"/>
            <a:chExt cx="609600" cy="609600"/>
          </a:xfrm>
        </p:grpSpPr>
        <p:sp>
          <p:nvSpPr>
            <p:cNvPr id="26" name="Freeform 26" descr="image.png"/>
            <p:cNvSpPr/>
            <p:nvPr/>
          </p:nvSpPr>
          <p:spPr>
            <a:xfrm>
              <a:off x="0" y="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blipFill>
              <a:blip r:embed="rId11"/>
              <a:stretch>
                <a:fillRect/>
              </a:stretch>
            </a:blipFill>
          </p:spPr>
          <p:txBody>
            <a:bodyPr/>
            <a:lstStyle/>
            <a:p>
              <a:endParaRPr lang="vi-VN"/>
            </a:p>
          </p:txBody>
        </p:sp>
      </p:grpSp>
      <p:grpSp>
        <p:nvGrpSpPr>
          <p:cNvPr id="27" name="Group 27"/>
          <p:cNvGrpSpPr/>
          <p:nvPr/>
        </p:nvGrpSpPr>
        <p:grpSpPr>
          <a:xfrm>
            <a:off x="14582851" y="3554682"/>
            <a:ext cx="457200" cy="457200"/>
            <a:chOff x="0" y="0"/>
            <a:chExt cx="609600" cy="609600"/>
          </a:xfrm>
        </p:grpSpPr>
        <p:sp>
          <p:nvSpPr>
            <p:cNvPr id="28" name="Freeform 28" descr="image.png"/>
            <p:cNvSpPr/>
            <p:nvPr/>
          </p:nvSpPr>
          <p:spPr>
            <a:xfrm>
              <a:off x="0" y="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blipFill>
              <a:blip r:embed="rId12"/>
              <a:stretch>
                <a:fillRect/>
              </a:stretch>
            </a:blipFill>
          </p:spPr>
          <p:txBody>
            <a:bodyPr/>
            <a:lstStyle/>
            <a:p>
              <a:endParaRPr lang="vi-VN"/>
            </a:p>
          </p:txBody>
        </p:sp>
      </p:grpSp>
      <p:sp>
        <p:nvSpPr>
          <p:cNvPr id="29" name="TextBox 29"/>
          <p:cNvSpPr txBox="1"/>
          <p:nvPr/>
        </p:nvSpPr>
        <p:spPr>
          <a:xfrm>
            <a:off x="857250" y="857250"/>
            <a:ext cx="17402175" cy="700088"/>
          </a:xfrm>
          <a:prstGeom prst="rect">
            <a:avLst/>
          </a:prstGeom>
        </p:spPr>
        <p:txBody>
          <a:bodyPr lIns="0" tIns="0" rIns="0" bIns="0" rtlCol="0" anchor="t">
            <a:spAutoFit/>
          </a:bodyPr>
          <a:lstStyle/>
          <a:p>
            <a:pPr algn="l">
              <a:lnSpc>
                <a:spcPts val="5130"/>
              </a:lnSpc>
            </a:pPr>
            <a:r>
              <a:rPr lang="en-US" sz="4275" b="1">
                <a:solidFill>
                  <a:srgbClr val="164673"/>
                </a:solidFill>
                <a:latin typeface="Montserrat Bold"/>
                <a:ea typeface="Montserrat Bold"/>
                <a:cs typeface="Montserrat Bold"/>
                <a:sym typeface="Montserrat Bold"/>
              </a:rPr>
              <a:t>THÁCH THỨC THỰC TẾ #2: KHÔNG CÓ GROUND TRUTH</a:t>
            </a:r>
          </a:p>
        </p:txBody>
      </p:sp>
      <p:grpSp>
        <p:nvGrpSpPr>
          <p:cNvPr id="30" name="Group 30"/>
          <p:cNvGrpSpPr/>
          <p:nvPr/>
        </p:nvGrpSpPr>
        <p:grpSpPr>
          <a:xfrm>
            <a:off x="857250" y="1671638"/>
            <a:ext cx="16573500" cy="28575"/>
            <a:chOff x="0" y="0"/>
            <a:chExt cx="22098000" cy="38100"/>
          </a:xfrm>
        </p:grpSpPr>
        <p:sp>
          <p:nvSpPr>
            <p:cNvPr id="31" name="Freeform 31"/>
            <p:cNvSpPr/>
            <p:nvPr/>
          </p:nvSpPr>
          <p:spPr>
            <a:xfrm>
              <a:off x="0" y="0"/>
              <a:ext cx="22098000" cy="38100"/>
            </a:xfrm>
            <a:custGeom>
              <a:avLst/>
              <a:gdLst/>
              <a:ahLst/>
              <a:cxnLst/>
              <a:rect l="l" t="t" r="r" b="b"/>
              <a:pathLst>
                <a:path w="22098000" h="38100">
                  <a:moveTo>
                    <a:pt x="0" y="0"/>
                  </a:moveTo>
                  <a:lnTo>
                    <a:pt x="22098000" y="0"/>
                  </a:lnTo>
                  <a:lnTo>
                    <a:pt x="22098000" y="38100"/>
                  </a:lnTo>
                  <a:lnTo>
                    <a:pt x="0" y="38100"/>
                  </a:lnTo>
                  <a:close/>
                </a:path>
              </a:pathLst>
            </a:custGeom>
            <a:solidFill>
              <a:srgbClr val="48A6D8"/>
            </a:solidFill>
          </p:spPr>
          <p:txBody>
            <a:bodyPr/>
            <a:lstStyle/>
            <a:p>
              <a:endParaRPr lang="vi-VN"/>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grpSp>
        <p:nvGrpSpPr>
          <p:cNvPr id="4" name="Group 4"/>
          <p:cNvGrpSpPr/>
          <p:nvPr/>
        </p:nvGrpSpPr>
        <p:grpSpPr>
          <a:xfrm>
            <a:off x="857250" y="7751864"/>
            <a:ext cx="16573500" cy="1451524"/>
            <a:chOff x="0" y="0"/>
            <a:chExt cx="22098000" cy="1935366"/>
          </a:xfrm>
        </p:grpSpPr>
        <p:sp>
          <p:nvSpPr>
            <p:cNvPr id="5" name="Freeform 5" descr="image.png"/>
            <p:cNvSpPr/>
            <p:nvPr/>
          </p:nvSpPr>
          <p:spPr>
            <a:xfrm>
              <a:off x="0" y="0"/>
              <a:ext cx="22098000" cy="1935353"/>
            </a:xfrm>
            <a:custGeom>
              <a:avLst/>
              <a:gdLst/>
              <a:ahLst/>
              <a:cxnLst/>
              <a:rect l="l" t="t" r="r" b="b"/>
              <a:pathLst>
                <a:path w="22098000" h="1935353">
                  <a:moveTo>
                    <a:pt x="0" y="0"/>
                  </a:moveTo>
                  <a:lnTo>
                    <a:pt x="22098000" y="0"/>
                  </a:lnTo>
                  <a:lnTo>
                    <a:pt x="22098000" y="1935353"/>
                  </a:lnTo>
                  <a:lnTo>
                    <a:pt x="0" y="1935353"/>
                  </a:lnTo>
                  <a:lnTo>
                    <a:pt x="0" y="0"/>
                  </a:lnTo>
                  <a:close/>
                </a:path>
              </a:pathLst>
            </a:custGeom>
            <a:blipFill>
              <a:blip r:embed="rId4"/>
              <a:stretch>
                <a:fillRect b="-1384"/>
              </a:stretch>
            </a:blipFill>
          </p:spPr>
          <p:txBody>
            <a:bodyPr/>
            <a:lstStyle/>
            <a:p>
              <a:endParaRPr lang="vi-VN"/>
            </a:p>
          </p:txBody>
        </p:sp>
      </p:grpSp>
      <p:sp>
        <p:nvSpPr>
          <p:cNvPr id="6" name="TextBox 6"/>
          <p:cNvSpPr txBox="1"/>
          <p:nvPr/>
        </p:nvSpPr>
        <p:spPr>
          <a:xfrm>
            <a:off x="857250" y="2071688"/>
            <a:ext cx="11700651" cy="719284"/>
          </a:xfrm>
          <a:prstGeom prst="rect">
            <a:avLst/>
          </a:prstGeom>
        </p:spPr>
        <p:txBody>
          <a:bodyPr lIns="0" tIns="0" rIns="0" bIns="0" rtlCol="0" anchor="t">
            <a:spAutoFit/>
          </a:bodyPr>
          <a:lstStyle/>
          <a:p>
            <a:pPr algn="l">
              <a:lnSpc>
                <a:spcPts val="2916"/>
              </a:lnSpc>
            </a:pPr>
            <a:r>
              <a:rPr lang="en-US" sz="2025" b="1">
                <a:solidFill>
                  <a:srgbClr val="1E293B"/>
                </a:solidFill>
                <a:latin typeface="Open Sans Bold"/>
                <a:ea typeface="Open Sans Bold"/>
                <a:cs typeface="Open Sans Bold"/>
                <a:sym typeface="Open Sans Bold"/>
              </a:rPr>
              <a:t>Môi trường:</a:t>
            </a:r>
            <a:r>
              <a:rPr lang="en-US" sz="2025">
                <a:solidFill>
                  <a:srgbClr val="475569"/>
                </a:solidFill>
                <a:latin typeface="Open Sans"/>
                <a:ea typeface="Open Sans"/>
                <a:cs typeface="Open Sans"/>
                <a:sym typeface="Open Sans"/>
              </a:rPr>
              <a:t> Windows 10/11, Python 3.10+, Spark 4.1.1, Kafka Confluent 7.1.1, PostgreSQL 13.</a:t>
            </a:r>
          </a:p>
          <a:p>
            <a:pPr algn="l">
              <a:lnSpc>
                <a:spcPts val="2916"/>
              </a:lnSpc>
            </a:pPr>
            <a:r>
              <a:rPr lang="en-US" sz="2025">
                <a:solidFill>
                  <a:srgbClr val="475569"/>
                </a:solidFill>
                <a:latin typeface="Open Sans"/>
                <a:ea typeface="Open Sans"/>
                <a:cs typeface="Open Sans"/>
                <a:sym typeface="Open Sans"/>
              </a:rPr>
              <a:t> Spark driver memory: 4GB, maxOffsetsPerTrigger: 5.000, Rolling buffer: 10.000.</a:t>
            </a:r>
          </a:p>
        </p:txBody>
      </p:sp>
      <p:graphicFrame>
        <p:nvGraphicFramePr>
          <p:cNvPr id="7" name="Table 7"/>
          <p:cNvGraphicFramePr>
            <a:graphicFrameLocks noGrp="1"/>
          </p:cNvGraphicFramePr>
          <p:nvPr/>
        </p:nvGraphicFramePr>
        <p:xfrm>
          <a:off x="857250" y="3237457"/>
          <a:ext cx="16535400" cy="4114800"/>
        </p:xfrm>
        <a:graphic>
          <a:graphicData uri="http://schemas.openxmlformats.org/drawingml/2006/table">
            <a:tbl>
              <a:tblPr/>
              <a:tblGrid>
                <a:gridCol w="5154716">
                  <a:extLst>
                    <a:ext uri="{9D8B030D-6E8A-4147-A177-3AD203B41FA5}">
                      <a16:colId xmlns:a16="http://schemas.microsoft.com/office/drawing/2014/main" val="20000"/>
                    </a:ext>
                  </a:extLst>
                </a:gridCol>
                <a:gridCol w="3471108">
                  <a:extLst>
                    <a:ext uri="{9D8B030D-6E8A-4147-A177-3AD203B41FA5}">
                      <a16:colId xmlns:a16="http://schemas.microsoft.com/office/drawing/2014/main" val="20001"/>
                    </a:ext>
                  </a:extLst>
                </a:gridCol>
                <a:gridCol w="3156124">
                  <a:extLst>
                    <a:ext uri="{9D8B030D-6E8A-4147-A177-3AD203B41FA5}">
                      <a16:colId xmlns:a16="http://schemas.microsoft.com/office/drawing/2014/main" val="20002"/>
                    </a:ext>
                  </a:extLst>
                </a:gridCol>
                <a:gridCol w="4753452">
                  <a:extLst>
                    <a:ext uri="{9D8B030D-6E8A-4147-A177-3AD203B41FA5}">
                      <a16:colId xmlns:a16="http://schemas.microsoft.com/office/drawing/2014/main" val="20003"/>
                    </a:ext>
                  </a:extLst>
                </a:gridCol>
              </a:tblGrid>
              <a:tr h="685800">
                <a:tc>
                  <a:txBody>
                    <a:bodyPr/>
                    <a:lstStyle/>
                    <a:p>
                      <a:pPr algn="ctr">
                        <a:lnSpc>
                          <a:spcPts val="2160"/>
                        </a:lnSpc>
                        <a:defRPr/>
                      </a:pPr>
                      <a:r>
                        <a:rPr lang="en-US" sz="1800" b="1">
                          <a:solidFill>
                            <a:srgbClr val="FFFFFF"/>
                          </a:solidFill>
                          <a:latin typeface="Montserrat Bold"/>
                          <a:ea typeface="Montserrat Bold"/>
                          <a:cs typeface="Montserrat Bold"/>
                          <a:sym typeface="Montserrat Bold"/>
                        </a:rPr>
                        <a:t>Chỉ số Đo lường</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tc>
                  <a:txBody>
                    <a:bodyPr/>
                    <a:lstStyle/>
                    <a:p>
                      <a:pPr algn="ctr">
                        <a:lnSpc>
                          <a:spcPts val="2160"/>
                        </a:lnSpc>
                        <a:defRPr/>
                      </a:pPr>
                      <a:r>
                        <a:rPr lang="en-US" sz="1800" b="1">
                          <a:solidFill>
                            <a:srgbClr val="FFFFFF"/>
                          </a:solidFill>
                          <a:latin typeface="Montserrat Bold"/>
                          <a:ea typeface="Montserrat Bold"/>
                          <a:cs typeface="Montserrat Bold"/>
                          <a:sym typeface="Montserrat Bold"/>
                        </a:rPr>
                        <a:t>Yellow Taxi</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tc>
                  <a:txBody>
                    <a:bodyPr/>
                    <a:lstStyle/>
                    <a:p>
                      <a:pPr algn="ctr">
                        <a:lnSpc>
                          <a:spcPts val="2160"/>
                        </a:lnSpc>
                        <a:defRPr/>
                      </a:pPr>
                      <a:r>
                        <a:rPr lang="en-US" sz="1800" b="1">
                          <a:solidFill>
                            <a:srgbClr val="FFFFFF"/>
                          </a:solidFill>
                          <a:latin typeface="Montserrat Bold"/>
                          <a:ea typeface="Montserrat Bold"/>
                          <a:cs typeface="Montserrat Bold"/>
                          <a:sym typeface="Montserrat Bold"/>
                        </a:rPr>
                        <a:t>Green Taxi</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tc>
                  <a:txBody>
                    <a:bodyPr/>
                    <a:lstStyle/>
                    <a:p>
                      <a:pPr algn="ctr">
                        <a:lnSpc>
                          <a:spcPts val="2160"/>
                        </a:lnSpc>
                        <a:defRPr/>
                      </a:pPr>
                      <a:r>
                        <a:rPr lang="en-US" sz="1800" b="1">
                          <a:solidFill>
                            <a:srgbClr val="FFFFFF"/>
                          </a:solidFill>
                          <a:latin typeface="Montserrat Bold"/>
                          <a:ea typeface="Montserrat Bold"/>
                          <a:cs typeface="Montserrat Bold"/>
                          <a:sym typeface="Montserrat Bold"/>
                        </a:rPr>
                        <a:t>Tổng / Trung bình</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extLst>
                  <a:ext uri="{0D108BD9-81ED-4DB2-BD59-A6C34878D82A}">
                    <a16:rowId xmlns:a16="http://schemas.microsoft.com/office/drawing/2014/main" val="10000"/>
                  </a:ext>
                </a:extLst>
              </a:tr>
              <a:tr h="685800">
                <a:tc>
                  <a:txBody>
                    <a:bodyPr/>
                    <a:lstStyle/>
                    <a:p>
                      <a:pPr algn="ctr">
                        <a:lnSpc>
                          <a:spcPts val="2160"/>
                        </a:lnSpc>
                        <a:defRPr/>
                      </a:pPr>
                      <a:r>
                        <a:rPr lang="en-US" sz="1800">
                          <a:solidFill>
                            <a:srgbClr val="475569"/>
                          </a:solidFill>
                          <a:latin typeface="Open Sans"/>
                          <a:ea typeface="Open Sans"/>
                          <a:cs typeface="Open Sans"/>
                          <a:sym typeface="Open Sans"/>
                        </a:rPr>
                        <a:t>Throughput TB (rows/s)</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a:solidFill>
                            <a:srgbClr val="475569"/>
                          </a:solidFill>
                          <a:latin typeface="Open Sans"/>
                          <a:ea typeface="Open Sans"/>
                          <a:cs typeface="Open Sans"/>
                          <a:sym typeface="Open Sans"/>
                        </a:rPr>
                        <a:t>~200</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a:solidFill>
                            <a:srgbClr val="475569"/>
                          </a:solidFill>
                          <a:latin typeface="Open Sans"/>
                          <a:ea typeface="Open Sans"/>
                          <a:cs typeface="Open Sans"/>
                          <a:sym typeface="Open Sans"/>
                        </a:rPr>
                        <a:t>~200</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b="1">
                          <a:solidFill>
                            <a:srgbClr val="475569"/>
                          </a:solidFill>
                          <a:latin typeface="Open Sans Bold"/>
                          <a:ea typeface="Open Sans Bold"/>
                          <a:cs typeface="Open Sans Bold"/>
                          <a:sym typeface="Open Sans Bold"/>
                        </a:rPr>
                        <a:t>~400</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1"/>
                  </a:ext>
                </a:extLst>
              </a:tr>
              <a:tr h="685800">
                <a:tc>
                  <a:txBody>
                    <a:bodyPr/>
                    <a:lstStyle/>
                    <a:p>
                      <a:pPr algn="ctr">
                        <a:lnSpc>
                          <a:spcPts val="2160"/>
                        </a:lnSpc>
                        <a:defRPr/>
                      </a:pPr>
                      <a:r>
                        <a:rPr lang="en-US" sz="1800">
                          <a:solidFill>
                            <a:srgbClr val="475569"/>
                          </a:solidFill>
                          <a:latin typeface="Open Sans"/>
                          <a:ea typeface="Open Sans"/>
                          <a:cs typeface="Open Sans"/>
                          <a:sym typeface="Open Sans"/>
                        </a:rPr>
                        <a:t>Throughput Peak (rows/s)</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a:solidFill>
                            <a:srgbClr val="475569"/>
                          </a:solidFill>
                          <a:latin typeface="Open Sans"/>
                          <a:ea typeface="Open Sans"/>
                          <a:cs typeface="Open Sans"/>
                          <a:sym typeface="Open Sans"/>
                        </a:rPr>
                        <a:t>~500</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a:solidFill>
                            <a:srgbClr val="475569"/>
                          </a:solidFill>
                          <a:latin typeface="Open Sans"/>
                          <a:ea typeface="Open Sans"/>
                          <a:cs typeface="Open Sans"/>
                          <a:sym typeface="Open Sans"/>
                        </a:rPr>
                        <a:t>~300</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b="1">
                          <a:solidFill>
                            <a:srgbClr val="475569"/>
                          </a:solidFill>
                          <a:latin typeface="Open Sans Bold"/>
                          <a:ea typeface="Open Sans Bold"/>
                          <a:cs typeface="Open Sans Bold"/>
                          <a:sym typeface="Open Sans Bold"/>
                        </a:rPr>
                        <a:t>~800</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685800">
                <a:tc>
                  <a:txBody>
                    <a:bodyPr/>
                    <a:lstStyle/>
                    <a:p>
                      <a:pPr algn="ctr">
                        <a:lnSpc>
                          <a:spcPts val="2160"/>
                        </a:lnSpc>
                        <a:defRPr/>
                      </a:pPr>
                      <a:r>
                        <a:rPr lang="en-US" sz="1800">
                          <a:solidFill>
                            <a:srgbClr val="475569"/>
                          </a:solidFill>
                          <a:latin typeface="Open Sans"/>
                          <a:ea typeface="Open Sans"/>
                          <a:cs typeface="Open Sans"/>
                          <a:sym typeface="Open Sans"/>
                        </a:rPr>
                        <a:t>Độ trễ TB (Latency - ms)</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a:solidFill>
                            <a:srgbClr val="475569"/>
                          </a:solidFill>
                          <a:latin typeface="Open Sans"/>
                          <a:ea typeface="Open Sans"/>
                          <a:cs typeface="Open Sans"/>
                          <a:sym typeface="Open Sans"/>
                        </a:rPr>
                        <a:t>230</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a:solidFill>
                            <a:srgbClr val="475569"/>
                          </a:solidFill>
                          <a:latin typeface="Open Sans"/>
                          <a:ea typeface="Open Sans"/>
                          <a:cs typeface="Open Sans"/>
                          <a:sym typeface="Open Sans"/>
                        </a:rPr>
                        <a:t>230</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b="1">
                          <a:solidFill>
                            <a:srgbClr val="475569"/>
                          </a:solidFill>
                          <a:latin typeface="Open Sans Bold"/>
                          <a:ea typeface="Open Sans Bold"/>
                          <a:cs typeface="Open Sans Bold"/>
                          <a:sym typeface="Open Sans Bold"/>
                        </a:rPr>
                        <a:t>230</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3"/>
                  </a:ext>
                </a:extLst>
              </a:tr>
              <a:tr h="685800">
                <a:tc>
                  <a:txBody>
                    <a:bodyPr/>
                    <a:lstStyle/>
                    <a:p>
                      <a:pPr algn="ctr">
                        <a:lnSpc>
                          <a:spcPts val="2160"/>
                        </a:lnSpc>
                        <a:defRPr/>
                      </a:pPr>
                      <a:r>
                        <a:rPr lang="en-US" sz="1800">
                          <a:solidFill>
                            <a:srgbClr val="475569"/>
                          </a:solidFill>
                          <a:latin typeface="Open Sans"/>
                          <a:ea typeface="Open Sans"/>
                          <a:cs typeface="Open Sans"/>
                          <a:sym typeface="Open Sans"/>
                        </a:rPr>
                        <a:t>Độ trễ Tối đa (ms)</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a:solidFill>
                            <a:srgbClr val="475569"/>
                          </a:solidFill>
                          <a:latin typeface="Open Sans"/>
                          <a:ea typeface="Open Sans"/>
                          <a:cs typeface="Open Sans"/>
                          <a:sym typeface="Open Sans"/>
                        </a:rPr>
                        <a:t>1,422</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a:solidFill>
                            <a:srgbClr val="475569"/>
                          </a:solidFill>
                          <a:latin typeface="Open Sans"/>
                          <a:ea typeface="Open Sans"/>
                          <a:cs typeface="Open Sans"/>
                          <a:sym typeface="Open Sans"/>
                        </a:rPr>
                        <a:t>1,422</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a:solidFill>
                            <a:srgbClr val="475569"/>
                          </a:solidFill>
                          <a:latin typeface="Open Sans"/>
                          <a:ea typeface="Open Sans"/>
                          <a:cs typeface="Open Sans"/>
                          <a:sym typeface="Open Sans"/>
                        </a:rPr>
                        <a:t>1,422</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685800">
                <a:tc>
                  <a:txBody>
                    <a:bodyPr/>
                    <a:lstStyle/>
                    <a:p>
                      <a:pPr algn="ctr">
                        <a:lnSpc>
                          <a:spcPts val="2160"/>
                        </a:lnSpc>
                        <a:defRPr/>
                      </a:pPr>
                      <a:r>
                        <a:rPr lang="en-US" sz="1800">
                          <a:solidFill>
                            <a:srgbClr val="475569"/>
                          </a:solidFill>
                          <a:latin typeface="Open Sans"/>
                          <a:ea typeface="Open Sans"/>
                          <a:cs typeface="Open Sans"/>
                          <a:sym typeface="Open Sans"/>
                        </a:rPr>
                        <a:t>Tổng bản ghi xử lý</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a:solidFill>
                            <a:srgbClr val="475569"/>
                          </a:solidFill>
                          <a:latin typeface="Open Sans"/>
                          <a:ea typeface="Open Sans"/>
                          <a:cs typeface="Open Sans"/>
                          <a:sym typeface="Open Sans"/>
                        </a:rPr>
                        <a:t>3,952,451</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a:solidFill>
                            <a:srgbClr val="475569"/>
                          </a:solidFill>
                          <a:latin typeface="Open Sans"/>
                          <a:ea typeface="Open Sans"/>
                          <a:cs typeface="Open Sans"/>
                          <a:sym typeface="Open Sans"/>
                        </a:rPr>
                        <a:t>44,208</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b="1">
                          <a:solidFill>
                            <a:srgbClr val="475569"/>
                          </a:solidFill>
                          <a:latin typeface="Open Sans Bold"/>
                          <a:ea typeface="Open Sans Bold"/>
                          <a:cs typeface="Open Sans Bold"/>
                          <a:sym typeface="Open Sans Bold"/>
                        </a:rPr>
                        <a:t>3,996,659</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5"/>
                  </a:ext>
                </a:extLst>
              </a:tr>
            </a:tbl>
          </a:graphicData>
        </a:graphic>
      </p:graphicFrame>
      <p:sp>
        <p:nvSpPr>
          <p:cNvPr id="8" name="TextBox 8"/>
          <p:cNvSpPr txBox="1"/>
          <p:nvPr/>
        </p:nvSpPr>
        <p:spPr>
          <a:xfrm>
            <a:off x="1143000" y="7951889"/>
            <a:ext cx="16002000" cy="965749"/>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Nhận xét:</a:t>
            </a:r>
            <a:r>
              <a:rPr lang="en-US" sz="2025">
                <a:solidFill>
                  <a:srgbClr val="164673"/>
                </a:solidFill>
                <a:latin typeface="Open Sans"/>
                <a:ea typeface="Open Sans"/>
                <a:cs typeface="Open Sans"/>
                <a:sym typeface="Open Sans"/>
              </a:rPr>
              <a:t> Throughput TB ~400 rows/s đáp ứng yêu cầu thời gian thực. Latency 230 ms đạt yêu cầu dưới 1 giây đặt ra. Peak ~800 rows/s xuất hiện sau mỗi chu kỳ retrain chứng tỏ hệ thống tự cân bằng tốt.</a:t>
            </a:r>
          </a:p>
        </p:txBody>
      </p:sp>
      <p:grpSp>
        <p:nvGrpSpPr>
          <p:cNvPr id="9" name="Group 9"/>
          <p:cNvGrpSpPr/>
          <p:nvPr/>
        </p:nvGrpSpPr>
        <p:grpSpPr>
          <a:xfrm>
            <a:off x="857250" y="4574677"/>
            <a:ext cx="5173637" cy="14288"/>
            <a:chOff x="0" y="0"/>
            <a:chExt cx="6898183" cy="19050"/>
          </a:xfrm>
        </p:grpSpPr>
        <p:sp>
          <p:nvSpPr>
            <p:cNvPr id="10" name="Freeform 10"/>
            <p:cNvSpPr/>
            <p:nvPr/>
          </p:nvSpPr>
          <p:spPr>
            <a:xfrm>
              <a:off x="0" y="0"/>
              <a:ext cx="6898132" cy="19050"/>
            </a:xfrm>
            <a:custGeom>
              <a:avLst/>
              <a:gdLst/>
              <a:ahLst/>
              <a:cxnLst/>
              <a:rect l="l" t="t" r="r" b="b"/>
              <a:pathLst>
                <a:path w="6898132" h="19050">
                  <a:moveTo>
                    <a:pt x="0" y="0"/>
                  </a:moveTo>
                  <a:lnTo>
                    <a:pt x="6898132" y="0"/>
                  </a:lnTo>
                  <a:lnTo>
                    <a:pt x="6898132" y="19050"/>
                  </a:lnTo>
                  <a:lnTo>
                    <a:pt x="0" y="19050"/>
                  </a:lnTo>
                  <a:close/>
                </a:path>
              </a:pathLst>
            </a:custGeom>
            <a:solidFill>
              <a:srgbClr val="E2E8F0"/>
            </a:solidFill>
          </p:spPr>
          <p:txBody>
            <a:bodyPr/>
            <a:lstStyle/>
            <a:p>
              <a:endParaRPr lang="vi-VN"/>
            </a:p>
          </p:txBody>
        </p:sp>
      </p:grpSp>
      <p:grpSp>
        <p:nvGrpSpPr>
          <p:cNvPr id="11" name="Group 11"/>
          <p:cNvGrpSpPr/>
          <p:nvPr/>
        </p:nvGrpSpPr>
        <p:grpSpPr>
          <a:xfrm>
            <a:off x="6030887" y="4574677"/>
            <a:ext cx="3474539" cy="14288"/>
            <a:chOff x="0" y="0"/>
            <a:chExt cx="4632719" cy="19050"/>
          </a:xfrm>
        </p:grpSpPr>
        <p:sp>
          <p:nvSpPr>
            <p:cNvPr id="12" name="Freeform 12"/>
            <p:cNvSpPr/>
            <p:nvPr/>
          </p:nvSpPr>
          <p:spPr>
            <a:xfrm>
              <a:off x="0" y="0"/>
              <a:ext cx="4632706" cy="19050"/>
            </a:xfrm>
            <a:custGeom>
              <a:avLst/>
              <a:gdLst/>
              <a:ahLst/>
              <a:cxnLst/>
              <a:rect l="l" t="t" r="r" b="b"/>
              <a:pathLst>
                <a:path w="4632706" h="19050">
                  <a:moveTo>
                    <a:pt x="0" y="0"/>
                  </a:moveTo>
                  <a:lnTo>
                    <a:pt x="4632706" y="0"/>
                  </a:lnTo>
                  <a:lnTo>
                    <a:pt x="4632706" y="19050"/>
                  </a:lnTo>
                  <a:lnTo>
                    <a:pt x="0" y="19050"/>
                  </a:lnTo>
                  <a:close/>
                </a:path>
              </a:pathLst>
            </a:custGeom>
            <a:solidFill>
              <a:srgbClr val="E2E8F0"/>
            </a:solidFill>
          </p:spPr>
          <p:txBody>
            <a:bodyPr/>
            <a:lstStyle/>
            <a:p>
              <a:endParaRPr lang="vi-VN"/>
            </a:p>
          </p:txBody>
        </p:sp>
      </p:grpSp>
      <p:grpSp>
        <p:nvGrpSpPr>
          <p:cNvPr id="13" name="Group 13"/>
          <p:cNvGrpSpPr/>
          <p:nvPr/>
        </p:nvGrpSpPr>
        <p:grpSpPr>
          <a:xfrm>
            <a:off x="9505426" y="4574677"/>
            <a:ext cx="3156642" cy="14288"/>
            <a:chOff x="0" y="0"/>
            <a:chExt cx="4208856" cy="19050"/>
          </a:xfrm>
        </p:grpSpPr>
        <p:sp>
          <p:nvSpPr>
            <p:cNvPr id="14" name="Freeform 14"/>
            <p:cNvSpPr/>
            <p:nvPr/>
          </p:nvSpPr>
          <p:spPr>
            <a:xfrm>
              <a:off x="0" y="0"/>
              <a:ext cx="4208907" cy="19050"/>
            </a:xfrm>
            <a:custGeom>
              <a:avLst/>
              <a:gdLst/>
              <a:ahLst/>
              <a:cxnLst/>
              <a:rect l="l" t="t" r="r" b="b"/>
              <a:pathLst>
                <a:path w="4208907" h="19050">
                  <a:moveTo>
                    <a:pt x="0" y="0"/>
                  </a:moveTo>
                  <a:lnTo>
                    <a:pt x="4208907" y="0"/>
                  </a:lnTo>
                  <a:lnTo>
                    <a:pt x="4208907" y="19050"/>
                  </a:lnTo>
                  <a:lnTo>
                    <a:pt x="0" y="19050"/>
                  </a:lnTo>
                  <a:close/>
                </a:path>
              </a:pathLst>
            </a:custGeom>
            <a:solidFill>
              <a:srgbClr val="E2E8F0"/>
            </a:solidFill>
          </p:spPr>
          <p:txBody>
            <a:bodyPr/>
            <a:lstStyle/>
            <a:p>
              <a:endParaRPr lang="vi-VN"/>
            </a:p>
          </p:txBody>
        </p:sp>
      </p:grpSp>
      <p:grpSp>
        <p:nvGrpSpPr>
          <p:cNvPr id="15" name="Group 15"/>
          <p:cNvGrpSpPr/>
          <p:nvPr/>
        </p:nvGrpSpPr>
        <p:grpSpPr>
          <a:xfrm>
            <a:off x="12662068" y="4574677"/>
            <a:ext cx="4768672" cy="14288"/>
            <a:chOff x="0" y="0"/>
            <a:chExt cx="6358230" cy="19050"/>
          </a:xfrm>
        </p:grpSpPr>
        <p:sp>
          <p:nvSpPr>
            <p:cNvPr id="16" name="Freeform 16"/>
            <p:cNvSpPr/>
            <p:nvPr/>
          </p:nvSpPr>
          <p:spPr>
            <a:xfrm>
              <a:off x="0" y="0"/>
              <a:ext cx="6358255" cy="19050"/>
            </a:xfrm>
            <a:custGeom>
              <a:avLst/>
              <a:gdLst/>
              <a:ahLst/>
              <a:cxnLst/>
              <a:rect l="l" t="t" r="r" b="b"/>
              <a:pathLst>
                <a:path w="6358255" h="19050">
                  <a:moveTo>
                    <a:pt x="0" y="0"/>
                  </a:moveTo>
                  <a:lnTo>
                    <a:pt x="6358255" y="0"/>
                  </a:lnTo>
                  <a:lnTo>
                    <a:pt x="6358255" y="19050"/>
                  </a:lnTo>
                  <a:lnTo>
                    <a:pt x="0" y="19050"/>
                  </a:lnTo>
                  <a:close/>
                </a:path>
              </a:pathLst>
            </a:custGeom>
            <a:solidFill>
              <a:srgbClr val="E2E8F0"/>
            </a:solidFill>
          </p:spPr>
          <p:txBody>
            <a:bodyPr/>
            <a:lstStyle/>
            <a:p>
              <a:endParaRPr lang="vi-VN"/>
            </a:p>
          </p:txBody>
        </p:sp>
      </p:grpSp>
      <p:grpSp>
        <p:nvGrpSpPr>
          <p:cNvPr id="17" name="Group 17"/>
          <p:cNvGrpSpPr/>
          <p:nvPr/>
        </p:nvGrpSpPr>
        <p:grpSpPr>
          <a:xfrm>
            <a:off x="857250" y="5297538"/>
            <a:ext cx="5173637" cy="14288"/>
            <a:chOff x="0" y="0"/>
            <a:chExt cx="6898183" cy="19050"/>
          </a:xfrm>
        </p:grpSpPr>
        <p:sp>
          <p:nvSpPr>
            <p:cNvPr id="18" name="Freeform 18"/>
            <p:cNvSpPr/>
            <p:nvPr/>
          </p:nvSpPr>
          <p:spPr>
            <a:xfrm>
              <a:off x="0" y="0"/>
              <a:ext cx="6898132" cy="19050"/>
            </a:xfrm>
            <a:custGeom>
              <a:avLst/>
              <a:gdLst/>
              <a:ahLst/>
              <a:cxnLst/>
              <a:rect l="l" t="t" r="r" b="b"/>
              <a:pathLst>
                <a:path w="6898132" h="19050">
                  <a:moveTo>
                    <a:pt x="0" y="0"/>
                  </a:moveTo>
                  <a:lnTo>
                    <a:pt x="6898132" y="0"/>
                  </a:lnTo>
                  <a:lnTo>
                    <a:pt x="6898132" y="19050"/>
                  </a:lnTo>
                  <a:lnTo>
                    <a:pt x="0" y="19050"/>
                  </a:lnTo>
                  <a:close/>
                </a:path>
              </a:pathLst>
            </a:custGeom>
            <a:solidFill>
              <a:srgbClr val="E2E8F0"/>
            </a:solidFill>
          </p:spPr>
          <p:txBody>
            <a:bodyPr/>
            <a:lstStyle/>
            <a:p>
              <a:endParaRPr lang="vi-VN"/>
            </a:p>
          </p:txBody>
        </p:sp>
      </p:grpSp>
      <p:grpSp>
        <p:nvGrpSpPr>
          <p:cNvPr id="19" name="Group 19"/>
          <p:cNvGrpSpPr/>
          <p:nvPr/>
        </p:nvGrpSpPr>
        <p:grpSpPr>
          <a:xfrm>
            <a:off x="6030887" y="5297538"/>
            <a:ext cx="3474539" cy="14288"/>
            <a:chOff x="0" y="0"/>
            <a:chExt cx="4632719" cy="19050"/>
          </a:xfrm>
        </p:grpSpPr>
        <p:sp>
          <p:nvSpPr>
            <p:cNvPr id="20" name="Freeform 20"/>
            <p:cNvSpPr/>
            <p:nvPr/>
          </p:nvSpPr>
          <p:spPr>
            <a:xfrm>
              <a:off x="0" y="0"/>
              <a:ext cx="4632706" cy="19050"/>
            </a:xfrm>
            <a:custGeom>
              <a:avLst/>
              <a:gdLst/>
              <a:ahLst/>
              <a:cxnLst/>
              <a:rect l="l" t="t" r="r" b="b"/>
              <a:pathLst>
                <a:path w="4632706" h="19050">
                  <a:moveTo>
                    <a:pt x="0" y="0"/>
                  </a:moveTo>
                  <a:lnTo>
                    <a:pt x="4632706" y="0"/>
                  </a:lnTo>
                  <a:lnTo>
                    <a:pt x="4632706" y="19050"/>
                  </a:lnTo>
                  <a:lnTo>
                    <a:pt x="0" y="19050"/>
                  </a:lnTo>
                  <a:close/>
                </a:path>
              </a:pathLst>
            </a:custGeom>
            <a:solidFill>
              <a:srgbClr val="E2E8F0"/>
            </a:solidFill>
          </p:spPr>
          <p:txBody>
            <a:bodyPr/>
            <a:lstStyle/>
            <a:p>
              <a:endParaRPr lang="vi-VN"/>
            </a:p>
          </p:txBody>
        </p:sp>
      </p:grpSp>
      <p:grpSp>
        <p:nvGrpSpPr>
          <p:cNvPr id="21" name="Group 21"/>
          <p:cNvGrpSpPr/>
          <p:nvPr/>
        </p:nvGrpSpPr>
        <p:grpSpPr>
          <a:xfrm>
            <a:off x="9505426" y="5297538"/>
            <a:ext cx="3156642" cy="14288"/>
            <a:chOff x="0" y="0"/>
            <a:chExt cx="4208856" cy="19050"/>
          </a:xfrm>
        </p:grpSpPr>
        <p:sp>
          <p:nvSpPr>
            <p:cNvPr id="22" name="Freeform 22"/>
            <p:cNvSpPr/>
            <p:nvPr/>
          </p:nvSpPr>
          <p:spPr>
            <a:xfrm>
              <a:off x="0" y="0"/>
              <a:ext cx="4208907" cy="19050"/>
            </a:xfrm>
            <a:custGeom>
              <a:avLst/>
              <a:gdLst/>
              <a:ahLst/>
              <a:cxnLst/>
              <a:rect l="l" t="t" r="r" b="b"/>
              <a:pathLst>
                <a:path w="4208907" h="19050">
                  <a:moveTo>
                    <a:pt x="0" y="0"/>
                  </a:moveTo>
                  <a:lnTo>
                    <a:pt x="4208907" y="0"/>
                  </a:lnTo>
                  <a:lnTo>
                    <a:pt x="4208907" y="19050"/>
                  </a:lnTo>
                  <a:lnTo>
                    <a:pt x="0" y="19050"/>
                  </a:lnTo>
                  <a:close/>
                </a:path>
              </a:pathLst>
            </a:custGeom>
            <a:solidFill>
              <a:srgbClr val="E2E8F0"/>
            </a:solidFill>
          </p:spPr>
          <p:txBody>
            <a:bodyPr/>
            <a:lstStyle/>
            <a:p>
              <a:endParaRPr lang="vi-VN"/>
            </a:p>
          </p:txBody>
        </p:sp>
      </p:grpSp>
      <p:grpSp>
        <p:nvGrpSpPr>
          <p:cNvPr id="23" name="Group 23"/>
          <p:cNvGrpSpPr/>
          <p:nvPr/>
        </p:nvGrpSpPr>
        <p:grpSpPr>
          <a:xfrm>
            <a:off x="12662068" y="5297538"/>
            <a:ext cx="4768672" cy="14288"/>
            <a:chOff x="0" y="0"/>
            <a:chExt cx="6358230" cy="19050"/>
          </a:xfrm>
        </p:grpSpPr>
        <p:sp>
          <p:nvSpPr>
            <p:cNvPr id="24" name="Freeform 24"/>
            <p:cNvSpPr/>
            <p:nvPr/>
          </p:nvSpPr>
          <p:spPr>
            <a:xfrm>
              <a:off x="0" y="0"/>
              <a:ext cx="6358255" cy="19050"/>
            </a:xfrm>
            <a:custGeom>
              <a:avLst/>
              <a:gdLst/>
              <a:ahLst/>
              <a:cxnLst/>
              <a:rect l="l" t="t" r="r" b="b"/>
              <a:pathLst>
                <a:path w="6358255" h="19050">
                  <a:moveTo>
                    <a:pt x="0" y="0"/>
                  </a:moveTo>
                  <a:lnTo>
                    <a:pt x="6358255" y="0"/>
                  </a:lnTo>
                  <a:lnTo>
                    <a:pt x="6358255" y="19050"/>
                  </a:lnTo>
                  <a:lnTo>
                    <a:pt x="0" y="19050"/>
                  </a:lnTo>
                  <a:close/>
                </a:path>
              </a:pathLst>
            </a:custGeom>
            <a:solidFill>
              <a:srgbClr val="E2E8F0"/>
            </a:solidFill>
          </p:spPr>
          <p:txBody>
            <a:bodyPr/>
            <a:lstStyle/>
            <a:p>
              <a:endParaRPr lang="vi-VN"/>
            </a:p>
          </p:txBody>
        </p:sp>
      </p:grpSp>
      <p:grpSp>
        <p:nvGrpSpPr>
          <p:cNvPr id="25" name="Group 25"/>
          <p:cNvGrpSpPr/>
          <p:nvPr/>
        </p:nvGrpSpPr>
        <p:grpSpPr>
          <a:xfrm>
            <a:off x="857250" y="6020391"/>
            <a:ext cx="5173637" cy="14288"/>
            <a:chOff x="0" y="0"/>
            <a:chExt cx="6898183" cy="19050"/>
          </a:xfrm>
        </p:grpSpPr>
        <p:sp>
          <p:nvSpPr>
            <p:cNvPr id="26" name="Freeform 26"/>
            <p:cNvSpPr/>
            <p:nvPr/>
          </p:nvSpPr>
          <p:spPr>
            <a:xfrm>
              <a:off x="0" y="0"/>
              <a:ext cx="6898132" cy="19050"/>
            </a:xfrm>
            <a:custGeom>
              <a:avLst/>
              <a:gdLst/>
              <a:ahLst/>
              <a:cxnLst/>
              <a:rect l="l" t="t" r="r" b="b"/>
              <a:pathLst>
                <a:path w="6898132" h="19050">
                  <a:moveTo>
                    <a:pt x="0" y="0"/>
                  </a:moveTo>
                  <a:lnTo>
                    <a:pt x="6898132" y="0"/>
                  </a:lnTo>
                  <a:lnTo>
                    <a:pt x="6898132" y="19050"/>
                  </a:lnTo>
                  <a:lnTo>
                    <a:pt x="0" y="19050"/>
                  </a:lnTo>
                  <a:close/>
                </a:path>
              </a:pathLst>
            </a:custGeom>
            <a:solidFill>
              <a:srgbClr val="E2E8F0"/>
            </a:solidFill>
          </p:spPr>
          <p:txBody>
            <a:bodyPr/>
            <a:lstStyle/>
            <a:p>
              <a:endParaRPr lang="vi-VN"/>
            </a:p>
          </p:txBody>
        </p:sp>
      </p:grpSp>
      <p:grpSp>
        <p:nvGrpSpPr>
          <p:cNvPr id="27" name="Group 27"/>
          <p:cNvGrpSpPr/>
          <p:nvPr/>
        </p:nvGrpSpPr>
        <p:grpSpPr>
          <a:xfrm>
            <a:off x="6030887" y="6020391"/>
            <a:ext cx="3474539" cy="14288"/>
            <a:chOff x="0" y="0"/>
            <a:chExt cx="4632719" cy="19050"/>
          </a:xfrm>
        </p:grpSpPr>
        <p:sp>
          <p:nvSpPr>
            <p:cNvPr id="28" name="Freeform 28"/>
            <p:cNvSpPr/>
            <p:nvPr/>
          </p:nvSpPr>
          <p:spPr>
            <a:xfrm>
              <a:off x="0" y="0"/>
              <a:ext cx="4632706" cy="19050"/>
            </a:xfrm>
            <a:custGeom>
              <a:avLst/>
              <a:gdLst/>
              <a:ahLst/>
              <a:cxnLst/>
              <a:rect l="l" t="t" r="r" b="b"/>
              <a:pathLst>
                <a:path w="4632706" h="19050">
                  <a:moveTo>
                    <a:pt x="0" y="0"/>
                  </a:moveTo>
                  <a:lnTo>
                    <a:pt x="4632706" y="0"/>
                  </a:lnTo>
                  <a:lnTo>
                    <a:pt x="4632706" y="19050"/>
                  </a:lnTo>
                  <a:lnTo>
                    <a:pt x="0" y="19050"/>
                  </a:lnTo>
                  <a:close/>
                </a:path>
              </a:pathLst>
            </a:custGeom>
            <a:solidFill>
              <a:srgbClr val="E2E8F0"/>
            </a:solidFill>
          </p:spPr>
          <p:txBody>
            <a:bodyPr/>
            <a:lstStyle/>
            <a:p>
              <a:endParaRPr lang="vi-VN"/>
            </a:p>
          </p:txBody>
        </p:sp>
      </p:grpSp>
      <p:grpSp>
        <p:nvGrpSpPr>
          <p:cNvPr id="29" name="Group 29"/>
          <p:cNvGrpSpPr/>
          <p:nvPr/>
        </p:nvGrpSpPr>
        <p:grpSpPr>
          <a:xfrm>
            <a:off x="9505426" y="6020391"/>
            <a:ext cx="3156642" cy="14288"/>
            <a:chOff x="0" y="0"/>
            <a:chExt cx="4208856" cy="19050"/>
          </a:xfrm>
        </p:grpSpPr>
        <p:sp>
          <p:nvSpPr>
            <p:cNvPr id="30" name="Freeform 30"/>
            <p:cNvSpPr/>
            <p:nvPr/>
          </p:nvSpPr>
          <p:spPr>
            <a:xfrm>
              <a:off x="0" y="0"/>
              <a:ext cx="4208907" cy="19050"/>
            </a:xfrm>
            <a:custGeom>
              <a:avLst/>
              <a:gdLst/>
              <a:ahLst/>
              <a:cxnLst/>
              <a:rect l="l" t="t" r="r" b="b"/>
              <a:pathLst>
                <a:path w="4208907" h="19050">
                  <a:moveTo>
                    <a:pt x="0" y="0"/>
                  </a:moveTo>
                  <a:lnTo>
                    <a:pt x="4208907" y="0"/>
                  </a:lnTo>
                  <a:lnTo>
                    <a:pt x="4208907" y="19050"/>
                  </a:lnTo>
                  <a:lnTo>
                    <a:pt x="0" y="19050"/>
                  </a:lnTo>
                  <a:close/>
                </a:path>
              </a:pathLst>
            </a:custGeom>
            <a:solidFill>
              <a:srgbClr val="E2E8F0"/>
            </a:solidFill>
          </p:spPr>
          <p:txBody>
            <a:bodyPr/>
            <a:lstStyle/>
            <a:p>
              <a:endParaRPr lang="vi-VN"/>
            </a:p>
          </p:txBody>
        </p:sp>
      </p:grpSp>
      <p:grpSp>
        <p:nvGrpSpPr>
          <p:cNvPr id="31" name="Group 31"/>
          <p:cNvGrpSpPr/>
          <p:nvPr/>
        </p:nvGrpSpPr>
        <p:grpSpPr>
          <a:xfrm>
            <a:off x="12662068" y="6020391"/>
            <a:ext cx="4768672" cy="14288"/>
            <a:chOff x="0" y="0"/>
            <a:chExt cx="6358230" cy="19050"/>
          </a:xfrm>
        </p:grpSpPr>
        <p:sp>
          <p:nvSpPr>
            <p:cNvPr id="32" name="Freeform 32"/>
            <p:cNvSpPr/>
            <p:nvPr/>
          </p:nvSpPr>
          <p:spPr>
            <a:xfrm>
              <a:off x="0" y="0"/>
              <a:ext cx="6358255" cy="19050"/>
            </a:xfrm>
            <a:custGeom>
              <a:avLst/>
              <a:gdLst/>
              <a:ahLst/>
              <a:cxnLst/>
              <a:rect l="l" t="t" r="r" b="b"/>
              <a:pathLst>
                <a:path w="6358255" h="19050">
                  <a:moveTo>
                    <a:pt x="0" y="0"/>
                  </a:moveTo>
                  <a:lnTo>
                    <a:pt x="6358255" y="0"/>
                  </a:lnTo>
                  <a:lnTo>
                    <a:pt x="6358255" y="19050"/>
                  </a:lnTo>
                  <a:lnTo>
                    <a:pt x="0" y="19050"/>
                  </a:lnTo>
                  <a:close/>
                </a:path>
              </a:pathLst>
            </a:custGeom>
            <a:solidFill>
              <a:srgbClr val="E2E8F0"/>
            </a:solidFill>
          </p:spPr>
          <p:txBody>
            <a:bodyPr/>
            <a:lstStyle/>
            <a:p>
              <a:endParaRPr lang="vi-VN"/>
            </a:p>
          </p:txBody>
        </p:sp>
      </p:grpSp>
      <p:grpSp>
        <p:nvGrpSpPr>
          <p:cNvPr id="33" name="Group 33"/>
          <p:cNvGrpSpPr/>
          <p:nvPr/>
        </p:nvGrpSpPr>
        <p:grpSpPr>
          <a:xfrm>
            <a:off x="857250" y="6743252"/>
            <a:ext cx="5173637" cy="14288"/>
            <a:chOff x="0" y="0"/>
            <a:chExt cx="6898183" cy="19050"/>
          </a:xfrm>
        </p:grpSpPr>
        <p:sp>
          <p:nvSpPr>
            <p:cNvPr id="34" name="Freeform 34"/>
            <p:cNvSpPr/>
            <p:nvPr/>
          </p:nvSpPr>
          <p:spPr>
            <a:xfrm>
              <a:off x="0" y="0"/>
              <a:ext cx="6898132" cy="19050"/>
            </a:xfrm>
            <a:custGeom>
              <a:avLst/>
              <a:gdLst/>
              <a:ahLst/>
              <a:cxnLst/>
              <a:rect l="l" t="t" r="r" b="b"/>
              <a:pathLst>
                <a:path w="6898132" h="19050">
                  <a:moveTo>
                    <a:pt x="0" y="0"/>
                  </a:moveTo>
                  <a:lnTo>
                    <a:pt x="6898132" y="0"/>
                  </a:lnTo>
                  <a:lnTo>
                    <a:pt x="6898132" y="19050"/>
                  </a:lnTo>
                  <a:lnTo>
                    <a:pt x="0" y="19050"/>
                  </a:lnTo>
                  <a:close/>
                </a:path>
              </a:pathLst>
            </a:custGeom>
            <a:solidFill>
              <a:srgbClr val="E2E8F0"/>
            </a:solidFill>
          </p:spPr>
          <p:txBody>
            <a:bodyPr/>
            <a:lstStyle/>
            <a:p>
              <a:endParaRPr lang="vi-VN"/>
            </a:p>
          </p:txBody>
        </p:sp>
      </p:grpSp>
      <p:grpSp>
        <p:nvGrpSpPr>
          <p:cNvPr id="35" name="Group 35"/>
          <p:cNvGrpSpPr/>
          <p:nvPr/>
        </p:nvGrpSpPr>
        <p:grpSpPr>
          <a:xfrm>
            <a:off x="6030887" y="6743252"/>
            <a:ext cx="3474539" cy="14288"/>
            <a:chOff x="0" y="0"/>
            <a:chExt cx="4632719" cy="19050"/>
          </a:xfrm>
        </p:grpSpPr>
        <p:sp>
          <p:nvSpPr>
            <p:cNvPr id="36" name="Freeform 36"/>
            <p:cNvSpPr/>
            <p:nvPr/>
          </p:nvSpPr>
          <p:spPr>
            <a:xfrm>
              <a:off x="0" y="0"/>
              <a:ext cx="4632706" cy="19050"/>
            </a:xfrm>
            <a:custGeom>
              <a:avLst/>
              <a:gdLst/>
              <a:ahLst/>
              <a:cxnLst/>
              <a:rect l="l" t="t" r="r" b="b"/>
              <a:pathLst>
                <a:path w="4632706" h="19050">
                  <a:moveTo>
                    <a:pt x="0" y="0"/>
                  </a:moveTo>
                  <a:lnTo>
                    <a:pt x="4632706" y="0"/>
                  </a:lnTo>
                  <a:lnTo>
                    <a:pt x="4632706" y="19050"/>
                  </a:lnTo>
                  <a:lnTo>
                    <a:pt x="0" y="19050"/>
                  </a:lnTo>
                  <a:close/>
                </a:path>
              </a:pathLst>
            </a:custGeom>
            <a:solidFill>
              <a:srgbClr val="E2E8F0"/>
            </a:solidFill>
          </p:spPr>
          <p:txBody>
            <a:bodyPr/>
            <a:lstStyle/>
            <a:p>
              <a:endParaRPr lang="vi-VN"/>
            </a:p>
          </p:txBody>
        </p:sp>
      </p:grpSp>
      <p:grpSp>
        <p:nvGrpSpPr>
          <p:cNvPr id="37" name="Group 37"/>
          <p:cNvGrpSpPr/>
          <p:nvPr/>
        </p:nvGrpSpPr>
        <p:grpSpPr>
          <a:xfrm>
            <a:off x="9505426" y="6743252"/>
            <a:ext cx="3156642" cy="14288"/>
            <a:chOff x="0" y="0"/>
            <a:chExt cx="4208856" cy="19050"/>
          </a:xfrm>
        </p:grpSpPr>
        <p:sp>
          <p:nvSpPr>
            <p:cNvPr id="38" name="Freeform 38"/>
            <p:cNvSpPr/>
            <p:nvPr/>
          </p:nvSpPr>
          <p:spPr>
            <a:xfrm>
              <a:off x="0" y="0"/>
              <a:ext cx="4208907" cy="19050"/>
            </a:xfrm>
            <a:custGeom>
              <a:avLst/>
              <a:gdLst/>
              <a:ahLst/>
              <a:cxnLst/>
              <a:rect l="l" t="t" r="r" b="b"/>
              <a:pathLst>
                <a:path w="4208907" h="19050">
                  <a:moveTo>
                    <a:pt x="0" y="0"/>
                  </a:moveTo>
                  <a:lnTo>
                    <a:pt x="4208907" y="0"/>
                  </a:lnTo>
                  <a:lnTo>
                    <a:pt x="4208907" y="19050"/>
                  </a:lnTo>
                  <a:lnTo>
                    <a:pt x="0" y="19050"/>
                  </a:lnTo>
                  <a:close/>
                </a:path>
              </a:pathLst>
            </a:custGeom>
            <a:solidFill>
              <a:srgbClr val="E2E8F0"/>
            </a:solidFill>
          </p:spPr>
          <p:txBody>
            <a:bodyPr/>
            <a:lstStyle/>
            <a:p>
              <a:endParaRPr lang="vi-VN"/>
            </a:p>
          </p:txBody>
        </p:sp>
      </p:grpSp>
      <p:grpSp>
        <p:nvGrpSpPr>
          <p:cNvPr id="39" name="Group 39"/>
          <p:cNvGrpSpPr/>
          <p:nvPr/>
        </p:nvGrpSpPr>
        <p:grpSpPr>
          <a:xfrm>
            <a:off x="12662068" y="6743252"/>
            <a:ext cx="4768672" cy="14288"/>
            <a:chOff x="0" y="0"/>
            <a:chExt cx="6358230" cy="19050"/>
          </a:xfrm>
        </p:grpSpPr>
        <p:sp>
          <p:nvSpPr>
            <p:cNvPr id="40" name="Freeform 40"/>
            <p:cNvSpPr/>
            <p:nvPr/>
          </p:nvSpPr>
          <p:spPr>
            <a:xfrm>
              <a:off x="0" y="0"/>
              <a:ext cx="6358255" cy="19050"/>
            </a:xfrm>
            <a:custGeom>
              <a:avLst/>
              <a:gdLst/>
              <a:ahLst/>
              <a:cxnLst/>
              <a:rect l="l" t="t" r="r" b="b"/>
              <a:pathLst>
                <a:path w="6358255" h="19050">
                  <a:moveTo>
                    <a:pt x="0" y="0"/>
                  </a:moveTo>
                  <a:lnTo>
                    <a:pt x="6358255" y="0"/>
                  </a:lnTo>
                  <a:lnTo>
                    <a:pt x="6358255" y="19050"/>
                  </a:lnTo>
                  <a:lnTo>
                    <a:pt x="0" y="19050"/>
                  </a:lnTo>
                  <a:close/>
                </a:path>
              </a:pathLst>
            </a:custGeom>
            <a:solidFill>
              <a:srgbClr val="E2E8F0"/>
            </a:solidFill>
          </p:spPr>
          <p:txBody>
            <a:bodyPr/>
            <a:lstStyle/>
            <a:p>
              <a:endParaRPr lang="vi-VN"/>
            </a:p>
          </p:txBody>
        </p:sp>
      </p:grpSp>
      <p:sp>
        <p:nvSpPr>
          <p:cNvPr id="41" name="TextBox 41"/>
          <p:cNvSpPr txBox="1"/>
          <p:nvPr/>
        </p:nvSpPr>
        <p:spPr>
          <a:xfrm>
            <a:off x="857250" y="857250"/>
            <a:ext cx="17402175" cy="700088"/>
          </a:xfrm>
          <a:prstGeom prst="rect">
            <a:avLst/>
          </a:prstGeom>
        </p:spPr>
        <p:txBody>
          <a:bodyPr lIns="0" tIns="0" rIns="0" bIns="0" rtlCol="0" anchor="t">
            <a:spAutoFit/>
          </a:bodyPr>
          <a:lstStyle/>
          <a:p>
            <a:pPr algn="l">
              <a:lnSpc>
                <a:spcPts val="5130"/>
              </a:lnSpc>
            </a:pPr>
            <a:r>
              <a:rPr lang="en-US" sz="4275" b="1">
                <a:solidFill>
                  <a:srgbClr val="164673"/>
                </a:solidFill>
                <a:latin typeface="Montserrat Bold"/>
                <a:ea typeface="Montserrat Bold"/>
                <a:cs typeface="Montserrat Bold"/>
                <a:sym typeface="Montserrat Bold"/>
              </a:rPr>
              <a:t>KẾT QUẢ THỰC NGHIỆM: HIỆU NĂNG PIPELINE</a:t>
            </a:r>
          </a:p>
        </p:txBody>
      </p:sp>
      <p:grpSp>
        <p:nvGrpSpPr>
          <p:cNvPr id="42" name="Group 42"/>
          <p:cNvGrpSpPr/>
          <p:nvPr/>
        </p:nvGrpSpPr>
        <p:grpSpPr>
          <a:xfrm>
            <a:off x="857250" y="1671638"/>
            <a:ext cx="16573500" cy="28575"/>
            <a:chOff x="0" y="0"/>
            <a:chExt cx="22098000" cy="38100"/>
          </a:xfrm>
        </p:grpSpPr>
        <p:sp>
          <p:nvSpPr>
            <p:cNvPr id="43" name="Freeform 43"/>
            <p:cNvSpPr/>
            <p:nvPr/>
          </p:nvSpPr>
          <p:spPr>
            <a:xfrm>
              <a:off x="0" y="0"/>
              <a:ext cx="22098000" cy="38100"/>
            </a:xfrm>
            <a:custGeom>
              <a:avLst/>
              <a:gdLst/>
              <a:ahLst/>
              <a:cxnLst/>
              <a:rect l="l" t="t" r="r" b="b"/>
              <a:pathLst>
                <a:path w="22098000" h="38100">
                  <a:moveTo>
                    <a:pt x="0" y="0"/>
                  </a:moveTo>
                  <a:lnTo>
                    <a:pt x="22098000" y="0"/>
                  </a:lnTo>
                  <a:lnTo>
                    <a:pt x="22098000" y="38100"/>
                  </a:lnTo>
                  <a:lnTo>
                    <a:pt x="0" y="38100"/>
                  </a:lnTo>
                  <a:close/>
                </a:path>
              </a:pathLst>
            </a:custGeom>
            <a:solidFill>
              <a:srgbClr val="48A6D8"/>
            </a:solidFill>
          </p:spPr>
          <p:txBody>
            <a:bodyPr/>
            <a:lstStyle/>
            <a:p>
              <a:endParaRPr lang="vi-VN"/>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sp>
        <p:nvSpPr>
          <p:cNvPr id="4" name="TextBox 4"/>
          <p:cNvSpPr txBox="1"/>
          <p:nvPr/>
        </p:nvSpPr>
        <p:spPr>
          <a:xfrm>
            <a:off x="857250" y="1110405"/>
            <a:ext cx="16573500" cy="965749"/>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Tổng quan:</a:t>
            </a:r>
            <a:r>
              <a:rPr lang="en-US" sz="2025">
                <a:solidFill>
                  <a:srgbClr val="475569"/>
                </a:solidFill>
                <a:latin typeface="Open Sans"/>
                <a:ea typeface="Open Sans"/>
                <a:cs typeface="Open Sans"/>
                <a:sym typeface="Open Sans"/>
              </a:rPr>
              <a:t> Tổng anomalies (flagged) ~6% tổng số bản ghi. Anomaly rate TB sau Strict Voting là </a:t>
            </a:r>
            <a:r>
              <a:rPr lang="en-US" sz="2025">
                <a:solidFill>
                  <a:srgbClr val="1E293B"/>
                </a:solidFill>
                <a:latin typeface="Open Sans"/>
                <a:ea typeface="Open Sans"/>
                <a:cs typeface="Open Sans"/>
                <a:sym typeface="Open Sans"/>
              </a:rPr>
              <a:t>1,95%</a:t>
            </a:r>
            <a:r>
              <a:rPr lang="en-US" sz="2025">
                <a:solidFill>
                  <a:srgbClr val="475569"/>
                </a:solidFill>
                <a:latin typeface="Open Sans"/>
                <a:ea typeface="Open Sans"/>
                <a:cs typeface="Open Sans"/>
                <a:sym typeface="Open Sans"/>
              </a:rPr>
              <a:t> (ổn định). Tổng số bản ghi thực sự bị flag là </a:t>
            </a:r>
            <a:r>
              <a:rPr lang="en-US" sz="2025">
                <a:solidFill>
                  <a:srgbClr val="1E293B"/>
                </a:solidFill>
                <a:latin typeface="Open Sans"/>
                <a:ea typeface="Open Sans"/>
                <a:cs typeface="Open Sans"/>
                <a:sym typeface="Open Sans"/>
              </a:rPr>
              <a:t>~77.945 chuyến đi</a:t>
            </a:r>
            <a:r>
              <a:rPr lang="en-US" sz="2025">
                <a:solidFill>
                  <a:srgbClr val="475569"/>
                </a:solidFill>
                <a:latin typeface="Open Sans"/>
                <a:ea typeface="Open Sans"/>
                <a:cs typeface="Open Sans"/>
                <a:sym typeface="Open Sans"/>
              </a:rPr>
              <a:t>.</a:t>
            </a:r>
          </a:p>
        </p:txBody>
      </p:sp>
      <p:sp>
        <p:nvSpPr>
          <p:cNvPr id="5" name="TextBox 5"/>
          <p:cNvSpPr txBox="1"/>
          <p:nvPr/>
        </p:nvSpPr>
        <p:spPr>
          <a:xfrm>
            <a:off x="857250" y="9125245"/>
            <a:ext cx="16573500" cy="929391"/>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Insight:</a:t>
            </a:r>
            <a:r>
              <a:rPr lang="en-US" sz="2025">
                <a:solidFill>
                  <a:srgbClr val="475569"/>
                </a:solidFill>
                <a:latin typeface="Open Sans"/>
                <a:ea typeface="Open Sans"/>
                <a:cs typeface="Open Sans"/>
                <a:sym typeface="Open Sans"/>
              </a:rPr>
              <a:t> 71% là tốc độ phi lý → dữ liệu có vấn đề hệ thống về odometer/GPS. 0,2% là bất thường đa biến tinh vi chỉ mô hình ML mới phát hiện được.</a:t>
            </a:r>
          </a:p>
        </p:txBody>
      </p:sp>
      <p:graphicFrame>
        <p:nvGraphicFramePr>
          <p:cNvPr id="6" name="Table 6"/>
          <p:cNvGraphicFramePr>
            <a:graphicFrameLocks noGrp="1"/>
          </p:cNvGraphicFramePr>
          <p:nvPr/>
        </p:nvGraphicFramePr>
        <p:xfrm>
          <a:off x="857250" y="2219026"/>
          <a:ext cx="16554449" cy="6686550"/>
        </p:xfrm>
        <a:graphic>
          <a:graphicData uri="http://schemas.openxmlformats.org/drawingml/2006/table">
            <a:tbl>
              <a:tblPr/>
              <a:tblGrid>
                <a:gridCol w="8263027">
                  <a:extLst>
                    <a:ext uri="{9D8B030D-6E8A-4147-A177-3AD203B41FA5}">
                      <a16:colId xmlns:a16="http://schemas.microsoft.com/office/drawing/2014/main" val="20000"/>
                    </a:ext>
                  </a:extLst>
                </a:gridCol>
                <a:gridCol w="4145711">
                  <a:extLst>
                    <a:ext uri="{9D8B030D-6E8A-4147-A177-3AD203B41FA5}">
                      <a16:colId xmlns:a16="http://schemas.microsoft.com/office/drawing/2014/main" val="20001"/>
                    </a:ext>
                  </a:extLst>
                </a:gridCol>
                <a:gridCol w="4145711">
                  <a:extLst>
                    <a:ext uri="{9D8B030D-6E8A-4147-A177-3AD203B41FA5}">
                      <a16:colId xmlns:a16="http://schemas.microsoft.com/office/drawing/2014/main" val="20002"/>
                    </a:ext>
                  </a:extLst>
                </a:gridCol>
              </a:tblGrid>
              <a:tr h="742950">
                <a:tc>
                  <a:txBody>
                    <a:bodyPr/>
                    <a:lstStyle/>
                    <a:p>
                      <a:pPr algn="ctr">
                        <a:lnSpc>
                          <a:spcPts val="2160"/>
                        </a:lnSpc>
                        <a:defRPr/>
                      </a:pPr>
                      <a:r>
                        <a:rPr lang="en-US" sz="1800" b="1">
                          <a:solidFill>
                            <a:srgbClr val="FFFFFF"/>
                          </a:solidFill>
                          <a:latin typeface="Montserrat Bold"/>
                          <a:ea typeface="Montserrat Bold"/>
                          <a:cs typeface="Montserrat Bold"/>
                          <a:sym typeface="Montserrat Bold"/>
                        </a:rPr>
                        <a:t>Loại bất thường</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tc>
                  <a:txBody>
                    <a:bodyPr/>
                    <a:lstStyle/>
                    <a:p>
                      <a:pPr algn="ctr">
                        <a:lnSpc>
                          <a:spcPts val="2160"/>
                        </a:lnSpc>
                        <a:defRPr/>
                      </a:pPr>
                      <a:r>
                        <a:rPr lang="en-US" sz="1800" b="1">
                          <a:solidFill>
                            <a:srgbClr val="FFFFFF"/>
                          </a:solidFill>
                          <a:latin typeface="Montserrat Bold"/>
                          <a:ea typeface="Montserrat Bold"/>
                          <a:cs typeface="Montserrat Bold"/>
                          <a:sym typeface="Montserrat Bold"/>
                        </a:rPr>
                        <a:t>Tỷ lệ</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tc>
                  <a:txBody>
                    <a:bodyPr/>
                    <a:lstStyle/>
                    <a:p>
                      <a:pPr algn="ctr">
                        <a:lnSpc>
                          <a:spcPts val="2160"/>
                        </a:lnSpc>
                        <a:defRPr/>
                      </a:pPr>
                      <a:r>
                        <a:rPr lang="en-US" sz="1800" b="1">
                          <a:solidFill>
                            <a:srgbClr val="FFFFFF"/>
                          </a:solidFill>
                          <a:latin typeface="Montserrat Bold"/>
                          <a:ea typeface="Montserrat Bold"/>
                          <a:cs typeface="Montserrat Bold"/>
                          <a:sym typeface="Montserrat Bold"/>
                        </a:rPr>
                        <a:t>Mức độ</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extLst>
                  <a:ext uri="{0D108BD9-81ED-4DB2-BD59-A6C34878D82A}">
                    <a16:rowId xmlns:a16="http://schemas.microsoft.com/office/drawing/2014/main" val="10000"/>
                  </a:ext>
                </a:extLst>
              </a:tr>
              <a:tr h="742950">
                <a:tc>
                  <a:txBody>
                    <a:bodyPr/>
                    <a:lstStyle/>
                    <a:p>
                      <a:pPr algn="ctr">
                        <a:lnSpc>
                          <a:spcPts val="2160"/>
                        </a:lnSpc>
                        <a:defRPr/>
                      </a:pPr>
                      <a:r>
                        <a:rPr lang="en-US" sz="1800">
                          <a:solidFill>
                            <a:srgbClr val="475569"/>
                          </a:solidFill>
                          <a:latin typeface="Open Sans"/>
                          <a:ea typeface="Open Sans"/>
                          <a:cs typeface="Open Sans"/>
                          <a:sym typeface="Open Sans"/>
                        </a:rPr>
                        <a:t>Unrealistic Speed (&gt;140 km/h)</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b="1">
                          <a:solidFill>
                            <a:srgbClr val="475569"/>
                          </a:solidFill>
                          <a:latin typeface="Open Sans Bold"/>
                          <a:ea typeface="Open Sans Bold"/>
                          <a:cs typeface="Open Sans Bold"/>
                          <a:sym typeface="Open Sans Bold"/>
                        </a:rPr>
                        <a:t>71,0%</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b="1">
                          <a:solidFill>
                            <a:srgbClr val="EF4444"/>
                          </a:solidFill>
                          <a:latin typeface="Open Sans Bold"/>
                          <a:ea typeface="Open Sans Bold"/>
                          <a:cs typeface="Open Sans Bold"/>
                          <a:sym typeface="Open Sans Bold"/>
                        </a:rPr>
                        <a:t>HIGH</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1"/>
                  </a:ext>
                </a:extLst>
              </a:tr>
              <a:tr h="742950">
                <a:tc>
                  <a:txBody>
                    <a:bodyPr/>
                    <a:lstStyle/>
                    <a:p>
                      <a:pPr algn="ctr">
                        <a:lnSpc>
                          <a:spcPts val="2160"/>
                        </a:lnSpc>
                        <a:defRPr/>
                      </a:pPr>
                      <a:r>
                        <a:rPr lang="en-US" sz="1800">
                          <a:solidFill>
                            <a:srgbClr val="475569"/>
                          </a:solidFill>
                          <a:latin typeface="Open Sans"/>
                          <a:ea typeface="Open Sans"/>
                          <a:cs typeface="Open Sans"/>
                          <a:sym typeface="Open Sans"/>
                        </a:rPr>
                        <a:t>Extremely High Fare/Mile</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b="1">
                          <a:solidFill>
                            <a:srgbClr val="475569"/>
                          </a:solidFill>
                          <a:latin typeface="Open Sans Bold"/>
                          <a:ea typeface="Open Sans Bold"/>
                          <a:cs typeface="Open Sans Bold"/>
                          <a:sym typeface="Open Sans Bold"/>
                        </a:rPr>
                        <a:t>20,8%</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b="1">
                          <a:solidFill>
                            <a:srgbClr val="EF4444"/>
                          </a:solidFill>
                          <a:latin typeface="Open Sans Bold"/>
                          <a:ea typeface="Open Sans Bold"/>
                          <a:cs typeface="Open Sans Bold"/>
                          <a:sym typeface="Open Sans Bold"/>
                        </a:rPr>
                        <a:t>HIGH</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742950">
                <a:tc>
                  <a:txBody>
                    <a:bodyPr/>
                    <a:lstStyle/>
                    <a:p>
                      <a:pPr algn="ctr">
                        <a:lnSpc>
                          <a:spcPts val="2160"/>
                        </a:lnSpc>
                        <a:defRPr/>
                      </a:pPr>
                      <a:r>
                        <a:rPr lang="en-US" sz="1800">
                          <a:solidFill>
                            <a:srgbClr val="475569"/>
                          </a:solidFill>
                          <a:latin typeface="Open Sans"/>
                          <a:ea typeface="Open Sans"/>
                          <a:cs typeface="Open Sans"/>
                          <a:sym typeface="Open Sans"/>
                        </a:rPr>
                        <a:t>Extreme Fare Amount (&gt;$150)</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a:solidFill>
                            <a:srgbClr val="475569"/>
                          </a:solidFill>
                          <a:latin typeface="Open Sans"/>
                          <a:ea typeface="Open Sans"/>
                          <a:cs typeface="Open Sans"/>
                          <a:sym typeface="Open Sans"/>
                        </a:rPr>
                        <a:t>5,3%</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b="1">
                          <a:solidFill>
                            <a:srgbClr val="EF4444"/>
                          </a:solidFill>
                          <a:latin typeface="Open Sans Bold"/>
                          <a:ea typeface="Open Sans Bold"/>
                          <a:cs typeface="Open Sans Bold"/>
                          <a:sym typeface="Open Sans Bold"/>
                        </a:rPr>
                        <a:t>HIGH</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3"/>
                  </a:ext>
                </a:extLst>
              </a:tr>
              <a:tr h="742950">
                <a:tc>
                  <a:txBody>
                    <a:bodyPr/>
                    <a:lstStyle/>
                    <a:p>
                      <a:pPr algn="ctr">
                        <a:lnSpc>
                          <a:spcPts val="2160"/>
                        </a:lnSpc>
                        <a:defRPr/>
                      </a:pPr>
                      <a:r>
                        <a:rPr lang="en-US" sz="1800">
                          <a:solidFill>
                            <a:srgbClr val="475569"/>
                          </a:solidFill>
                          <a:latin typeface="Open Sans"/>
                          <a:ea typeface="Open Sans"/>
                          <a:cs typeface="Open Sans"/>
                          <a:sym typeface="Open Sans"/>
                        </a:rPr>
                        <a:t>Short Trip, High Fare</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a:solidFill>
                            <a:srgbClr val="475569"/>
                          </a:solidFill>
                          <a:latin typeface="Open Sans"/>
                          <a:ea typeface="Open Sans"/>
                          <a:cs typeface="Open Sans"/>
                          <a:sym typeface="Open Sans"/>
                        </a:rPr>
                        <a:t>1,3%</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b="1">
                          <a:solidFill>
                            <a:srgbClr val="EF4444"/>
                          </a:solidFill>
                          <a:latin typeface="Open Sans Bold"/>
                          <a:ea typeface="Open Sans Bold"/>
                          <a:cs typeface="Open Sans Bold"/>
                          <a:sym typeface="Open Sans Bold"/>
                        </a:rPr>
                        <a:t>HIGH</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742950">
                <a:tc>
                  <a:txBody>
                    <a:bodyPr/>
                    <a:lstStyle/>
                    <a:p>
                      <a:pPr algn="ctr">
                        <a:lnSpc>
                          <a:spcPts val="2160"/>
                        </a:lnSpc>
                        <a:defRPr/>
                      </a:pPr>
                      <a:r>
                        <a:rPr lang="en-US" sz="1800">
                          <a:solidFill>
                            <a:srgbClr val="475569"/>
                          </a:solidFill>
                          <a:latin typeface="Open Sans"/>
                          <a:ea typeface="Open Sans"/>
                          <a:cs typeface="Open Sans"/>
                          <a:sym typeface="Open Sans"/>
                        </a:rPr>
                        <a:t>Long Duration, Short Distance</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a:solidFill>
                            <a:srgbClr val="475569"/>
                          </a:solidFill>
                          <a:latin typeface="Open Sans"/>
                          <a:ea typeface="Open Sans"/>
                          <a:cs typeface="Open Sans"/>
                          <a:sym typeface="Open Sans"/>
                        </a:rPr>
                        <a:t>1,3%</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b="1">
                          <a:solidFill>
                            <a:srgbClr val="FF751F"/>
                          </a:solidFill>
                          <a:latin typeface="Open Sans Bold"/>
                          <a:ea typeface="Open Sans Bold"/>
                          <a:cs typeface="Open Sans Bold"/>
                          <a:sym typeface="Open Sans Bold"/>
                        </a:rPr>
                        <a:t>MED</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5"/>
                  </a:ext>
                </a:extLst>
              </a:tr>
              <a:tr h="742950">
                <a:tc>
                  <a:txBody>
                    <a:bodyPr/>
                    <a:lstStyle/>
                    <a:p>
                      <a:pPr algn="ctr">
                        <a:lnSpc>
                          <a:spcPts val="2160"/>
                        </a:lnSpc>
                        <a:defRPr/>
                      </a:pPr>
                      <a:r>
                        <a:rPr lang="en-US" sz="1800">
                          <a:solidFill>
                            <a:srgbClr val="475569"/>
                          </a:solidFill>
                          <a:latin typeface="Open Sans"/>
                          <a:ea typeface="Open Sans"/>
                          <a:cs typeface="Open Sans"/>
                          <a:sym typeface="Open Sans"/>
                        </a:rPr>
                        <a:t>Statistical Outlier (IF+MCD)</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a:solidFill>
                            <a:srgbClr val="475569"/>
                          </a:solidFill>
                          <a:latin typeface="Open Sans"/>
                          <a:ea typeface="Open Sans"/>
                          <a:cs typeface="Open Sans"/>
                          <a:sym typeface="Open Sans"/>
                        </a:rPr>
                        <a:t>0,2%</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b="1">
                          <a:solidFill>
                            <a:srgbClr val="FF751F"/>
                          </a:solidFill>
                          <a:latin typeface="Open Sans Bold"/>
                          <a:ea typeface="Open Sans Bold"/>
                          <a:cs typeface="Open Sans Bold"/>
                          <a:sym typeface="Open Sans Bold"/>
                        </a:rPr>
                        <a:t>MED</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r h="742950">
                <a:tc>
                  <a:txBody>
                    <a:bodyPr/>
                    <a:lstStyle/>
                    <a:p>
                      <a:pPr algn="ctr">
                        <a:lnSpc>
                          <a:spcPts val="2160"/>
                        </a:lnSpc>
                        <a:defRPr/>
                      </a:pPr>
                      <a:r>
                        <a:rPr lang="en-US" sz="1800">
                          <a:solidFill>
                            <a:srgbClr val="475569"/>
                          </a:solidFill>
                          <a:latin typeface="Open Sans"/>
                          <a:ea typeface="Open Sans"/>
                          <a:cs typeface="Open Sans"/>
                          <a:sym typeface="Open Sans"/>
                        </a:rPr>
                        <a:t>Night-time Speeding</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a:solidFill>
                            <a:srgbClr val="475569"/>
                          </a:solidFill>
                          <a:latin typeface="Open Sans"/>
                          <a:ea typeface="Open Sans"/>
                          <a:cs typeface="Open Sans"/>
                          <a:sym typeface="Open Sans"/>
                        </a:rPr>
                        <a:t>0,1%</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b="1">
                          <a:solidFill>
                            <a:srgbClr val="FF751F"/>
                          </a:solidFill>
                          <a:latin typeface="Open Sans Bold"/>
                          <a:ea typeface="Open Sans Bold"/>
                          <a:cs typeface="Open Sans Bold"/>
                          <a:sym typeface="Open Sans Bold"/>
                        </a:rPr>
                        <a:t>MED</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7"/>
                  </a:ext>
                </a:extLst>
              </a:tr>
              <a:tr h="742950">
                <a:tc>
                  <a:txBody>
                    <a:bodyPr/>
                    <a:lstStyle/>
                    <a:p>
                      <a:pPr algn="ctr">
                        <a:lnSpc>
                          <a:spcPts val="2160"/>
                        </a:lnSpc>
                        <a:defRPr/>
                      </a:pPr>
                      <a:r>
                        <a:rPr lang="en-US" sz="1800">
                          <a:solidFill>
                            <a:srgbClr val="475569"/>
                          </a:solidFill>
                          <a:latin typeface="Open Sans"/>
                          <a:ea typeface="Open Sans"/>
                          <a:cs typeface="Open Sans"/>
                          <a:sym typeface="Open Sans"/>
                        </a:rPr>
                        <a:t>Suspiciously Low Fare</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a:solidFill>
                            <a:srgbClr val="475569"/>
                          </a:solidFill>
                          <a:latin typeface="Open Sans"/>
                          <a:ea typeface="Open Sans"/>
                          <a:cs typeface="Open Sans"/>
                          <a:sym typeface="Open Sans"/>
                        </a:rPr>
                        <a:t>0,1%</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b="1">
                          <a:solidFill>
                            <a:srgbClr val="FF751F"/>
                          </a:solidFill>
                          <a:latin typeface="Open Sans Bold"/>
                          <a:ea typeface="Open Sans Bold"/>
                          <a:cs typeface="Open Sans Bold"/>
                          <a:sym typeface="Open Sans Bold"/>
                        </a:rPr>
                        <a:t>MED</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8"/>
                  </a:ext>
                </a:extLst>
              </a:tr>
            </a:tbl>
          </a:graphicData>
        </a:graphic>
      </p:graphicFrame>
      <p:grpSp>
        <p:nvGrpSpPr>
          <p:cNvPr id="7" name="Group 7"/>
          <p:cNvGrpSpPr/>
          <p:nvPr/>
        </p:nvGrpSpPr>
        <p:grpSpPr>
          <a:xfrm>
            <a:off x="857250" y="3602012"/>
            <a:ext cx="8286750" cy="14288"/>
            <a:chOff x="0" y="0"/>
            <a:chExt cx="11049000" cy="19050"/>
          </a:xfrm>
        </p:grpSpPr>
        <p:sp>
          <p:nvSpPr>
            <p:cNvPr id="8" name="Freeform 8"/>
            <p:cNvSpPr/>
            <p:nvPr/>
          </p:nvSpPr>
          <p:spPr>
            <a:xfrm>
              <a:off x="0" y="0"/>
              <a:ext cx="11049000" cy="19050"/>
            </a:xfrm>
            <a:custGeom>
              <a:avLst/>
              <a:gdLst/>
              <a:ahLst/>
              <a:cxnLst/>
              <a:rect l="l" t="t" r="r" b="b"/>
              <a:pathLst>
                <a:path w="11049000" h="19050">
                  <a:moveTo>
                    <a:pt x="0" y="0"/>
                  </a:moveTo>
                  <a:lnTo>
                    <a:pt x="11049000" y="0"/>
                  </a:lnTo>
                  <a:lnTo>
                    <a:pt x="11049000" y="19050"/>
                  </a:lnTo>
                  <a:lnTo>
                    <a:pt x="0" y="19050"/>
                  </a:lnTo>
                  <a:close/>
                </a:path>
              </a:pathLst>
            </a:custGeom>
            <a:solidFill>
              <a:srgbClr val="E2E8F0"/>
            </a:solidFill>
          </p:spPr>
          <p:txBody>
            <a:bodyPr/>
            <a:lstStyle/>
            <a:p>
              <a:endParaRPr lang="vi-VN"/>
            </a:p>
          </p:txBody>
        </p:sp>
      </p:grpSp>
      <p:grpSp>
        <p:nvGrpSpPr>
          <p:cNvPr id="9" name="Group 9"/>
          <p:cNvGrpSpPr/>
          <p:nvPr/>
        </p:nvGrpSpPr>
        <p:grpSpPr>
          <a:xfrm>
            <a:off x="9144000" y="3602012"/>
            <a:ext cx="4143375" cy="14288"/>
            <a:chOff x="0" y="0"/>
            <a:chExt cx="5524500" cy="19050"/>
          </a:xfrm>
        </p:grpSpPr>
        <p:sp>
          <p:nvSpPr>
            <p:cNvPr id="10" name="Freeform 10"/>
            <p:cNvSpPr/>
            <p:nvPr/>
          </p:nvSpPr>
          <p:spPr>
            <a:xfrm>
              <a:off x="0" y="0"/>
              <a:ext cx="5524500" cy="19050"/>
            </a:xfrm>
            <a:custGeom>
              <a:avLst/>
              <a:gdLst/>
              <a:ahLst/>
              <a:cxnLst/>
              <a:rect l="l" t="t" r="r" b="b"/>
              <a:pathLst>
                <a:path w="5524500" h="19050">
                  <a:moveTo>
                    <a:pt x="0" y="0"/>
                  </a:moveTo>
                  <a:lnTo>
                    <a:pt x="5524500" y="0"/>
                  </a:lnTo>
                  <a:lnTo>
                    <a:pt x="5524500" y="19050"/>
                  </a:lnTo>
                  <a:lnTo>
                    <a:pt x="0" y="19050"/>
                  </a:lnTo>
                  <a:close/>
                </a:path>
              </a:pathLst>
            </a:custGeom>
            <a:solidFill>
              <a:srgbClr val="E2E8F0"/>
            </a:solidFill>
          </p:spPr>
          <p:txBody>
            <a:bodyPr/>
            <a:lstStyle/>
            <a:p>
              <a:endParaRPr lang="vi-VN"/>
            </a:p>
          </p:txBody>
        </p:sp>
      </p:grpSp>
      <p:grpSp>
        <p:nvGrpSpPr>
          <p:cNvPr id="11" name="Group 11"/>
          <p:cNvGrpSpPr/>
          <p:nvPr/>
        </p:nvGrpSpPr>
        <p:grpSpPr>
          <a:xfrm>
            <a:off x="13287375" y="3602012"/>
            <a:ext cx="4143375" cy="14288"/>
            <a:chOff x="0" y="0"/>
            <a:chExt cx="5524500" cy="19050"/>
          </a:xfrm>
        </p:grpSpPr>
        <p:sp>
          <p:nvSpPr>
            <p:cNvPr id="12" name="Freeform 12"/>
            <p:cNvSpPr/>
            <p:nvPr/>
          </p:nvSpPr>
          <p:spPr>
            <a:xfrm>
              <a:off x="0" y="0"/>
              <a:ext cx="5524500" cy="19050"/>
            </a:xfrm>
            <a:custGeom>
              <a:avLst/>
              <a:gdLst/>
              <a:ahLst/>
              <a:cxnLst/>
              <a:rect l="l" t="t" r="r" b="b"/>
              <a:pathLst>
                <a:path w="5524500" h="19050">
                  <a:moveTo>
                    <a:pt x="0" y="0"/>
                  </a:moveTo>
                  <a:lnTo>
                    <a:pt x="5524500" y="0"/>
                  </a:lnTo>
                  <a:lnTo>
                    <a:pt x="5524500" y="19050"/>
                  </a:lnTo>
                  <a:lnTo>
                    <a:pt x="0" y="19050"/>
                  </a:lnTo>
                  <a:close/>
                </a:path>
              </a:pathLst>
            </a:custGeom>
            <a:solidFill>
              <a:srgbClr val="E2E8F0"/>
            </a:solidFill>
          </p:spPr>
          <p:txBody>
            <a:bodyPr/>
            <a:lstStyle/>
            <a:p>
              <a:endParaRPr lang="vi-VN"/>
            </a:p>
          </p:txBody>
        </p:sp>
      </p:grpSp>
      <p:grpSp>
        <p:nvGrpSpPr>
          <p:cNvPr id="13" name="Group 13"/>
          <p:cNvGrpSpPr/>
          <p:nvPr/>
        </p:nvGrpSpPr>
        <p:grpSpPr>
          <a:xfrm>
            <a:off x="857250" y="4370632"/>
            <a:ext cx="8286750" cy="14288"/>
            <a:chOff x="0" y="0"/>
            <a:chExt cx="11049000" cy="19050"/>
          </a:xfrm>
        </p:grpSpPr>
        <p:sp>
          <p:nvSpPr>
            <p:cNvPr id="14" name="Freeform 14"/>
            <p:cNvSpPr/>
            <p:nvPr/>
          </p:nvSpPr>
          <p:spPr>
            <a:xfrm>
              <a:off x="0" y="0"/>
              <a:ext cx="11049000" cy="19050"/>
            </a:xfrm>
            <a:custGeom>
              <a:avLst/>
              <a:gdLst/>
              <a:ahLst/>
              <a:cxnLst/>
              <a:rect l="l" t="t" r="r" b="b"/>
              <a:pathLst>
                <a:path w="11049000" h="19050">
                  <a:moveTo>
                    <a:pt x="0" y="0"/>
                  </a:moveTo>
                  <a:lnTo>
                    <a:pt x="11049000" y="0"/>
                  </a:lnTo>
                  <a:lnTo>
                    <a:pt x="11049000" y="19050"/>
                  </a:lnTo>
                  <a:lnTo>
                    <a:pt x="0" y="19050"/>
                  </a:lnTo>
                  <a:close/>
                </a:path>
              </a:pathLst>
            </a:custGeom>
            <a:solidFill>
              <a:srgbClr val="E2E8F0"/>
            </a:solidFill>
          </p:spPr>
          <p:txBody>
            <a:bodyPr/>
            <a:lstStyle/>
            <a:p>
              <a:endParaRPr lang="vi-VN"/>
            </a:p>
          </p:txBody>
        </p:sp>
      </p:grpSp>
      <p:grpSp>
        <p:nvGrpSpPr>
          <p:cNvPr id="15" name="Group 15"/>
          <p:cNvGrpSpPr/>
          <p:nvPr/>
        </p:nvGrpSpPr>
        <p:grpSpPr>
          <a:xfrm>
            <a:off x="9144000" y="4370632"/>
            <a:ext cx="4143375" cy="14288"/>
            <a:chOff x="0" y="0"/>
            <a:chExt cx="5524500" cy="19050"/>
          </a:xfrm>
        </p:grpSpPr>
        <p:sp>
          <p:nvSpPr>
            <p:cNvPr id="16" name="Freeform 16"/>
            <p:cNvSpPr/>
            <p:nvPr/>
          </p:nvSpPr>
          <p:spPr>
            <a:xfrm>
              <a:off x="0" y="0"/>
              <a:ext cx="5524500" cy="19050"/>
            </a:xfrm>
            <a:custGeom>
              <a:avLst/>
              <a:gdLst/>
              <a:ahLst/>
              <a:cxnLst/>
              <a:rect l="l" t="t" r="r" b="b"/>
              <a:pathLst>
                <a:path w="5524500" h="19050">
                  <a:moveTo>
                    <a:pt x="0" y="0"/>
                  </a:moveTo>
                  <a:lnTo>
                    <a:pt x="5524500" y="0"/>
                  </a:lnTo>
                  <a:lnTo>
                    <a:pt x="5524500" y="19050"/>
                  </a:lnTo>
                  <a:lnTo>
                    <a:pt x="0" y="19050"/>
                  </a:lnTo>
                  <a:close/>
                </a:path>
              </a:pathLst>
            </a:custGeom>
            <a:solidFill>
              <a:srgbClr val="E2E8F0"/>
            </a:solidFill>
          </p:spPr>
          <p:txBody>
            <a:bodyPr/>
            <a:lstStyle/>
            <a:p>
              <a:endParaRPr lang="vi-VN"/>
            </a:p>
          </p:txBody>
        </p:sp>
      </p:grpSp>
      <p:grpSp>
        <p:nvGrpSpPr>
          <p:cNvPr id="17" name="Group 17"/>
          <p:cNvGrpSpPr/>
          <p:nvPr/>
        </p:nvGrpSpPr>
        <p:grpSpPr>
          <a:xfrm>
            <a:off x="13287375" y="4370632"/>
            <a:ext cx="4143375" cy="14288"/>
            <a:chOff x="0" y="0"/>
            <a:chExt cx="5524500" cy="19050"/>
          </a:xfrm>
        </p:grpSpPr>
        <p:sp>
          <p:nvSpPr>
            <p:cNvPr id="18" name="Freeform 18"/>
            <p:cNvSpPr/>
            <p:nvPr/>
          </p:nvSpPr>
          <p:spPr>
            <a:xfrm>
              <a:off x="0" y="0"/>
              <a:ext cx="5524500" cy="19050"/>
            </a:xfrm>
            <a:custGeom>
              <a:avLst/>
              <a:gdLst/>
              <a:ahLst/>
              <a:cxnLst/>
              <a:rect l="l" t="t" r="r" b="b"/>
              <a:pathLst>
                <a:path w="5524500" h="19050">
                  <a:moveTo>
                    <a:pt x="0" y="0"/>
                  </a:moveTo>
                  <a:lnTo>
                    <a:pt x="5524500" y="0"/>
                  </a:lnTo>
                  <a:lnTo>
                    <a:pt x="5524500" y="19050"/>
                  </a:lnTo>
                  <a:lnTo>
                    <a:pt x="0" y="19050"/>
                  </a:lnTo>
                  <a:close/>
                </a:path>
              </a:pathLst>
            </a:custGeom>
            <a:solidFill>
              <a:srgbClr val="E2E8F0"/>
            </a:solidFill>
          </p:spPr>
          <p:txBody>
            <a:bodyPr/>
            <a:lstStyle/>
            <a:p>
              <a:endParaRPr lang="vi-VN"/>
            </a:p>
          </p:txBody>
        </p:sp>
      </p:grpSp>
      <p:grpSp>
        <p:nvGrpSpPr>
          <p:cNvPr id="19" name="Group 19"/>
          <p:cNvGrpSpPr/>
          <p:nvPr/>
        </p:nvGrpSpPr>
        <p:grpSpPr>
          <a:xfrm>
            <a:off x="857250" y="5139261"/>
            <a:ext cx="8286750" cy="14288"/>
            <a:chOff x="0" y="0"/>
            <a:chExt cx="11049000" cy="19050"/>
          </a:xfrm>
        </p:grpSpPr>
        <p:sp>
          <p:nvSpPr>
            <p:cNvPr id="20" name="Freeform 20"/>
            <p:cNvSpPr/>
            <p:nvPr/>
          </p:nvSpPr>
          <p:spPr>
            <a:xfrm>
              <a:off x="0" y="0"/>
              <a:ext cx="11049000" cy="19050"/>
            </a:xfrm>
            <a:custGeom>
              <a:avLst/>
              <a:gdLst/>
              <a:ahLst/>
              <a:cxnLst/>
              <a:rect l="l" t="t" r="r" b="b"/>
              <a:pathLst>
                <a:path w="11049000" h="19050">
                  <a:moveTo>
                    <a:pt x="0" y="0"/>
                  </a:moveTo>
                  <a:lnTo>
                    <a:pt x="11049000" y="0"/>
                  </a:lnTo>
                  <a:lnTo>
                    <a:pt x="11049000" y="19050"/>
                  </a:lnTo>
                  <a:lnTo>
                    <a:pt x="0" y="19050"/>
                  </a:lnTo>
                  <a:close/>
                </a:path>
              </a:pathLst>
            </a:custGeom>
            <a:solidFill>
              <a:srgbClr val="E2E8F0"/>
            </a:solidFill>
          </p:spPr>
          <p:txBody>
            <a:bodyPr/>
            <a:lstStyle/>
            <a:p>
              <a:endParaRPr lang="vi-VN"/>
            </a:p>
          </p:txBody>
        </p:sp>
      </p:grpSp>
      <p:grpSp>
        <p:nvGrpSpPr>
          <p:cNvPr id="21" name="Group 21"/>
          <p:cNvGrpSpPr/>
          <p:nvPr/>
        </p:nvGrpSpPr>
        <p:grpSpPr>
          <a:xfrm>
            <a:off x="9144000" y="5139261"/>
            <a:ext cx="4143375" cy="14288"/>
            <a:chOff x="0" y="0"/>
            <a:chExt cx="5524500" cy="19050"/>
          </a:xfrm>
        </p:grpSpPr>
        <p:sp>
          <p:nvSpPr>
            <p:cNvPr id="22" name="Freeform 22"/>
            <p:cNvSpPr/>
            <p:nvPr/>
          </p:nvSpPr>
          <p:spPr>
            <a:xfrm>
              <a:off x="0" y="0"/>
              <a:ext cx="5524500" cy="19050"/>
            </a:xfrm>
            <a:custGeom>
              <a:avLst/>
              <a:gdLst/>
              <a:ahLst/>
              <a:cxnLst/>
              <a:rect l="l" t="t" r="r" b="b"/>
              <a:pathLst>
                <a:path w="5524500" h="19050">
                  <a:moveTo>
                    <a:pt x="0" y="0"/>
                  </a:moveTo>
                  <a:lnTo>
                    <a:pt x="5524500" y="0"/>
                  </a:lnTo>
                  <a:lnTo>
                    <a:pt x="5524500" y="19050"/>
                  </a:lnTo>
                  <a:lnTo>
                    <a:pt x="0" y="19050"/>
                  </a:lnTo>
                  <a:close/>
                </a:path>
              </a:pathLst>
            </a:custGeom>
            <a:solidFill>
              <a:srgbClr val="E2E8F0"/>
            </a:solidFill>
          </p:spPr>
          <p:txBody>
            <a:bodyPr/>
            <a:lstStyle/>
            <a:p>
              <a:endParaRPr lang="vi-VN"/>
            </a:p>
          </p:txBody>
        </p:sp>
      </p:grpSp>
      <p:grpSp>
        <p:nvGrpSpPr>
          <p:cNvPr id="23" name="Group 23"/>
          <p:cNvGrpSpPr/>
          <p:nvPr/>
        </p:nvGrpSpPr>
        <p:grpSpPr>
          <a:xfrm>
            <a:off x="13287375" y="5139261"/>
            <a:ext cx="4143375" cy="14288"/>
            <a:chOff x="0" y="0"/>
            <a:chExt cx="5524500" cy="19050"/>
          </a:xfrm>
        </p:grpSpPr>
        <p:sp>
          <p:nvSpPr>
            <p:cNvPr id="24" name="Freeform 24"/>
            <p:cNvSpPr/>
            <p:nvPr/>
          </p:nvSpPr>
          <p:spPr>
            <a:xfrm>
              <a:off x="0" y="0"/>
              <a:ext cx="5524500" cy="19050"/>
            </a:xfrm>
            <a:custGeom>
              <a:avLst/>
              <a:gdLst/>
              <a:ahLst/>
              <a:cxnLst/>
              <a:rect l="l" t="t" r="r" b="b"/>
              <a:pathLst>
                <a:path w="5524500" h="19050">
                  <a:moveTo>
                    <a:pt x="0" y="0"/>
                  </a:moveTo>
                  <a:lnTo>
                    <a:pt x="5524500" y="0"/>
                  </a:lnTo>
                  <a:lnTo>
                    <a:pt x="5524500" y="19050"/>
                  </a:lnTo>
                  <a:lnTo>
                    <a:pt x="0" y="19050"/>
                  </a:lnTo>
                  <a:close/>
                </a:path>
              </a:pathLst>
            </a:custGeom>
            <a:solidFill>
              <a:srgbClr val="E2E8F0"/>
            </a:solidFill>
          </p:spPr>
          <p:txBody>
            <a:bodyPr/>
            <a:lstStyle/>
            <a:p>
              <a:endParaRPr lang="vi-VN"/>
            </a:p>
          </p:txBody>
        </p:sp>
      </p:grpSp>
      <p:grpSp>
        <p:nvGrpSpPr>
          <p:cNvPr id="25" name="Group 25"/>
          <p:cNvGrpSpPr/>
          <p:nvPr/>
        </p:nvGrpSpPr>
        <p:grpSpPr>
          <a:xfrm>
            <a:off x="857250" y="5907881"/>
            <a:ext cx="8286750" cy="14288"/>
            <a:chOff x="0" y="0"/>
            <a:chExt cx="11049000" cy="19050"/>
          </a:xfrm>
        </p:grpSpPr>
        <p:sp>
          <p:nvSpPr>
            <p:cNvPr id="26" name="Freeform 26"/>
            <p:cNvSpPr/>
            <p:nvPr/>
          </p:nvSpPr>
          <p:spPr>
            <a:xfrm>
              <a:off x="0" y="0"/>
              <a:ext cx="11049000" cy="19050"/>
            </a:xfrm>
            <a:custGeom>
              <a:avLst/>
              <a:gdLst/>
              <a:ahLst/>
              <a:cxnLst/>
              <a:rect l="l" t="t" r="r" b="b"/>
              <a:pathLst>
                <a:path w="11049000" h="19050">
                  <a:moveTo>
                    <a:pt x="0" y="0"/>
                  </a:moveTo>
                  <a:lnTo>
                    <a:pt x="11049000" y="0"/>
                  </a:lnTo>
                  <a:lnTo>
                    <a:pt x="11049000" y="19050"/>
                  </a:lnTo>
                  <a:lnTo>
                    <a:pt x="0" y="19050"/>
                  </a:lnTo>
                  <a:close/>
                </a:path>
              </a:pathLst>
            </a:custGeom>
            <a:solidFill>
              <a:srgbClr val="E2E8F0"/>
            </a:solidFill>
          </p:spPr>
          <p:txBody>
            <a:bodyPr/>
            <a:lstStyle/>
            <a:p>
              <a:endParaRPr lang="vi-VN"/>
            </a:p>
          </p:txBody>
        </p:sp>
      </p:grpSp>
      <p:grpSp>
        <p:nvGrpSpPr>
          <p:cNvPr id="27" name="Group 27"/>
          <p:cNvGrpSpPr/>
          <p:nvPr/>
        </p:nvGrpSpPr>
        <p:grpSpPr>
          <a:xfrm>
            <a:off x="9144000" y="5907881"/>
            <a:ext cx="4143375" cy="14288"/>
            <a:chOff x="0" y="0"/>
            <a:chExt cx="5524500" cy="19050"/>
          </a:xfrm>
        </p:grpSpPr>
        <p:sp>
          <p:nvSpPr>
            <p:cNvPr id="28" name="Freeform 28"/>
            <p:cNvSpPr/>
            <p:nvPr/>
          </p:nvSpPr>
          <p:spPr>
            <a:xfrm>
              <a:off x="0" y="0"/>
              <a:ext cx="5524500" cy="19050"/>
            </a:xfrm>
            <a:custGeom>
              <a:avLst/>
              <a:gdLst/>
              <a:ahLst/>
              <a:cxnLst/>
              <a:rect l="l" t="t" r="r" b="b"/>
              <a:pathLst>
                <a:path w="5524500" h="19050">
                  <a:moveTo>
                    <a:pt x="0" y="0"/>
                  </a:moveTo>
                  <a:lnTo>
                    <a:pt x="5524500" y="0"/>
                  </a:lnTo>
                  <a:lnTo>
                    <a:pt x="5524500" y="19050"/>
                  </a:lnTo>
                  <a:lnTo>
                    <a:pt x="0" y="19050"/>
                  </a:lnTo>
                  <a:close/>
                </a:path>
              </a:pathLst>
            </a:custGeom>
            <a:solidFill>
              <a:srgbClr val="E2E8F0"/>
            </a:solidFill>
          </p:spPr>
          <p:txBody>
            <a:bodyPr/>
            <a:lstStyle/>
            <a:p>
              <a:endParaRPr lang="vi-VN"/>
            </a:p>
          </p:txBody>
        </p:sp>
      </p:grpSp>
      <p:grpSp>
        <p:nvGrpSpPr>
          <p:cNvPr id="29" name="Group 29"/>
          <p:cNvGrpSpPr/>
          <p:nvPr/>
        </p:nvGrpSpPr>
        <p:grpSpPr>
          <a:xfrm>
            <a:off x="13287375" y="5907881"/>
            <a:ext cx="4143375" cy="14288"/>
            <a:chOff x="0" y="0"/>
            <a:chExt cx="5524500" cy="19050"/>
          </a:xfrm>
        </p:grpSpPr>
        <p:sp>
          <p:nvSpPr>
            <p:cNvPr id="30" name="Freeform 30"/>
            <p:cNvSpPr/>
            <p:nvPr/>
          </p:nvSpPr>
          <p:spPr>
            <a:xfrm>
              <a:off x="0" y="0"/>
              <a:ext cx="5524500" cy="19050"/>
            </a:xfrm>
            <a:custGeom>
              <a:avLst/>
              <a:gdLst/>
              <a:ahLst/>
              <a:cxnLst/>
              <a:rect l="l" t="t" r="r" b="b"/>
              <a:pathLst>
                <a:path w="5524500" h="19050">
                  <a:moveTo>
                    <a:pt x="0" y="0"/>
                  </a:moveTo>
                  <a:lnTo>
                    <a:pt x="5524500" y="0"/>
                  </a:lnTo>
                  <a:lnTo>
                    <a:pt x="5524500" y="19050"/>
                  </a:lnTo>
                  <a:lnTo>
                    <a:pt x="0" y="19050"/>
                  </a:lnTo>
                  <a:close/>
                </a:path>
              </a:pathLst>
            </a:custGeom>
            <a:solidFill>
              <a:srgbClr val="E2E8F0"/>
            </a:solidFill>
          </p:spPr>
          <p:txBody>
            <a:bodyPr/>
            <a:lstStyle/>
            <a:p>
              <a:endParaRPr lang="vi-VN"/>
            </a:p>
          </p:txBody>
        </p:sp>
      </p:grpSp>
      <p:grpSp>
        <p:nvGrpSpPr>
          <p:cNvPr id="31" name="Group 31"/>
          <p:cNvGrpSpPr/>
          <p:nvPr/>
        </p:nvGrpSpPr>
        <p:grpSpPr>
          <a:xfrm>
            <a:off x="857250" y="6676501"/>
            <a:ext cx="8286750" cy="14288"/>
            <a:chOff x="0" y="0"/>
            <a:chExt cx="11049000" cy="19050"/>
          </a:xfrm>
        </p:grpSpPr>
        <p:sp>
          <p:nvSpPr>
            <p:cNvPr id="32" name="Freeform 32"/>
            <p:cNvSpPr/>
            <p:nvPr/>
          </p:nvSpPr>
          <p:spPr>
            <a:xfrm>
              <a:off x="0" y="0"/>
              <a:ext cx="11049000" cy="19050"/>
            </a:xfrm>
            <a:custGeom>
              <a:avLst/>
              <a:gdLst/>
              <a:ahLst/>
              <a:cxnLst/>
              <a:rect l="l" t="t" r="r" b="b"/>
              <a:pathLst>
                <a:path w="11049000" h="19050">
                  <a:moveTo>
                    <a:pt x="0" y="0"/>
                  </a:moveTo>
                  <a:lnTo>
                    <a:pt x="11049000" y="0"/>
                  </a:lnTo>
                  <a:lnTo>
                    <a:pt x="11049000" y="19050"/>
                  </a:lnTo>
                  <a:lnTo>
                    <a:pt x="0" y="19050"/>
                  </a:lnTo>
                  <a:close/>
                </a:path>
              </a:pathLst>
            </a:custGeom>
            <a:solidFill>
              <a:srgbClr val="E2E8F0"/>
            </a:solidFill>
          </p:spPr>
          <p:txBody>
            <a:bodyPr/>
            <a:lstStyle/>
            <a:p>
              <a:endParaRPr lang="vi-VN"/>
            </a:p>
          </p:txBody>
        </p:sp>
      </p:grpSp>
      <p:grpSp>
        <p:nvGrpSpPr>
          <p:cNvPr id="33" name="Group 33"/>
          <p:cNvGrpSpPr/>
          <p:nvPr/>
        </p:nvGrpSpPr>
        <p:grpSpPr>
          <a:xfrm>
            <a:off x="9144000" y="6676501"/>
            <a:ext cx="4143375" cy="14288"/>
            <a:chOff x="0" y="0"/>
            <a:chExt cx="5524500" cy="19050"/>
          </a:xfrm>
        </p:grpSpPr>
        <p:sp>
          <p:nvSpPr>
            <p:cNvPr id="34" name="Freeform 34"/>
            <p:cNvSpPr/>
            <p:nvPr/>
          </p:nvSpPr>
          <p:spPr>
            <a:xfrm>
              <a:off x="0" y="0"/>
              <a:ext cx="5524500" cy="19050"/>
            </a:xfrm>
            <a:custGeom>
              <a:avLst/>
              <a:gdLst/>
              <a:ahLst/>
              <a:cxnLst/>
              <a:rect l="l" t="t" r="r" b="b"/>
              <a:pathLst>
                <a:path w="5524500" h="19050">
                  <a:moveTo>
                    <a:pt x="0" y="0"/>
                  </a:moveTo>
                  <a:lnTo>
                    <a:pt x="5524500" y="0"/>
                  </a:lnTo>
                  <a:lnTo>
                    <a:pt x="5524500" y="19050"/>
                  </a:lnTo>
                  <a:lnTo>
                    <a:pt x="0" y="19050"/>
                  </a:lnTo>
                  <a:close/>
                </a:path>
              </a:pathLst>
            </a:custGeom>
            <a:solidFill>
              <a:srgbClr val="E2E8F0"/>
            </a:solidFill>
          </p:spPr>
          <p:txBody>
            <a:bodyPr/>
            <a:lstStyle/>
            <a:p>
              <a:endParaRPr lang="vi-VN"/>
            </a:p>
          </p:txBody>
        </p:sp>
      </p:grpSp>
      <p:grpSp>
        <p:nvGrpSpPr>
          <p:cNvPr id="35" name="Group 35"/>
          <p:cNvGrpSpPr/>
          <p:nvPr/>
        </p:nvGrpSpPr>
        <p:grpSpPr>
          <a:xfrm>
            <a:off x="13287375" y="6676501"/>
            <a:ext cx="4143375" cy="14288"/>
            <a:chOff x="0" y="0"/>
            <a:chExt cx="5524500" cy="19050"/>
          </a:xfrm>
        </p:grpSpPr>
        <p:sp>
          <p:nvSpPr>
            <p:cNvPr id="36" name="Freeform 36"/>
            <p:cNvSpPr/>
            <p:nvPr/>
          </p:nvSpPr>
          <p:spPr>
            <a:xfrm>
              <a:off x="0" y="0"/>
              <a:ext cx="5524500" cy="19050"/>
            </a:xfrm>
            <a:custGeom>
              <a:avLst/>
              <a:gdLst/>
              <a:ahLst/>
              <a:cxnLst/>
              <a:rect l="l" t="t" r="r" b="b"/>
              <a:pathLst>
                <a:path w="5524500" h="19050">
                  <a:moveTo>
                    <a:pt x="0" y="0"/>
                  </a:moveTo>
                  <a:lnTo>
                    <a:pt x="5524500" y="0"/>
                  </a:lnTo>
                  <a:lnTo>
                    <a:pt x="5524500" y="19050"/>
                  </a:lnTo>
                  <a:lnTo>
                    <a:pt x="0" y="19050"/>
                  </a:lnTo>
                  <a:close/>
                </a:path>
              </a:pathLst>
            </a:custGeom>
            <a:solidFill>
              <a:srgbClr val="E2E8F0"/>
            </a:solidFill>
          </p:spPr>
          <p:txBody>
            <a:bodyPr/>
            <a:lstStyle/>
            <a:p>
              <a:endParaRPr lang="vi-VN"/>
            </a:p>
          </p:txBody>
        </p:sp>
      </p:grpSp>
      <p:grpSp>
        <p:nvGrpSpPr>
          <p:cNvPr id="37" name="Group 37"/>
          <p:cNvGrpSpPr/>
          <p:nvPr/>
        </p:nvGrpSpPr>
        <p:grpSpPr>
          <a:xfrm>
            <a:off x="857250" y="7445121"/>
            <a:ext cx="8286750" cy="14288"/>
            <a:chOff x="0" y="0"/>
            <a:chExt cx="11049000" cy="19050"/>
          </a:xfrm>
        </p:grpSpPr>
        <p:sp>
          <p:nvSpPr>
            <p:cNvPr id="38" name="Freeform 38"/>
            <p:cNvSpPr/>
            <p:nvPr/>
          </p:nvSpPr>
          <p:spPr>
            <a:xfrm>
              <a:off x="0" y="0"/>
              <a:ext cx="11049000" cy="19050"/>
            </a:xfrm>
            <a:custGeom>
              <a:avLst/>
              <a:gdLst/>
              <a:ahLst/>
              <a:cxnLst/>
              <a:rect l="l" t="t" r="r" b="b"/>
              <a:pathLst>
                <a:path w="11049000" h="19050">
                  <a:moveTo>
                    <a:pt x="0" y="0"/>
                  </a:moveTo>
                  <a:lnTo>
                    <a:pt x="11049000" y="0"/>
                  </a:lnTo>
                  <a:lnTo>
                    <a:pt x="11049000" y="19050"/>
                  </a:lnTo>
                  <a:lnTo>
                    <a:pt x="0" y="19050"/>
                  </a:lnTo>
                  <a:close/>
                </a:path>
              </a:pathLst>
            </a:custGeom>
            <a:solidFill>
              <a:srgbClr val="E2E8F0"/>
            </a:solidFill>
          </p:spPr>
          <p:txBody>
            <a:bodyPr/>
            <a:lstStyle/>
            <a:p>
              <a:endParaRPr lang="vi-VN"/>
            </a:p>
          </p:txBody>
        </p:sp>
      </p:grpSp>
      <p:grpSp>
        <p:nvGrpSpPr>
          <p:cNvPr id="39" name="Group 39"/>
          <p:cNvGrpSpPr/>
          <p:nvPr/>
        </p:nvGrpSpPr>
        <p:grpSpPr>
          <a:xfrm>
            <a:off x="9144000" y="7445121"/>
            <a:ext cx="4143375" cy="14288"/>
            <a:chOff x="0" y="0"/>
            <a:chExt cx="5524500" cy="19050"/>
          </a:xfrm>
        </p:grpSpPr>
        <p:sp>
          <p:nvSpPr>
            <p:cNvPr id="40" name="Freeform 40"/>
            <p:cNvSpPr/>
            <p:nvPr/>
          </p:nvSpPr>
          <p:spPr>
            <a:xfrm>
              <a:off x="0" y="0"/>
              <a:ext cx="5524500" cy="19050"/>
            </a:xfrm>
            <a:custGeom>
              <a:avLst/>
              <a:gdLst/>
              <a:ahLst/>
              <a:cxnLst/>
              <a:rect l="l" t="t" r="r" b="b"/>
              <a:pathLst>
                <a:path w="5524500" h="19050">
                  <a:moveTo>
                    <a:pt x="0" y="0"/>
                  </a:moveTo>
                  <a:lnTo>
                    <a:pt x="5524500" y="0"/>
                  </a:lnTo>
                  <a:lnTo>
                    <a:pt x="5524500" y="19050"/>
                  </a:lnTo>
                  <a:lnTo>
                    <a:pt x="0" y="19050"/>
                  </a:lnTo>
                  <a:close/>
                </a:path>
              </a:pathLst>
            </a:custGeom>
            <a:solidFill>
              <a:srgbClr val="E2E8F0"/>
            </a:solidFill>
          </p:spPr>
          <p:txBody>
            <a:bodyPr/>
            <a:lstStyle/>
            <a:p>
              <a:endParaRPr lang="vi-VN"/>
            </a:p>
          </p:txBody>
        </p:sp>
      </p:grpSp>
      <p:grpSp>
        <p:nvGrpSpPr>
          <p:cNvPr id="41" name="Group 41"/>
          <p:cNvGrpSpPr/>
          <p:nvPr/>
        </p:nvGrpSpPr>
        <p:grpSpPr>
          <a:xfrm>
            <a:off x="13287375" y="7445121"/>
            <a:ext cx="4143375" cy="14288"/>
            <a:chOff x="0" y="0"/>
            <a:chExt cx="5524500" cy="19050"/>
          </a:xfrm>
        </p:grpSpPr>
        <p:sp>
          <p:nvSpPr>
            <p:cNvPr id="42" name="Freeform 42"/>
            <p:cNvSpPr/>
            <p:nvPr/>
          </p:nvSpPr>
          <p:spPr>
            <a:xfrm>
              <a:off x="0" y="0"/>
              <a:ext cx="5524500" cy="19050"/>
            </a:xfrm>
            <a:custGeom>
              <a:avLst/>
              <a:gdLst/>
              <a:ahLst/>
              <a:cxnLst/>
              <a:rect l="l" t="t" r="r" b="b"/>
              <a:pathLst>
                <a:path w="5524500" h="19050">
                  <a:moveTo>
                    <a:pt x="0" y="0"/>
                  </a:moveTo>
                  <a:lnTo>
                    <a:pt x="5524500" y="0"/>
                  </a:lnTo>
                  <a:lnTo>
                    <a:pt x="5524500" y="19050"/>
                  </a:lnTo>
                  <a:lnTo>
                    <a:pt x="0" y="19050"/>
                  </a:lnTo>
                  <a:close/>
                </a:path>
              </a:pathLst>
            </a:custGeom>
            <a:solidFill>
              <a:srgbClr val="E2E8F0"/>
            </a:solidFill>
          </p:spPr>
          <p:txBody>
            <a:bodyPr/>
            <a:lstStyle/>
            <a:p>
              <a:endParaRPr lang="vi-VN"/>
            </a:p>
          </p:txBody>
        </p:sp>
      </p:grpSp>
      <p:grpSp>
        <p:nvGrpSpPr>
          <p:cNvPr id="43" name="Group 43"/>
          <p:cNvGrpSpPr/>
          <p:nvPr/>
        </p:nvGrpSpPr>
        <p:grpSpPr>
          <a:xfrm>
            <a:off x="857250" y="8213750"/>
            <a:ext cx="8286750" cy="14288"/>
            <a:chOff x="0" y="0"/>
            <a:chExt cx="11049000" cy="19050"/>
          </a:xfrm>
        </p:grpSpPr>
        <p:sp>
          <p:nvSpPr>
            <p:cNvPr id="44" name="Freeform 44"/>
            <p:cNvSpPr/>
            <p:nvPr/>
          </p:nvSpPr>
          <p:spPr>
            <a:xfrm>
              <a:off x="0" y="0"/>
              <a:ext cx="11049000" cy="19050"/>
            </a:xfrm>
            <a:custGeom>
              <a:avLst/>
              <a:gdLst/>
              <a:ahLst/>
              <a:cxnLst/>
              <a:rect l="l" t="t" r="r" b="b"/>
              <a:pathLst>
                <a:path w="11049000" h="19050">
                  <a:moveTo>
                    <a:pt x="0" y="0"/>
                  </a:moveTo>
                  <a:lnTo>
                    <a:pt x="11049000" y="0"/>
                  </a:lnTo>
                  <a:lnTo>
                    <a:pt x="11049000" y="19050"/>
                  </a:lnTo>
                  <a:lnTo>
                    <a:pt x="0" y="19050"/>
                  </a:lnTo>
                  <a:close/>
                </a:path>
              </a:pathLst>
            </a:custGeom>
            <a:solidFill>
              <a:srgbClr val="E2E8F0"/>
            </a:solidFill>
          </p:spPr>
          <p:txBody>
            <a:bodyPr/>
            <a:lstStyle/>
            <a:p>
              <a:endParaRPr lang="vi-VN"/>
            </a:p>
          </p:txBody>
        </p:sp>
      </p:grpSp>
      <p:grpSp>
        <p:nvGrpSpPr>
          <p:cNvPr id="45" name="Group 45"/>
          <p:cNvGrpSpPr/>
          <p:nvPr/>
        </p:nvGrpSpPr>
        <p:grpSpPr>
          <a:xfrm>
            <a:off x="9144000" y="8213750"/>
            <a:ext cx="4143375" cy="14288"/>
            <a:chOff x="0" y="0"/>
            <a:chExt cx="5524500" cy="19050"/>
          </a:xfrm>
        </p:grpSpPr>
        <p:sp>
          <p:nvSpPr>
            <p:cNvPr id="46" name="Freeform 46"/>
            <p:cNvSpPr/>
            <p:nvPr/>
          </p:nvSpPr>
          <p:spPr>
            <a:xfrm>
              <a:off x="0" y="0"/>
              <a:ext cx="5524500" cy="19050"/>
            </a:xfrm>
            <a:custGeom>
              <a:avLst/>
              <a:gdLst/>
              <a:ahLst/>
              <a:cxnLst/>
              <a:rect l="l" t="t" r="r" b="b"/>
              <a:pathLst>
                <a:path w="5524500" h="19050">
                  <a:moveTo>
                    <a:pt x="0" y="0"/>
                  </a:moveTo>
                  <a:lnTo>
                    <a:pt x="5524500" y="0"/>
                  </a:lnTo>
                  <a:lnTo>
                    <a:pt x="5524500" y="19050"/>
                  </a:lnTo>
                  <a:lnTo>
                    <a:pt x="0" y="19050"/>
                  </a:lnTo>
                  <a:close/>
                </a:path>
              </a:pathLst>
            </a:custGeom>
            <a:solidFill>
              <a:srgbClr val="E2E8F0"/>
            </a:solidFill>
          </p:spPr>
          <p:txBody>
            <a:bodyPr/>
            <a:lstStyle/>
            <a:p>
              <a:endParaRPr lang="vi-VN"/>
            </a:p>
          </p:txBody>
        </p:sp>
      </p:grpSp>
      <p:grpSp>
        <p:nvGrpSpPr>
          <p:cNvPr id="47" name="Group 47"/>
          <p:cNvGrpSpPr/>
          <p:nvPr/>
        </p:nvGrpSpPr>
        <p:grpSpPr>
          <a:xfrm>
            <a:off x="13287375" y="8213750"/>
            <a:ext cx="4143375" cy="14288"/>
            <a:chOff x="0" y="0"/>
            <a:chExt cx="5524500" cy="19050"/>
          </a:xfrm>
        </p:grpSpPr>
        <p:sp>
          <p:nvSpPr>
            <p:cNvPr id="48" name="Freeform 48"/>
            <p:cNvSpPr/>
            <p:nvPr/>
          </p:nvSpPr>
          <p:spPr>
            <a:xfrm>
              <a:off x="0" y="0"/>
              <a:ext cx="5524500" cy="19050"/>
            </a:xfrm>
            <a:custGeom>
              <a:avLst/>
              <a:gdLst/>
              <a:ahLst/>
              <a:cxnLst/>
              <a:rect l="l" t="t" r="r" b="b"/>
              <a:pathLst>
                <a:path w="5524500" h="19050">
                  <a:moveTo>
                    <a:pt x="0" y="0"/>
                  </a:moveTo>
                  <a:lnTo>
                    <a:pt x="5524500" y="0"/>
                  </a:lnTo>
                  <a:lnTo>
                    <a:pt x="5524500" y="19050"/>
                  </a:lnTo>
                  <a:lnTo>
                    <a:pt x="0" y="19050"/>
                  </a:lnTo>
                  <a:close/>
                </a:path>
              </a:pathLst>
            </a:custGeom>
            <a:solidFill>
              <a:srgbClr val="E2E8F0"/>
            </a:solidFill>
          </p:spPr>
          <p:txBody>
            <a:bodyPr/>
            <a:lstStyle/>
            <a:p>
              <a:endParaRPr lang="vi-VN"/>
            </a:p>
          </p:txBody>
        </p:sp>
      </p:grpSp>
      <p:sp>
        <p:nvSpPr>
          <p:cNvPr id="49" name="TextBox 49"/>
          <p:cNvSpPr txBox="1"/>
          <p:nvPr/>
        </p:nvSpPr>
        <p:spPr>
          <a:xfrm>
            <a:off x="857250" y="95993"/>
            <a:ext cx="17402175" cy="700088"/>
          </a:xfrm>
          <a:prstGeom prst="rect">
            <a:avLst/>
          </a:prstGeom>
        </p:spPr>
        <p:txBody>
          <a:bodyPr lIns="0" tIns="0" rIns="0" bIns="0" rtlCol="0" anchor="t">
            <a:spAutoFit/>
          </a:bodyPr>
          <a:lstStyle/>
          <a:p>
            <a:pPr algn="l">
              <a:lnSpc>
                <a:spcPts val="5130"/>
              </a:lnSpc>
            </a:pPr>
            <a:r>
              <a:rPr lang="en-US" sz="4275" b="1">
                <a:solidFill>
                  <a:srgbClr val="164673"/>
                </a:solidFill>
                <a:latin typeface="Montserrat Bold"/>
                <a:ea typeface="Montserrat Bold"/>
                <a:cs typeface="Montserrat Bold"/>
                <a:sym typeface="Montserrat Bold"/>
              </a:rPr>
              <a:t>KẾT QUẢ PHÁT HIỆN BẤT THƯỜNG</a:t>
            </a:r>
          </a:p>
        </p:txBody>
      </p:sp>
      <p:grpSp>
        <p:nvGrpSpPr>
          <p:cNvPr id="50" name="Group 50"/>
          <p:cNvGrpSpPr/>
          <p:nvPr/>
        </p:nvGrpSpPr>
        <p:grpSpPr>
          <a:xfrm>
            <a:off x="857250" y="796080"/>
            <a:ext cx="16573500" cy="28575"/>
            <a:chOff x="0" y="0"/>
            <a:chExt cx="22098000" cy="38100"/>
          </a:xfrm>
        </p:grpSpPr>
        <p:sp>
          <p:nvSpPr>
            <p:cNvPr id="51" name="Freeform 51"/>
            <p:cNvSpPr/>
            <p:nvPr/>
          </p:nvSpPr>
          <p:spPr>
            <a:xfrm>
              <a:off x="0" y="0"/>
              <a:ext cx="22098000" cy="38100"/>
            </a:xfrm>
            <a:custGeom>
              <a:avLst/>
              <a:gdLst/>
              <a:ahLst/>
              <a:cxnLst/>
              <a:rect l="l" t="t" r="r" b="b"/>
              <a:pathLst>
                <a:path w="22098000" h="38100">
                  <a:moveTo>
                    <a:pt x="0" y="0"/>
                  </a:moveTo>
                  <a:lnTo>
                    <a:pt x="22098000" y="0"/>
                  </a:lnTo>
                  <a:lnTo>
                    <a:pt x="22098000" y="38100"/>
                  </a:lnTo>
                  <a:lnTo>
                    <a:pt x="0" y="38100"/>
                  </a:lnTo>
                  <a:close/>
                </a:path>
              </a:pathLst>
            </a:custGeom>
            <a:solidFill>
              <a:srgbClr val="48A6D8"/>
            </a:solidFill>
          </p:spPr>
          <p:txBody>
            <a:bodyPr/>
            <a:lstStyle/>
            <a:p>
              <a:endParaRPr lang="vi-VN"/>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sp>
        <p:nvSpPr>
          <p:cNvPr id="4" name="TextBox 4"/>
          <p:cNvSpPr txBox="1"/>
          <p:nvPr/>
        </p:nvSpPr>
        <p:spPr>
          <a:xfrm>
            <a:off x="857250" y="1985963"/>
            <a:ext cx="11930062" cy="554307"/>
          </a:xfrm>
          <a:prstGeom prst="rect">
            <a:avLst/>
          </a:prstGeom>
        </p:spPr>
        <p:txBody>
          <a:bodyPr lIns="0" tIns="0" rIns="0" bIns="0" rtlCol="0" anchor="t">
            <a:spAutoFit/>
          </a:bodyPr>
          <a:lstStyle/>
          <a:p>
            <a:pPr algn="l">
              <a:lnSpc>
                <a:spcPts val="3887"/>
              </a:lnSpc>
            </a:pPr>
            <a:r>
              <a:rPr lang="en-US" sz="2025">
                <a:solidFill>
                  <a:srgbClr val="475569"/>
                </a:solidFill>
                <a:latin typeface="Open Sans"/>
                <a:ea typeface="Open Sans"/>
                <a:cs typeface="Open Sans"/>
                <a:sym typeface="Open Sans"/>
              </a:rPr>
              <a:t>Bài báo gốc không đề cập framework đánh giá định lượng. Nhóm đã xây dựng 6 kiểm định độc lập:</a:t>
            </a:r>
          </a:p>
        </p:txBody>
      </p:sp>
      <p:graphicFrame>
        <p:nvGraphicFramePr>
          <p:cNvPr id="5" name="Table 5"/>
          <p:cNvGraphicFramePr>
            <a:graphicFrameLocks noGrp="1"/>
          </p:cNvGraphicFramePr>
          <p:nvPr/>
        </p:nvGraphicFramePr>
        <p:xfrm>
          <a:off x="857250" y="2754585"/>
          <a:ext cx="16554450" cy="5067300"/>
        </p:xfrm>
        <a:graphic>
          <a:graphicData uri="http://schemas.openxmlformats.org/drawingml/2006/table">
            <a:tbl>
              <a:tblPr/>
              <a:tblGrid>
                <a:gridCol w="4145711">
                  <a:extLst>
                    <a:ext uri="{9D8B030D-6E8A-4147-A177-3AD203B41FA5}">
                      <a16:colId xmlns:a16="http://schemas.microsoft.com/office/drawing/2014/main" val="20000"/>
                    </a:ext>
                  </a:extLst>
                </a:gridCol>
                <a:gridCol w="7439564">
                  <a:extLst>
                    <a:ext uri="{9D8B030D-6E8A-4147-A177-3AD203B41FA5}">
                      <a16:colId xmlns:a16="http://schemas.microsoft.com/office/drawing/2014/main" val="20001"/>
                    </a:ext>
                  </a:extLst>
                </a:gridCol>
                <a:gridCol w="4969175">
                  <a:extLst>
                    <a:ext uri="{9D8B030D-6E8A-4147-A177-3AD203B41FA5}">
                      <a16:colId xmlns:a16="http://schemas.microsoft.com/office/drawing/2014/main" val="20002"/>
                    </a:ext>
                  </a:extLst>
                </a:gridCol>
              </a:tblGrid>
              <a:tr h="723900">
                <a:tc>
                  <a:txBody>
                    <a:bodyPr/>
                    <a:lstStyle/>
                    <a:p>
                      <a:pPr algn="ctr">
                        <a:lnSpc>
                          <a:spcPts val="2160"/>
                        </a:lnSpc>
                        <a:defRPr/>
                      </a:pPr>
                      <a:r>
                        <a:rPr lang="en-US" sz="1800" b="1">
                          <a:solidFill>
                            <a:srgbClr val="FFFFFF"/>
                          </a:solidFill>
                          <a:latin typeface="Montserrat Bold"/>
                          <a:ea typeface="Montserrat Bold"/>
                          <a:cs typeface="Montserrat Bold"/>
                          <a:sym typeface="Montserrat Bold"/>
                        </a:rPr>
                        <a:t>Kiểm định</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tc>
                  <a:txBody>
                    <a:bodyPr/>
                    <a:lstStyle/>
                    <a:p>
                      <a:pPr algn="ctr">
                        <a:lnSpc>
                          <a:spcPts val="2160"/>
                        </a:lnSpc>
                        <a:defRPr/>
                      </a:pPr>
                      <a:r>
                        <a:rPr lang="en-US" sz="1800" b="1">
                          <a:solidFill>
                            <a:srgbClr val="FFFFFF"/>
                          </a:solidFill>
                          <a:latin typeface="Montserrat Bold"/>
                          <a:ea typeface="Montserrat Bold"/>
                          <a:cs typeface="Montserrat Bold"/>
                          <a:sym typeface="Montserrat Bold"/>
                        </a:rPr>
                        <a:t>Phương pháp &amp; Kết quả</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tc>
                  <a:txBody>
                    <a:bodyPr/>
                    <a:lstStyle/>
                    <a:p>
                      <a:pPr algn="ctr">
                        <a:lnSpc>
                          <a:spcPts val="2160"/>
                        </a:lnSpc>
                        <a:defRPr/>
                      </a:pPr>
                      <a:r>
                        <a:rPr lang="en-US" sz="1800" b="1">
                          <a:solidFill>
                            <a:srgbClr val="FFFFFF"/>
                          </a:solidFill>
                          <a:latin typeface="Montserrat Bold"/>
                          <a:ea typeface="Montserrat Bold"/>
                          <a:cs typeface="Montserrat Bold"/>
                          <a:sym typeface="Montserrat Bold"/>
                        </a:rPr>
                        <a:t>Đánh giá</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extLst>
                  <a:ext uri="{0D108BD9-81ED-4DB2-BD59-A6C34878D82A}">
                    <a16:rowId xmlns:a16="http://schemas.microsoft.com/office/drawing/2014/main" val="10000"/>
                  </a:ext>
                </a:extLst>
              </a:tr>
              <a:tr h="723900">
                <a:tc>
                  <a:txBody>
                    <a:bodyPr/>
                    <a:lstStyle/>
                    <a:p>
                      <a:pPr algn="ctr">
                        <a:lnSpc>
                          <a:spcPts val="2160"/>
                        </a:lnSpc>
                        <a:defRPr/>
                      </a:pPr>
                      <a:r>
                        <a:rPr lang="en-US" sz="1800" b="1">
                          <a:solidFill>
                            <a:srgbClr val="475569"/>
                          </a:solidFill>
                          <a:latin typeface="Open Sans Bold"/>
                          <a:ea typeface="Open Sans Bold"/>
                          <a:cs typeface="Open Sans Bold"/>
                          <a:sym typeface="Open Sans Bold"/>
                        </a:rPr>
                        <a:t>1. Score Separation</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a:solidFill>
                            <a:srgbClr val="475569"/>
                          </a:solidFill>
                          <a:latin typeface="Open Sans"/>
                          <a:ea typeface="Open Sans"/>
                          <a:cs typeface="Open Sans"/>
                          <a:sym typeface="Open Sans"/>
                        </a:rPr>
                        <a:t>Cohen's d giữa normal vs anomaly score = </a:t>
                      </a:r>
                      <a:r>
                        <a:rPr lang="en-US" sz="1800" b="1">
                          <a:solidFill>
                            <a:srgbClr val="475569"/>
                          </a:solidFill>
                          <a:latin typeface="Open Sans Bold"/>
                          <a:ea typeface="Open Sans Bold"/>
                          <a:cs typeface="Open Sans Bold"/>
                          <a:sym typeface="Open Sans Bold"/>
                        </a:rPr>
                        <a:t>2,65</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b="1">
                          <a:solidFill>
                            <a:srgbClr val="10B981"/>
                          </a:solidFill>
                          <a:latin typeface="Open Sans Bold"/>
                          <a:ea typeface="Open Sans Bold"/>
                          <a:cs typeface="Open Sans Bold"/>
                          <a:sym typeface="Open Sans Bold"/>
                        </a:rPr>
                        <a:t>EXCELLENT (≥1.5) </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1"/>
                  </a:ext>
                </a:extLst>
              </a:tr>
              <a:tr h="723900">
                <a:tc>
                  <a:txBody>
                    <a:bodyPr/>
                    <a:lstStyle/>
                    <a:p>
                      <a:pPr algn="ctr">
                        <a:lnSpc>
                          <a:spcPts val="2160"/>
                        </a:lnSpc>
                        <a:defRPr/>
                      </a:pPr>
                      <a:r>
                        <a:rPr lang="en-US" sz="1800" b="1">
                          <a:solidFill>
                            <a:srgbClr val="475569"/>
                          </a:solidFill>
                          <a:latin typeface="Open Sans Bold"/>
                          <a:ea typeface="Open Sans Bold"/>
                          <a:cs typeface="Open Sans Bold"/>
                          <a:sym typeface="Open Sans Bold"/>
                        </a:rPr>
                        <a:t>2. Rate Stability</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a:solidFill>
                            <a:srgbClr val="475569"/>
                          </a:solidFill>
                          <a:latin typeface="Open Sans"/>
                          <a:ea typeface="Open Sans"/>
                          <a:cs typeface="Open Sans"/>
                          <a:sym typeface="Open Sans"/>
                        </a:rPr>
                        <a:t>CV = std/mean qua các batch = </a:t>
                      </a:r>
                      <a:r>
                        <a:rPr lang="en-US" sz="1800" b="1">
                          <a:solidFill>
                            <a:srgbClr val="475569"/>
                          </a:solidFill>
                          <a:latin typeface="Open Sans Bold"/>
                          <a:ea typeface="Open Sans Bold"/>
                          <a:cs typeface="Open Sans Bold"/>
                          <a:sym typeface="Open Sans Bold"/>
                        </a:rPr>
                        <a:t>1,24</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b="1">
                          <a:solidFill>
                            <a:srgbClr val="FF751F"/>
                          </a:solidFill>
                          <a:latin typeface="Open Sans Bold"/>
                          <a:ea typeface="Open Sans Bold"/>
                          <a:cs typeface="Open Sans Bold"/>
                          <a:sym typeface="Open Sans Bold"/>
                        </a:rPr>
                        <a:t>UNSTABLE </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723900">
                <a:tc>
                  <a:txBody>
                    <a:bodyPr/>
                    <a:lstStyle/>
                    <a:p>
                      <a:pPr algn="ctr">
                        <a:lnSpc>
                          <a:spcPts val="2160"/>
                        </a:lnSpc>
                        <a:defRPr/>
                      </a:pPr>
                      <a:r>
                        <a:rPr lang="en-US" sz="1800" b="1">
                          <a:solidFill>
                            <a:srgbClr val="475569"/>
                          </a:solidFill>
                          <a:latin typeface="Open Sans Bold"/>
                          <a:ea typeface="Open Sans Bold"/>
                          <a:cs typeface="Open Sans Bold"/>
                          <a:sym typeface="Open Sans Bold"/>
                        </a:rPr>
                        <a:t>3. Reason Coverage</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a:solidFill>
                            <a:srgbClr val="475569"/>
                          </a:solidFill>
                          <a:latin typeface="Open Sans"/>
                          <a:ea typeface="Open Sans"/>
                          <a:cs typeface="Open Sans"/>
                          <a:sym typeface="Open Sans"/>
                        </a:rPr>
                        <a:t>Số nhãn lý do phân biệt phát hiện được = </a:t>
                      </a:r>
                      <a:r>
                        <a:rPr lang="en-US" sz="1800" b="1">
                          <a:solidFill>
                            <a:srgbClr val="475569"/>
                          </a:solidFill>
                          <a:latin typeface="Open Sans Bold"/>
                          <a:ea typeface="Open Sans Bold"/>
                          <a:cs typeface="Open Sans Bold"/>
                          <a:sym typeface="Open Sans Bold"/>
                        </a:rPr>
                        <a:t>8 loại</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b="1">
                          <a:solidFill>
                            <a:srgbClr val="10B981"/>
                          </a:solidFill>
                          <a:latin typeface="Open Sans Bold"/>
                          <a:ea typeface="Open Sans Bold"/>
                          <a:cs typeface="Open Sans Bold"/>
                          <a:sym typeface="Open Sans Bold"/>
                        </a:rPr>
                        <a:t>DIVERSE </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3"/>
                  </a:ext>
                </a:extLst>
              </a:tr>
              <a:tr h="723900">
                <a:tc>
                  <a:txBody>
                    <a:bodyPr/>
                    <a:lstStyle/>
                    <a:p>
                      <a:pPr algn="ctr">
                        <a:lnSpc>
                          <a:spcPts val="2160"/>
                        </a:lnSpc>
                        <a:defRPr/>
                      </a:pPr>
                      <a:r>
                        <a:rPr lang="en-US" sz="1800" b="1">
                          <a:solidFill>
                            <a:srgbClr val="475569"/>
                          </a:solidFill>
                          <a:latin typeface="Open Sans Bold"/>
                          <a:ea typeface="Open Sans Bold"/>
                          <a:cs typeface="Open Sans Bold"/>
                          <a:sym typeface="Open Sans Bold"/>
                        </a:rPr>
                        <a:t>4. Feature Sensitivity</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a:solidFill>
                            <a:srgbClr val="475569"/>
                          </a:solidFill>
                          <a:latin typeface="Open Sans"/>
                          <a:ea typeface="Open Sans"/>
                          <a:cs typeface="Open Sans"/>
                          <a:sym typeface="Open Sans"/>
                        </a:rPr>
                        <a:t>Top feature importance: </a:t>
                      </a:r>
                      <a:r>
                        <a:rPr lang="en-US" sz="1800" b="1">
                          <a:solidFill>
                            <a:srgbClr val="475569"/>
                          </a:solidFill>
                          <a:latin typeface="Open Sans Bold"/>
                          <a:ea typeface="Open Sans Bold"/>
                          <a:cs typeface="Open Sans Bold"/>
                          <a:sym typeface="Open Sans Bold"/>
                        </a:rPr>
                        <a:t>hour_sin</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a:solidFill>
                            <a:srgbClr val="475569"/>
                          </a:solidFill>
                          <a:latin typeface="Open Sans"/>
                          <a:ea typeface="Open Sans"/>
                          <a:cs typeface="Open Sans"/>
                          <a:sym typeface="Open Sans"/>
                        </a:rPr>
                        <a:t>Mã hóa tuần hoàn hiệu quả</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723900">
                <a:tc>
                  <a:txBody>
                    <a:bodyPr/>
                    <a:lstStyle/>
                    <a:p>
                      <a:pPr algn="ctr">
                        <a:lnSpc>
                          <a:spcPts val="2160"/>
                        </a:lnSpc>
                        <a:defRPr/>
                      </a:pPr>
                      <a:r>
                        <a:rPr lang="en-US" sz="1800" b="1">
                          <a:solidFill>
                            <a:srgbClr val="475569"/>
                          </a:solidFill>
                          <a:latin typeface="Open Sans Bold"/>
                          <a:ea typeface="Open Sans Bold"/>
                          <a:cs typeface="Open Sans Bold"/>
                          <a:sym typeface="Open Sans Bold"/>
                        </a:rPr>
                        <a:t>5. Rule Overlap</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a:solidFill>
                            <a:srgbClr val="475569"/>
                          </a:solidFill>
                          <a:latin typeface="Open Sans"/>
                          <a:ea typeface="Open Sans"/>
                          <a:cs typeface="Open Sans"/>
                          <a:sym typeface="Open Sans"/>
                        </a:rPr>
                        <a:t>% ML anomaly trùng luật cứng = </a:t>
                      </a:r>
                      <a:r>
                        <a:rPr lang="en-US" sz="1800" b="1">
                          <a:solidFill>
                            <a:srgbClr val="475569"/>
                          </a:solidFill>
                          <a:latin typeface="Open Sans Bold"/>
                          <a:ea typeface="Open Sans Bold"/>
                          <a:cs typeface="Open Sans Bold"/>
                          <a:sym typeface="Open Sans Bold"/>
                        </a:rPr>
                        <a:t>33,1%</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a:solidFill>
                            <a:srgbClr val="475569"/>
                          </a:solidFill>
                          <a:latin typeface="Open Sans"/>
                          <a:ea typeface="Open Sans"/>
                          <a:cs typeface="Open Sans"/>
                          <a:sym typeface="Open Sans"/>
                        </a:rPr>
                        <a:t>Gần ngưỡng HIGH (40%)</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5"/>
                  </a:ext>
                </a:extLst>
              </a:tr>
              <a:tr h="723900">
                <a:tc>
                  <a:txBody>
                    <a:bodyPr/>
                    <a:lstStyle/>
                    <a:p>
                      <a:pPr algn="ctr">
                        <a:lnSpc>
                          <a:spcPts val="2160"/>
                        </a:lnSpc>
                        <a:defRPr/>
                      </a:pPr>
                      <a:r>
                        <a:rPr lang="en-US" sz="1800" b="1">
                          <a:solidFill>
                            <a:srgbClr val="475569"/>
                          </a:solidFill>
                          <a:latin typeface="Open Sans Bold"/>
                          <a:ea typeface="Open Sans Bold"/>
                          <a:cs typeface="Open Sans Bold"/>
                          <a:sym typeface="Open Sans Bold"/>
                        </a:rPr>
                        <a:t>6. Score Bimodality</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a:solidFill>
                            <a:srgbClr val="475569"/>
                          </a:solidFill>
                          <a:latin typeface="Open Sans"/>
                          <a:ea typeface="Open Sans"/>
                          <a:cs typeface="Open Sans"/>
                          <a:sym typeface="Open Sans"/>
                        </a:rPr>
                        <a:t>Gap giữa 2 đỉnh histogram = </a:t>
                      </a:r>
                      <a:r>
                        <a:rPr lang="en-US" sz="1800" b="1">
                          <a:solidFill>
                            <a:srgbClr val="475569"/>
                          </a:solidFill>
                          <a:latin typeface="Open Sans Bold"/>
                          <a:ea typeface="Open Sans Bold"/>
                          <a:cs typeface="Open Sans Bold"/>
                          <a:sym typeface="Open Sans Bold"/>
                        </a:rPr>
                        <a:t>&gt; 0,05</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b="1">
                          <a:solidFill>
                            <a:srgbClr val="10B981"/>
                          </a:solidFill>
                          <a:latin typeface="Open Sans Bold"/>
                          <a:ea typeface="Open Sans Bold"/>
                          <a:cs typeface="Open Sans Bold"/>
                          <a:sym typeface="Open Sans Bold"/>
                        </a:rPr>
                        <a:t>Bimodal rõ ràng </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bl>
          </a:graphicData>
        </a:graphic>
      </p:graphicFrame>
      <p:grpSp>
        <p:nvGrpSpPr>
          <p:cNvPr id="6" name="Group 6"/>
          <p:cNvGrpSpPr/>
          <p:nvPr/>
        </p:nvGrpSpPr>
        <p:grpSpPr>
          <a:xfrm>
            <a:off x="857250" y="4137574"/>
            <a:ext cx="4143375" cy="14288"/>
            <a:chOff x="0" y="0"/>
            <a:chExt cx="5524500" cy="19050"/>
          </a:xfrm>
        </p:grpSpPr>
        <p:sp>
          <p:nvSpPr>
            <p:cNvPr id="7" name="Freeform 7"/>
            <p:cNvSpPr/>
            <p:nvPr/>
          </p:nvSpPr>
          <p:spPr>
            <a:xfrm>
              <a:off x="0" y="0"/>
              <a:ext cx="5524500" cy="19050"/>
            </a:xfrm>
            <a:custGeom>
              <a:avLst/>
              <a:gdLst/>
              <a:ahLst/>
              <a:cxnLst/>
              <a:rect l="l" t="t" r="r" b="b"/>
              <a:pathLst>
                <a:path w="5524500" h="19050">
                  <a:moveTo>
                    <a:pt x="0" y="0"/>
                  </a:moveTo>
                  <a:lnTo>
                    <a:pt x="5524500" y="0"/>
                  </a:lnTo>
                  <a:lnTo>
                    <a:pt x="5524500" y="19050"/>
                  </a:lnTo>
                  <a:lnTo>
                    <a:pt x="0" y="19050"/>
                  </a:lnTo>
                  <a:close/>
                </a:path>
              </a:pathLst>
            </a:custGeom>
            <a:solidFill>
              <a:srgbClr val="E2E8F0"/>
            </a:solidFill>
          </p:spPr>
          <p:txBody>
            <a:bodyPr/>
            <a:lstStyle/>
            <a:p>
              <a:endParaRPr lang="vi-VN"/>
            </a:p>
          </p:txBody>
        </p:sp>
      </p:grpSp>
      <p:grpSp>
        <p:nvGrpSpPr>
          <p:cNvPr id="8" name="Group 8"/>
          <p:cNvGrpSpPr/>
          <p:nvPr/>
        </p:nvGrpSpPr>
        <p:grpSpPr>
          <a:xfrm>
            <a:off x="5000625" y="4137574"/>
            <a:ext cx="7458075" cy="14288"/>
            <a:chOff x="0" y="0"/>
            <a:chExt cx="9944100" cy="19050"/>
          </a:xfrm>
        </p:grpSpPr>
        <p:sp>
          <p:nvSpPr>
            <p:cNvPr id="9" name="Freeform 9"/>
            <p:cNvSpPr/>
            <p:nvPr/>
          </p:nvSpPr>
          <p:spPr>
            <a:xfrm>
              <a:off x="0" y="0"/>
              <a:ext cx="9944100" cy="19050"/>
            </a:xfrm>
            <a:custGeom>
              <a:avLst/>
              <a:gdLst/>
              <a:ahLst/>
              <a:cxnLst/>
              <a:rect l="l" t="t" r="r" b="b"/>
              <a:pathLst>
                <a:path w="9944100" h="19050">
                  <a:moveTo>
                    <a:pt x="0" y="0"/>
                  </a:moveTo>
                  <a:lnTo>
                    <a:pt x="9944100" y="0"/>
                  </a:lnTo>
                  <a:lnTo>
                    <a:pt x="9944100" y="19050"/>
                  </a:lnTo>
                  <a:lnTo>
                    <a:pt x="0" y="19050"/>
                  </a:lnTo>
                  <a:close/>
                </a:path>
              </a:pathLst>
            </a:custGeom>
            <a:solidFill>
              <a:srgbClr val="E2E8F0"/>
            </a:solidFill>
          </p:spPr>
          <p:txBody>
            <a:bodyPr/>
            <a:lstStyle/>
            <a:p>
              <a:endParaRPr lang="vi-VN"/>
            </a:p>
          </p:txBody>
        </p:sp>
      </p:grpSp>
      <p:grpSp>
        <p:nvGrpSpPr>
          <p:cNvPr id="10" name="Group 10"/>
          <p:cNvGrpSpPr/>
          <p:nvPr/>
        </p:nvGrpSpPr>
        <p:grpSpPr>
          <a:xfrm>
            <a:off x="12458700" y="4137574"/>
            <a:ext cx="4972050" cy="14288"/>
            <a:chOff x="0" y="0"/>
            <a:chExt cx="6629400" cy="19050"/>
          </a:xfrm>
        </p:grpSpPr>
        <p:sp>
          <p:nvSpPr>
            <p:cNvPr id="11" name="Freeform 11"/>
            <p:cNvSpPr/>
            <p:nvPr/>
          </p:nvSpPr>
          <p:spPr>
            <a:xfrm>
              <a:off x="0" y="0"/>
              <a:ext cx="6629400" cy="19050"/>
            </a:xfrm>
            <a:custGeom>
              <a:avLst/>
              <a:gdLst/>
              <a:ahLst/>
              <a:cxnLst/>
              <a:rect l="l" t="t" r="r" b="b"/>
              <a:pathLst>
                <a:path w="6629400" h="19050">
                  <a:moveTo>
                    <a:pt x="0" y="0"/>
                  </a:moveTo>
                  <a:lnTo>
                    <a:pt x="6629400" y="0"/>
                  </a:lnTo>
                  <a:lnTo>
                    <a:pt x="6629400" y="19050"/>
                  </a:lnTo>
                  <a:lnTo>
                    <a:pt x="0" y="19050"/>
                  </a:lnTo>
                  <a:close/>
                </a:path>
              </a:pathLst>
            </a:custGeom>
            <a:solidFill>
              <a:srgbClr val="E2E8F0"/>
            </a:solidFill>
          </p:spPr>
          <p:txBody>
            <a:bodyPr/>
            <a:lstStyle/>
            <a:p>
              <a:endParaRPr lang="vi-VN"/>
            </a:p>
          </p:txBody>
        </p:sp>
      </p:grpSp>
      <p:grpSp>
        <p:nvGrpSpPr>
          <p:cNvPr id="12" name="Group 12"/>
          <p:cNvGrpSpPr/>
          <p:nvPr/>
        </p:nvGrpSpPr>
        <p:grpSpPr>
          <a:xfrm>
            <a:off x="857250" y="4906194"/>
            <a:ext cx="4143375" cy="14288"/>
            <a:chOff x="0" y="0"/>
            <a:chExt cx="5524500" cy="19050"/>
          </a:xfrm>
        </p:grpSpPr>
        <p:sp>
          <p:nvSpPr>
            <p:cNvPr id="13" name="Freeform 13"/>
            <p:cNvSpPr/>
            <p:nvPr/>
          </p:nvSpPr>
          <p:spPr>
            <a:xfrm>
              <a:off x="0" y="0"/>
              <a:ext cx="5524500" cy="19050"/>
            </a:xfrm>
            <a:custGeom>
              <a:avLst/>
              <a:gdLst/>
              <a:ahLst/>
              <a:cxnLst/>
              <a:rect l="l" t="t" r="r" b="b"/>
              <a:pathLst>
                <a:path w="5524500" h="19050">
                  <a:moveTo>
                    <a:pt x="0" y="0"/>
                  </a:moveTo>
                  <a:lnTo>
                    <a:pt x="5524500" y="0"/>
                  </a:lnTo>
                  <a:lnTo>
                    <a:pt x="5524500" y="19050"/>
                  </a:lnTo>
                  <a:lnTo>
                    <a:pt x="0" y="19050"/>
                  </a:lnTo>
                  <a:close/>
                </a:path>
              </a:pathLst>
            </a:custGeom>
            <a:solidFill>
              <a:srgbClr val="E2E8F0"/>
            </a:solidFill>
          </p:spPr>
          <p:txBody>
            <a:bodyPr/>
            <a:lstStyle/>
            <a:p>
              <a:endParaRPr lang="vi-VN"/>
            </a:p>
          </p:txBody>
        </p:sp>
      </p:grpSp>
      <p:grpSp>
        <p:nvGrpSpPr>
          <p:cNvPr id="14" name="Group 14"/>
          <p:cNvGrpSpPr/>
          <p:nvPr/>
        </p:nvGrpSpPr>
        <p:grpSpPr>
          <a:xfrm>
            <a:off x="5000625" y="4906194"/>
            <a:ext cx="7458075" cy="14288"/>
            <a:chOff x="0" y="0"/>
            <a:chExt cx="9944100" cy="19050"/>
          </a:xfrm>
        </p:grpSpPr>
        <p:sp>
          <p:nvSpPr>
            <p:cNvPr id="15" name="Freeform 15"/>
            <p:cNvSpPr/>
            <p:nvPr/>
          </p:nvSpPr>
          <p:spPr>
            <a:xfrm>
              <a:off x="0" y="0"/>
              <a:ext cx="9944100" cy="19050"/>
            </a:xfrm>
            <a:custGeom>
              <a:avLst/>
              <a:gdLst/>
              <a:ahLst/>
              <a:cxnLst/>
              <a:rect l="l" t="t" r="r" b="b"/>
              <a:pathLst>
                <a:path w="9944100" h="19050">
                  <a:moveTo>
                    <a:pt x="0" y="0"/>
                  </a:moveTo>
                  <a:lnTo>
                    <a:pt x="9944100" y="0"/>
                  </a:lnTo>
                  <a:lnTo>
                    <a:pt x="9944100" y="19050"/>
                  </a:lnTo>
                  <a:lnTo>
                    <a:pt x="0" y="19050"/>
                  </a:lnTo>
                  <a:close/>
                </a:path>
              </a:pathLst>
            </a:custGeom>
            <a:solidFill>
              <a:srgbClr val="E2E8F0"/>
            </a:solidFill>
          </p:spPr>
          <p:txBody>
            <a:bodyPr/>
            <a:lstStyle/>
            <a:p>
              <a:endParaRPr lang="vi-VN"/>
            </a:p>
          </p:txBody>
        </p:sp>
      </p:grpSp>
      <p:grpSp>
        <p:nvGrpSpPr>
          <p:cNvPr id="16" name="Group 16"/>
          <p:cNvGrpSpPr/>
          <p:nvPr/>
        </p:nvGrpSpPr>
        <p:grpSpPr>
          <a:xfrm>
            <a:off x="12458700" y="4906194"/>
            <a:ext cx="4972050" cy="14288"/>
            <a:chOff x="0" y="0"/>
            <a:chExt cx="6629400" cy="19050"/>
          </a:xfrm>
        </p:grpSpPr>
        <p:sp>
          <p:nvSpPr>
            <p:cNvPr id="17" name="Freeform 17"/>
            <p:cNvSpPr/>
            <p:nvPr/>
          </p:nvSpPr>
          <p:spPr>
            <a:xfrm>
              <a:off x="0" y="0"/>
              <a:ext cx="6629400" cy="19050"/>
            </a:xfrm>
            <a:custGeom>
              <a:avLst/>
              <a:gdLst/>
              <a:ahLst/>
              <a:cxnLst/>
              <a:rect l="l" t="t" r="r" b="b"/>
              <a:pathLst>
                <a:path w="6629400" h="19050">
                  <a:moveTo>
                    <a:pt x="0" y="0"/>
                  </a:moveTo>
                  <a:lnTo>
                    <a:pt x="6629400" y="0"/>
                  </a:lnTo>
                  <a:lnTo>
                    <a:pt x="6629400" y="19050"/>
                  </a:lnTo>
                  <a:lnTo>
                    <a:pt x="0" y="19050"/>
                  </a:lnTo>
                  <a:close/>
                </a:path>
              </a:pathLst>
            </a:custGeom>
            <a:solidFill>
              <a:srgbClr val="E2E8F0"/>
            </a:solidFill>
          </p:spPr>
          <p:txBody>
            <a:bodyPr/>
            <a:lstStyle/>
            <a:p>
              <a:endParaRPr lang="vi-VN"/>
            </a:p>
          </p:txBody>
        </p:sp>
      </p:grpSp>
      <p:grpSp>
        <p:nvGrpSpPr>
          <p:cNvPr id="18" name="Group 18"/>
          <p:cNvGrpSpPr/>
          <p:nvPr/>
        </p:nvGrpSpPr>
        <p:grpSpPr>
          <a:xfrm>
            <a:off x="857250" y="5674814"/>
            <a:ext cx="4143375" cy="14288"/>
            <a:chOff x="0" y="0"/>
            <a:chExt cx="5524500" cy="19050"/>
          </a:xfrm>
        </p:grpSpPr>
        <p:sp>
          <p:nvSpPr>
            <p:cNvPr id="19" name="Freeform 19"/>
            <p:cNvSpPr/>
            <p:nvPr/>
          </p:nvSpPr>
          <p:spPr>
            <a:xfrm>
              <a:off x="0" y="0"/>
              <a:ext cx="5524500" cy="19050"/>
            </a:xfrm>
            <a:custGeom>
              <a:avLst/>
              <a:gdLst/>
              <a:ahLst/>
              <a:cxnLst/>
              <a:rect l="l" t="t" r="r" b="b"/>
              <a:pathLst>
                <a:path w="5524500" h="19050">
                  <a:moveTo>
                    <a:pt x="0" y="0"/>
                  </a:moveTo>
                  <a:lnTo>
                    <a:pt x="5524500" y="0"/>
                  </a:lnTo>
                  <a:lnTo>
                    <a:pt x="5524500" y="19050"/>
                  </a:lnTo>
                  <a:lnTo>
                    <a:pt x="0" y="19050"/>
                  </a:lnTo>
                  <a:close/>
                </a:path>
              </a:pathLst>
            </a:custGeom>
            <a:solidFill>
              <a:srgbClr val="E2E8F0"/>
            </a:solidFill>
          </p:spPr>
          <p:txBody>
            <a:bodyPr/>
            <a:lstStyle/>
            <a:p>
              <a:endParaRPr lang="vi-VN"/>
            </a:p>
          </p:txBody>
        </p:sp>
      </p:grpSp>
      <p:grpSp>
        <p:nvGrpSpPr>
          <p:cNvPr id="20" name="Group 20"/>
          <p:cNvGrpSpPr/>
          <p:nvPr/>
        </p:nvGrpSpPr>
        <p:grpSpPr>
          <a:xfrm>
            <a:off x="5000625" y="5674814"/>
            <a:ext cx="7458075" cy="14288"/>
            <a:chOff x="0" y="0"/>
            <a:chExt cx="9944100" cy="19050"/>
          </a:xfrm>
        </p:grpSpPr>
        <p:sp>
          <p:nvSpPr>
            <p:cNvPr id="21" name="Freeform 21"/>
            <p:cNvSpPr/>
            <p:nvPr/>
          </p:nvSpPr>
          <p:spPr>
            <a:xfrm>
              <a:off x="0" y="0"/>
              <a:ext cx="9944100" cy="19050"/>
            </a:xfrm>
            <a:custGeom>
              <a:avLst/>
              <a:gdLst/>
              <a:ahLst/>
              <a:cxnLst/>
              <a:rect l="l" t="t" r="r" b="b"/>
              <a:pathLst>
                <a:path w="9944100" h="19050">
                  <a:moveTo>
                    <a:pt x="0" y="0"/>
                  </a:moveTo>
                  <a:lnTo>
                    <a:pt x="9944100" y="0"/>
                  </a:lnTo>
                  <a:lnTo>
                    <a:pt x="9944100" y="19050"/>
                  </a:lnTo>
                  <a:lnTo>
                    <a:pt x="0" y="19050"/>
                  </a:lnTo>
                  <a:close/>
                </a:path>
              </a:pathLst>
            </a:custGeom>
            <a:solidFill>
              <a:srgbClr val="E2E8F0"/>
            </a:solidFill>
          </p:spPr>
          <p:txBody>
            <a:bodyPr/>
            <a:lstStyle/>
            <a:p>
              <a:endParaRPr lang="vi-VN"/>
            </a:p>
          </p:txBody>
        </p:sp>
      </p:grpSp>
      <p:grpSp>
        <p:nvGrpSpPr>
          <p:cNvPr id="22" name="Group 22"/>
          <p:cNvGrpSpPr/>
          <p:nvPr/>
        </p:nvGrpSpPr>
        <p:grpSpPr>
          <a:xfrm>
            <a:off x="12458700" y="5674814"/>
            <a:ext cx="4972050" cy="14288"/>
            <a:chOff x="0" y="0"/>
            <a:chExt cx="6629400" cy="19050"/>
          </a:xfrm>
        </p:grpSpPr>
        <p:sp>
          <p:nvSpPr>
            <p:cNvPr id="23" name="Freeform 23"/>
            <p:cNvSpPr/>
            <p:nvPr/>
          </p:nvSpPr>
          <p:spPr>
            <a:xfrm>
              <a:off x="0" y="0"/>
              <a:ext cx="6629400" cy="19050"/>
            </a:xfrm>
            <a:custGeom>
              <a:avLst/>
              <a:gdLst/>
              <a:ahLst/>
              <a:cxnLst/>
              <a:rect l="l" t="t" r="r" b="b"/>
              <a:pathLst>
                <a:path w="6629400" h="19050">
                  <a:moveTo>
                    <a:pt x="0" y="0"/>
                  </a:moveTo>
                  <a:lnTo>
                    <a:pt x="6629400" y="0"/>
                  </a:lnTo>
                  <a:lnTo>
                    <a:pt x="6629400" y="19050"/>
                  </a:lnTo>
                  <a:lnTo>
                    <a:pt x="0" y="19050"/>
                  </a:lnTo>
                  <a:close/>
                </a:path>
              </a:pathLst>
            </a:custGeom>
            <a:solidFill>
              <a:srgbClr val="E2E8F0"/>
            </a:solidFill>
          </p:spPr>
          <p:txBody>
            <a:bodyPr/>
            <a:lstStyle/>
            <a:p>
              <a:endParaRPr lang="vi-VN"/>
            </a:p>
          </p:txBody>
        </p:sp>
      </p:grpSp>
      <p:grpSp>
        <p:nvGrpSpPr>
          <p:cNvPr id="24" name="Group 24"/>
          <p:cNvGrpSpPr/>
          <p:nvPr/>
        </p:nvGrpSpPr>
        <p:grpSpPr>
          <a:xfrm>
            <a:off x="857250" y="6397676"/>
            <a:ext cx="4143375" cy="14288"/>
            <a:chOff x="0" y="0"/>
            <a:chExt cx="5524500" cy="19050"/>
          </a:xfrm>
        </p:grpSpPr>
        <p:sp>
          <p:nvSpPr>
            <p:cNvPr id="25" name="Freeform 25"/>
            <p:cNvSpPr/>
            <p:nvPr/>
          </p:nvSpPr>
          <p:spPr>
            <a:xfrm>
              <a:off x="0" y="0"/>
              <a:ext cx="5524500" cy="19050"/>
            </a:xfrm>
            <a:custGeom>
              <a:avLst/>
              <a:gdLst/>
              <a:ahLst/>
              <a:cxnLst/>
              <a:rect l="l" t="t" r="r" b="b"/>
              <a:pathLst>
                <a:path w="5524500" h="19050">
                  <a:moveTo>
                    <a:pt x="0" y="0"/>
                  </a:moveTo>
                  <a:lnTo>
                    <a:pt x="5524500" y="0"/>
                  </a:lnTo>
                  <a:lnTo>
                    <a:pt x="5524500" y="19050"/>
                  </a:lnTo>
                  <a:lnTo>
                    <a:pt x="0" y="19050"/>
                  </a:lnTo>
                  <a:close/>
                </a:path>
              </a:pathLst>
            </a:custGeom>
            <a:solidFill>
              <a:srgbClr val="E2E8F0"/>
            </a:solidFill>
          </p:spPr>
          <p:txBody>
            <a:bodyPr/>
            <a:lstStyle/>
            <a:p>
              <a:endParaRPr lang="vi-VN"/>
            </a:p>
          </p:txBody>
        </p:sp>
      </p:grpSp>
      <p:grpSp>
        <p:nvGrpSpPr>
          <p:cNvPr id="26" name="Group 26"/>
          <p:cNvGrpSpPr/>
          <p:nvPr/>
        </p:nvGrpSpPr>
        <p:grpSpPr>
          <a:xfrm>
            <a:off x="5000625" y="6397676"/>
            <a:ext cx="7458075" cy="14288"/>
            <a:chOff x="0" y="0"/>
            <a:chExt cx="9944100" cy="19050"/>
          </a:xfrm>
        </p:grpSpPr>
        <p:sp>
          <p:nvSpPr>
            <p:cNvPr id="27" name="Freeform 27"/>
            <p:cNvSpPr/>
            <p:nvPr/>
          </p:nvSpPr>
          <p:spPr>
            <a:xfrm>
              <a:off x="0" y="0"/>
              <a:ext cx="9944100" cy="19050"/>
            </a:xfrm>
            <a:custGeom>
              <a:avLst/>
              <a:gdLst/>
              <a:ahLst/>
              <a:cxnLst/>
              <a:rect l="l" t="t" r="r" b="b"/>
              <a:pathLst>
                <a:path w="9944100" h="19050">
                  <a:moveTo>
                    <a:pt x="0" y="0"/>
                  </a:moveTo>
                  <a:lnTo>
                    <a:pt x="9944100" y="0"/>
                  </a:lnTo>
                  <a:lnTo>
                    <a:pt x="9944100" y="19050"/>
                  </a:lnTo>
                  <a:lnTo>
                    <a:pt x="0" y="19050"/>
                  </a:lnTo>
                  <a:close/>
                </a:path>
              </a:pathLst>
            </a:custGeom>
            <a:solidFill>
              <a:srgbClr val="E2E8F0"/>
            </a:solidFill>
          </p:spPr>
          <p:txBody>
            <a:bodyPr/>
            <a:lstStyle/>
            <a:p>
              <a:endParaRPr lang="vi-VN"/>
            </a:p>
          </p:txBody>
        </p:sp>
      </p:grpSp>
      <p:grpSp>
        <p:nvGrpSpPr>
          <p:cNvPr id="28" name="Group 28"/>
          <p:cNvGrpSpPr/>
          <p:nvPr/>
        </p:nvGrpSpPr>
        <p:grpSpPr>
          <a:xfrm>
            <a:off x="12458700" y="6397676"/>
            <a:ext cx="4972050" cy="14288"/>
            <a:chOff x="0" y="0"/>
            <a:chExt cx="6629400" cy="19050"/>
          </a:xfrm>
        </p:grpSpPr>
        <p:sp>
          <p:nvSpPr>
            <p:cNvPr id="29" name="Freeform 29"/>
            <p:cNvSpPr/>
            <p:nvPr/>
          </p:nvSpPr>
          <p:spPr>
            <a:xfrm>
              <a:off x="0" y="0"/>
              <a:ext cx="6629400" cy="19050"/>
            </a:xfrm>
            <a:custGeom>
              <a:avLst/>
              <a:gdLst/>
              <a:ahLst/>
              <a:cxnLst/>
              <a:rect l="l" t="t" r="r" b="b"/>
              <a:pathLst>
                <a:path w="6629400" h="19050">
                  <a:moveTo>
                    <a:pt x="0" y="0"/>
                  </a:moveTo>
                  <a:lnTo>
                    <a:pt x="6629400" y="0"/>
                  </a:lnTo>
                  <a:lnTo>
                    <a:pt x="6629400" y="19050"/>
                  </a:lnTo>
                  <a:lnTo>
                    <a:pt x="0" y="19050"/>
                  </a:lnTo>
                  <a:close/>
                </a:path>
              </a:pathLst>
            </a:custGeom>
            <a:solidFill>
              <a:srgbClr val="E2E8F0"/>
            </a:solidFill>
          </p:spPr>
          <p:txBody>
            <a:bodyPr/>
            <a:lstStyle/>
            <a:p>
              <a:endParaRPr lang="vi-VN"/>
            </a:p>
          </p:txBody>
        </p:sp>
      </p:grpSp>
      <p:grpSp>
        <p:nvGrpSpPr>
          <p:cNvPr id="30" name="Group 30"/>
          <p:cNvGrpSpPr/>
          <p:nvPr/>
        </p:nvGrpSpPr>
        <p:grpSpPr>
          <a:xfrm>
            <a:off x="857250" y="7120528"/>
            <a:ext cx="4143375" cy="14288"/>
            <a:chOff x="0" y="0"/>
            <a:chExt cx="5524500" cy="19050"/>
          </a:xfrm>
        </p:grpSpPr>
        <p:sp>
          <p:nvSpPr>
            <p:cNvPr id="31" name="Freeform 31"/>
            <p:cNvSpPr/>
            <p:nvPr/>
          </p:nvSpPr>
          <p:spPr>
            <a:xfrm>
              <a:off x="0" y="0"/>
              <a:ext cx="5524500" cy="19050"/>
            </a:xfrm>
            <a:custGeom>
              <a:avLst/>
              <a:gdLst/>
              <a:ahLst/>
              <a:cxnLst/>
              <a:rect l="l" t="t" r="r" b="b"/>
              <a:pathLst>
                <a:path w="5524500" h="19050">
                  <a:moveTo>
                    <a:pt x="0" y="0"/>
                  </a:moveTo>
                  <a:lnTo>
                    <a:pt x="5524500" y="0"/>
                  </a:lnTo>
                  <a:lnTo>
                    <a:pt x="5524500" y="19050"/>
                  </a:lnTo>
                  <a:lnTo>
                    <a:pt x="0" y="19050"/>
                  </a:lnTo>
                  <a:close/>
                </a:path>
              </a:pathLst>
            </a:custGeom>
            <a:solidFill>
              <a:srgbClr val="E2E8F0"/>
            </a:solidFill>
          </p:spPr>
          <p:txBody>
            <a:bodyPr/>
            <a:lstStyle/>
            <a:p>
              <a:endParaRPr lang="vi-VN"/>
            </a:p>
          </p:txBody>
        </p:sp>
      </p:grpSp>
      <p:grpSp>
        <p:nvGrpSpPr>
          <p:cNvPr id="32" name="Group 32"/>
          <p:cNvGrpSpPr/>
          <p:nvPr/>
        </p:nvGrpSpPr>
        <p:grpSpPr>
          <a:xfrm>
            <a:off x="5000625" y="7120528"/>
            <a:ext cx="7458075" cy="14288"/>
            <a:chOff x="0" y="0"/>
            <a:chExt cx="9944100" cy="19050"/>
          </a:xfrm>
        </p:grpSpPr>
        <p:sp>
          <p:nvSpPr>
            <p:cNvPr id="33" name="Freeform 33"/>
            <p:cNvSpPr/>
            <p:nvPr/>
          </p:nvSpPr>
          <p:spPr>
            <a:xfrm>
              <a:off x="0" y="0"/>
              <a:ext cx="9944100" cy="19050"/>
            </a:xfrm>
            <a:custGeom>
              <a:avLst/>
              <a:gdLst/>
              <a:ahLst/>
              <a:cxnLst/>
              <a:rect l="l" t="t" r="r" b="b"/>
              <a:pathLst>
                <a:path w="9944100" h="19050">
                  <a:moveTo>
                    <a:pt x="0" y="0"/>
                  </a:moveTo>
                  <a:lnTo>
                    <a:pt x="9944100" y="0"/>
                  </a:lnTo>
                  <a:lnTo>
                    <a:pt x="9944100" y="19050"/>
                  </a:lnTo>
                  <a:lnTo>
                    <a:pt x="0" y="19050"/>
                  </a:lnTo>
                  <a:close/>
                </a:path>
              </a:pathLst>
            </a:custGeom>
            <a:solidFill>
              <a:srgbClr val="E2E8F0"/>
            </a:solidFill>
          </p:spPr>
          <p:txBody>
            <a:bodyPr/>
            <a:lstStyle/>
            <a:p>
              <a:endParaRPr lang="vi-VN"/>
            </a:p>
          </p:txBody>
        </p:sp>
      </p:grpSp>
      <p:grpSp>
        <p:nvGrpSpPr>
          <p:cNvPr id="34" name="Group 34"/>
          <p:cNvGrpSpPr/>
          <p:nvPr/>
        </p:nvGrpSpPr>
        <p:grpSpPr>
          <a:xfrm>
            <a:off x="12458700" y="7120528"/>
            <a:ext cx="4972050" cy="14288"/>
            <a:chOff x="0" y="0"/>
            <a:chExt cx="6629400" cy="19050"/>
          </a:xfrm>
        </p:grpSpPr>
        <p:sp>
          <p:nvSpPr>
            <p:cNvPr id="35" name="Freeform 35"/>
            <p:cNvSpPr/>
            <p:nvPr/>
          </p:nvSpPr>
          <p:spPr>
            <a:xfrm>
              <a:off x="0" y="0"/>
              <a:ext cx="6629400" cy="19050"/>
            </a:xfrm>
            <a:custGeom>
              <a:avLst/>
              <a:gdLst/>
              <a:ahLst/>
              <a:cxnLst/>
              <a:rect l="l" t="t" r="r" b="b"/>
              <a:pathLst>
                <a:path w="6629400" h="19050">
                  <a:moveTo>
                    <a:pt x="0" y="0"/>
                  </a:moveTo>
                  <a:lnTo>
                    <a:pt x="6629400" y="0"/>
                  </a:lnTo>
                  <a:lnTo>
                    <a:pt x="6629400" y="19050"/>
                  </a:lnTo>
                  <a:lnTo>
                    <a:pt x="0" y="19050"/>
                  </a:lnTo>
                  <a:close/>
                </a:path>
              </a:pathLst>
            </a:custGeom>
            <a:solidFill>
              <a:srgbClr val="E2E8F0"/>
            </a:solidFill>
          </p:spPr>
          <p:txBody>
            <a:bodyPr/>
            <a:lstStyle/>
            <a:p>
              <a:endParaRPr lang="vi-VN"/>
            </a:p>
          </p:txBody>
        </p:sp>
      </p:grpSp>
      <p:sp>
        <p:nvSpPr>
          <p:cNvPr id="36" name="TextBox 36"/>
          <p:cNvSpPr txBox="1"/>
          <p:nvPr/>
        </p:nvSpPr>
        <p:spPr>
          <a:xfrm>
            <a:off x="857250" y="857250"/>
            <a:ext cx="17402175" cy="700088"/>
          </a:xfrm>
          <a:prstGeom prst="rect">
            <a:avLst/>
          </a:prstGeom>
        </p:spPr>
        <p:txBody>
          <a:bodyPr lIns="0" tIns="0" rIns="0" bIns="0" rtlCol="0" anchor="t">
            <a:spAutoFit/>
          </a:bodyPr>
          <a:lstStyle/>
          <a:p>
            <a:pPr algn="l">
              <a:lnSpc>
                <a:spcPts val="5130"/>
              </a:lnSpc>
            </a:pPr>
            <a:r>
              <a:rPr lang="en-US" sz="4275" b="1">
                <a:solidFill>
                  <a:srgbClr val="164673"/>
                </a:solidFill>
                <a:latin typeface="Montserrat Bold"/>
                <a:ea typeface="Montserrat Bold"/>
                <a:cs typeface="Montserrat Bold"/>
                <a:sym typeface="Montserrat Bold"/>
              </a:rPr>
              <a:t>CẢI TIẾN #5: HỆ THỐNG ĐÁNH GIÁ 6 CHIỀU</a:t>
            </a:r>
          </a:p>
        </p:txBody>
      </p:sp>
      <p:grpSp>
        <p:nvGrpSpPr>
          <p:cNvPr id="37" name="Group 37"/>
          <p:cNvGrpSpPr/>
          <p:nvPr/>
        </p:nvGrpSpPr>
        <p:grpSpPr>
          <a:xfrm>
            <a:off x="857250" y="1671638"/>
            <a:ext cx="16573500" cy="28575"/>
            <a:chOff x="0" y="0"/>
            <a:chExt cx="22098000" cy="38100"/>
          </a:xfrm>
        </p:grpSpPr>
        <p:sp>
          <p:nvSpPr>
            <p:cNvPr id="38" name="Freeform 38"/>
            <p:cNvSpPr/>
            <p:nvPr/>
          </p:nvSpPr>
          <p:spPr>
            <a:xfrm>
              <a:off x="0" y="0"/>
              <a:ext cx="22098000" cy="38100"/>
            </a:xfrm>
            <a:custGeom>
              <a:avLst/>
              <a:gdLst/>
              <a:ahLst/>
              <a:cxnLst/>
              <a:rect l="l" t="t" r="r" b="b"/>
              <a:pathLst>
                <a:path w="22098000" h="38100">
                  <a:moveTo>
                    <a:pt x="0" y="0"/>
                  </a:moveTo>
                  <a:lnTo>
                    <a:pt x="22098000" y="0"/>
                  </a:lnTo>
                  <a:lnTo>
                    <a:pt x="22098000" y="38100"/>
                  </a:lnTo>
                  <a:lnTo>
                    <a:pt x="0" y="38100"/>
                  </a:lnTo>
                  <a:close/>
                </a:path>
              </a:pathLst>
            </a:custGeom>
            <a:solidFill>
              <a:srgbClr val="48A6D8"/>
            </a:solidFill>
          </p:spPr>
          <p:txBody>
            <a:bodyPr/>
            <a:lstStyle/>
            <a:p>
              <a:endParaRPr lang="vi-VN"/>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grpSp>
        <p:nvGrpSpPr>
          <p:cNvPr id="4" name="Group 4"/>
          <p:cNvGrpSpPr/>
          <p:nvPr/>
        </p:nvGrpSpPr>
        <p:grpSpPr>
          <a:xfrm>
            <a:off x="857250" y="4672012"/>
            <a:ext cx="8001000" cy="1394374"/>
            <a:chOff x="0" y="0"/>
            <a:chExt cx="10668000" cy="1859166"/>
          </a:xfrm>
        </p:grpSpPr>
        <p:sp>
          <p:nvSpPr>
            <p:cNvPr id="5" name="Freeform 5" descr="image.png"/>
            <p:cNvSpPr/>
            <p:nvPr/>
          </p:nvSpPr>
          <p:spPr>
            <a:xfrm>
              <a:off x="0" y="0"/>
              <a:ext cx="10668000" cy="1859153"/>
            </a:xfrm>
            <a:custGeom>
              <a:avLst/>
              <a:gdLst/>
              <a:ahLst/>
              <a:cxnLst/>
              <a:rect l="l" t="t" r="r" b="b"/>
              <a:pathLst>
                <a:path w="10668000" h="1859153">
                  <a:moveTo>
                    <a:pt x="0" y="0"/>
                  </a:moveTo>
                  <a:lnTo>
                    <a:pt x="10668000" y="0"/>
                  </a:lnTo>
                  <a:lnTo>
                    <a:pt x="10668000" y="1859153"/>
                  </a:lnTo>
                  <a:lnTo>
                    <a:pt x="0" y="1859153"/>
                  </a:lnTo>
                  <a:lnTo>
                    <a:pt x="0" y="0"/>
                  </a:lnTo>
                  <a:close/>
                </a:path>
              </a:pathLst>
            </a:custGeom>
            <a:blipFill>
              <a:blip r:embed="rId4"/>
              <a:stretch>
                <a:fillRect b="-416"/>
              </a:stretch>
            </a:blipFill>
          </p:spPr>
          <p:txBody>
            <a:bodyPr/>
            <a:lstStyle/>
            <a:p>
              <a:endParaRPr lang="vi-VN"/>
            </a:p>
          </p:txBody>
        </p:sp>
      </p:grpSp>
      <p:grpSp>
        <p:nvGrpSpPr>
          <p:cNvPr id="6" name="Group 6"/>
          <p:cNvGrpSpPr/>
          <p:nvPr/>
        </p:nvGrpSpPr>
        <p:grpSpPr>
          <a:xfrm>
            <a:off x="9429750" y="4466406"/>
            <a:ext cx="8001000" cy="1394374"/>
            <a:chOff x="0" y="0"/>
            <a:chExt cx="10668000" cy="1859166"/>
          </a:xfrm>
        </p:grpSpPr>
        <p:sp>
          <p:nvSpPr>
            <p:cNvPr id="7" name="Freeform 7" descr="image.png"/>
            <p:cNvSpPr/>
            <p:nvPr/>
          </p:nvSpPr>
          <p:spPr>
            <a:xfrm>
              <a:off x="0" y="0"/>
              <a:ext cx="10668000" cy="1859153"/>
            </a:xfrm>
            <a:custGeom>
              <a:avLst/>
              <a:gdLst/>
              <a:ahLst/>
              <a:cxnLst/>
              <a:rect l="l" t="t" r="r" b="b"/>
              <a:pathLst>
                <a:path w="10668000" h="1859153">
                  <a:moveTo>
                    <a:pt x="0" y="0"/>
                  </a:moveTo>
                  <a:lnTo>
                    <a:pt x="10668000" y="0"/>
                  </a:lnTo>
                  <a:lnTo>
                    <a:pt x="10668000" y="1859153"/>
                  </a:lnTo>
                  <a:lnTo>
                    <a:pt x="0" y="1859153"/>
                  </a:lnTo>
                  <a:lnTo>
                    <a:pt x="0" y="0"/>
                  </a:lnTo>
                  <a:close/>
                </a:path>
              </a:pathLst>
            </a:custGeom>
            <a:blipFill>
              <a:blip r:embed="rId5"/>
              <a:stretch>
                <a:fillRect b="-1441"/>
              </a:stretch>
            </a:blipFill>
          </p:spPr>
          <p:txBody>
            <a:bodyPr/>
            <a:lstStyle/>
            <a:p>
              <a:endParaRPr lang="vi-VN"/>
            </a:p>
          </p:txBody>
        </p:sp>
      </p:grpSp>
      <p:sp>
        <p:nvSpPr>
          <p:cNvPr id="8" name="TextBox 8"/>
          <p:cNvSpPr txBox="1"/>
          <p:nvPr/>
        </p:nvSpPr>
        <p:spPr>
          <a:xfrm>
            <a:off x="857250" y="3829050"/>
            <a:ext cx="3028950" cy="410369"/>
          </a:xfrm>
          <a:prstGeom prst="rect">
            <a:avLst/>
          </a:prstGeom>
        </p:spPr>
        <p:txBody>
          <a:bodyPr wrap="square" lIns="0" tIns="0" rIns="0" bIns="0" rtlCol="0" anchor="t">
            <a:spAutoFit/>
          </a:bodyPr>
          <a:lstStyle/>
          <a:p>
            <a:pPr algn="l">
              <a:lnSpc>
                <a:spcPts val="3240"/>
              </a:lnSpc>
            </a:pPr>
            <a:r>
              <a:rPr lang="en-US" sz="2700" dirty="0">
                <a:solidFill>
                  <a:srgbClr val="164673"/>
                </a:solidFill>
                <a:latin typeface="Montserrat"/>
                <a:ea typeface="Montserrat"/>
                <a:cs typeface="Montserrat"/>
                <a:sym typeface="Montserrat"/>
              </a:rPr>
              <a:t>Cohen's d = 2.65</a:t>
            </a:r>
          </a:p>
        </p:txBody>
      </p:sp>
      <p:sp>
        <p:nvSpPr>
          <p:cNvPr id="9" name="TextBox 9"/>
          <p:cNvSpPr txBox="1"/>
          <p:nvPr/>
        </p:nvSpPr>
        <p:spPr>
          <a:xfrm>
            <a:off x="857250" y="6137824"/>
            <a:ext cx="8001000" cy="1377182"/>
          </a:xfrm>
          <a:prstGeom prst="rect">
            <a:avLst/>
          </a:prstGeom>
        </p:spPr>
        <p:txBody>
          <a:bodyPr lIns="0" tIns="0" rIns="0" bIns="0" rtlCol="0" anchor="t">
            <a:spAutoFit/>
          </a:bodyPr>
          <a:lstStyle/>
          <a:p>
            <a:pPr algn="l">
              <a:lnSpc>
                <a:spcPts val="3887"/>
              </a:lnSpc>
            </a:pPr>
            <a:r>
              <a:rPr lang="en-US" sz="2025">
                <a:solidFill>
                  <a:srgbClr val="475569"/>
                </a:solidFill>
                <a:latin typeface="Open Sans"/>
                <a:ea typeface="Open Sans"/>
                <a:cs typeface="Open Sans"/>
                <a:sym typeface="Open Sans"/>
              </a:rPr>
              <a:t>Đường biên phân loại không bị "nhiễu ranh giới". Do đó, hệ thống có thể kích hoạt các cảnh báo với độ tin cậy cao, giảm thiểu số lượng báo động giả gây phiền toái cho người vận hành.</a:t>
            </a:r>
          </a:p>
        </p:txBody>
      </p:sp>
      <p:sp>
        <p:nvSpPr>
          <p:cNvPr id="10" name="TextBox 10"/>
          <p:cNvSpPr txBox="1"/>
          <p:nvPr/>
        </p:nvSpPr>
        <p:spPr>
          <a:xfrm>
            <a:off x="9429750" y="3623443"/>
            <a:ext cx="3456451" cy="409608"/>
          </a:xfrm>
          <a:prstGeom prst="rect">
            <a:avLst/>
          </a:prstGeom>
        </p:spPr>
        <p:txBody>
          <a:bodyPr lIns="0" tIns="0" rIns="0" bIns="0" rtlCol="0" anchor="t">
            <a:spAutoFit/>
          </a:bodyPr>
          <a:lstStyle/>
          <a:p>
            <a:pPr algn="l">
              <a:lnSpc>
                <a:spcPts val="3240"/>
              </a:lnSpc>
            </a:pPr>
            <a:r>
              <a:rPr lang="en-US" sz="2700">
                <a:solidFill>
                  <a:srgbClr val="164673"/>
                </a:solidFill>
                <a:latin typeface="Montserrat"/>
                <a:ea typeface="Montserrat"/>
                <a:cs typeface="Montserrat"/>
                <a:sym typeface="Montserrat"/>
              </a:rPr>
              <a:t>Rule Overlap = 33.1%</a:t>
            </a:r>
          </a:p>
        </p:txBody>
      </p:sp>
      <p:sp>
        <p:nvSpPr>
          <p:cNvPr id="11" name="TextBox 11"/>
          <p:cNvSpPr txBox="1"/>
          <p:nvPr/>
        </p:nvSpPr>
        <p:spPr>
          <a:xfrm>
            <a:off x="9429750" y="5932218"/>
            <a:ext cx="8001000" cy="1788614"/>
          </a:xfrm>
          <a:prstGeom prst="rect">
            <a:avLst/>
          </a:prstGeom>
        </p:spPr>
        <p:txBody>
          <a:bodyPr lIns="0" tIns="0" rIns="0" bIns="0" rtlCol="0" anchor="t">
            <a:spAutoFit/>
          </a:bodyPr>
          <a:lstStyle/>
          <a:p>
            <a:pPr algn="l">
              <a:lnSpc>
                <a:spcPts val="3887"/>
              </a:lnSpc>
            </a:pPr>
            <a:r>
              <a:rPr lang="en-US" sz="2025">
                <a:solidFill>
                  <a:srgbClr val="475569"/>
                </a:solidFill>
                <a:latin typeface="Open Sans"/>
                <a:ea typeface="Open Sans"/>
                <a:cs typeface="Open Sans"/>
                <a:sym typeface="Open Sans"/>
              </a:rPr>
              <a:t>Dù không được khai báo các luật này một cách tường minh trong quá trình huấn luyện, mô hình vẫn xác định đúng 33.1% các trường hợp vi phạm luật cứng, xác nhận tính tin cậy của bộ trọng số.</a:t>
            </a:r>
          </a:p>
        </p:txBody>
      </p:sp>
      <p:sp>
        <p:nvSpPr>
          <p:cNvPr id="12" name="TextBox 12"/>
          <p:cNvSpPr txBox="1"/>
          <p:nvPr/>
        </p:nvSpPr>
        <p:spPr>
          <a:xfrm>
            <a:off x="1200150" y="4814887"/>
            <a:ext cx="7372350" cy="965749"/>
          </a:xfrm>
          <a:prstGeom prst="rect">
            <a:avLst/>
          </a:prstGeom>
        </p:spPr>
        <p:txBody>
          <a:bodyPr lIns="0" tIns="0" rIns="0" bIns="0" rtlCol="0" anchor="t">
            <a:spAutoFit/>
          </a:bodyPr>
          <a:lstStyle/>
          <a:p>
            <a:pPr algn="l">
              <a:lnSpc>
                <a:spcPts val="3887"/>
              </a:lnSpc>
            </a:pPr>
            <a:r>
              <a:rPr lang="en-US" sz="2025">
                <a:solidFill>
                  <a:srgbClr val="164673"/>
                </a:solidFill>
                <a:latin typeface="Open Sans"/>
                <a:ea typeface="Open Sans"/>
                <a:cs typeface="Open Sans"/>
                <a:sym typeface="Open Sans"/>
              </a:rPr>
              <a:t>Mô hình tách biệt rất tốt điểm số của chuyến đi bình thường và bất thường.</a:t>
            </a:r>
          </a:p>
        </p:txBody>
      </p:sp>
      <p:sp>
        <p:nvSpPr>
          <p:cNvPr id="13" name="TextBox 13"/>
          <p:cNvSpPr txBox="1"/>
          <p:nvPr/>
        </p:nvSpPr>
        <p:spPr>
          <a:xfrm>
            <a:off x="9772650" y="4609281"/>
            <a:ext cx="7372350" cy="965749"/>
          </a:xfrm>
          <a:prstGeom prst="rect">
            <a:avLst/>
          </a:prstGeom>
        </p:spPr>
        <p:txBody>
          <a:bodyPr lIns="0" tIns="0" rIns="0" bIns="0" rtlCol="0" anchor="t">
            <a:spAutoFit/>
          </a:bodyPr>
          <a:lstStyle/>
          <a:p>
            <a:pPr algn="l">
              <a:lnSpc>
                <a:spcPts val="3887"/>
              </a:lnSpc>
            </a:pPr>
            <a:r>
              <a:rPr lang="en-US" sz="2025">
                <a:solidFill>
                  <a:srgbClr val="164673"/>
                </a:solidFill>
                <a:latin typeface="Open Sans"/>
                <a:ea typeface="Open Sans"/>
                <a:cs typeface="Open Sans"/>
                <a:sym typeface="Open Sans"/>
              </a:rPr>
              <a:t>Mô hình ML tự "học" lại các quy tắc nghiệp vụ mà con người đã đặt ra.</a:t>
            </a:r>
          </a:p>
        </p:txBody>
      </p:sp>
      <p:sp>
        <p:nvSpPr>
          <p:cNvPr id="14" name="TextBox 14"/>
          <p:cNvSpPr txBox="1"/>
          <p:nvPr/>
        </p:nvSpPr>
        <p:spPr>
          <a:xfrm>
            <a:off x="857250" y="857250"/>
            <a:ext cx="17402175" cy="700088"/>
          </a:xfrm>
          <a:prstGeom prst="rect">
            <a:avLst/>
          </a:prstGeom>
        </p:spPr>
        <p:txBody>
          <a:bodyPr lIns="0" tIns="0" rIns="0" bIns="0" rtlCol="0" anchor="t">
            <a:spAutoFit/>
          </a:bodyPr>
          <a:lstStyle/>
          <a:p>
            <a:pPr algn="l">
              <a:lnSpc>
                <a:spcPts val="5130"/>
              </a:lnSpc>
            </a:pPr>
            <a:r>
              <a:rPr lang="en-US" sz="4275" b="1">
                <a:solidFill>
                  <a:srgbClr val="164673"/>
                </a:solidFill>
                <a:latin typeface="Montserrat Bold"/>
                <a:ea typeface="Montserrat Bold"/>
                <a:cs typeface="Montserrat Bold"/>
                <a:sym typeface="Montserrat Bold"/>
              </a:rPr>
              <a:t>GIẢI THÍCH ĐÁNH GIÁ ĐỊNH LƯỢNG</a:t>
            </a:r>
          </a:p>
        </p:txBody>
      </p:sp>
      <p:grpSp>
        <p:nvGrpSpPr>
          <p:cNvPr id="15" name="Group 15"/>
          <p:cNvGrpSpPr/>
          <p:nvPr/>
        </p:nvGrpSpPr>
        <p:grpSpPr>
          <a:xfrm>
            <a:off x="857250" y="1671638"/>
            <a:ext cx="16573500" cy="28575"/>
            <a:chOff x="0" y="0"/>
            <a:chExt cx="22098000" cy="38100"/>
          </a:xfrm>
        </p:grpSpPr>
        <p:sp>
          <p:nvSpPr>
            <p:cNvPr id="16" name="Freeform 16"/>
            <p:cNvSpPr/>
            <p:nvPr/>
          </p:nvSpPr>
          <p:spPr>
            <a:xfrm>
              <a:off x="0" y="0"/>
              <a:ext cx="22098000" cy="38100"/>
            </a:xfrm>
            <a:custGeom>
              <a:avLst/>
              <a:gdLst/>
              <a:ahLst/>
              <a:cxnLst/>
              <a:rect l="l" t="t" r="r" b="b"/>
              <a:pathLst>
                <a:path w="22098000" h="38100">
                  <a:moveTo>
                    <a:pt x="0" y="0"/>
                  </a:moveTo>
                  <a:lnTo>
                    <a:pt x="22098000" y="0"/>
                  </a:lnTo>
                  <a:lnTo>
                    <a:pt x="22098000" y="38100"/>
                  </a:lnTo>
                  <a:lnTo>
                    <a:pt x="0" y="38100"/>
                  </a:lnTo>
                  <a:close/>
                </a:path>
              </a:pathLst>
            </a:custGeom>
            <a:solidFill>
              <a:srgbClr val="48A6D8"/>
            </a:solidFill>
          </p:spPr>
          <p:txBody>
            <a:bodyPr/>
            <a:lstStyle/>
            <a:p>
              <a:endParaRPr lang="vi-VN"/>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grpSp>
        <p:nvGrpSpPr>
          <p:cNvPr id="4" name="Group 4"/>
          <p:cNvGrpSpPr/>
          <p:nvPr/>
        </p:nvGrpSpPr>
        <p:grpSpPr>
          <a:xfrm>
            <a:off x="857250" y="2343150"/>
            <a:ext cx="7929562" cy="28575"/>
            <a:chOff x="0" y="0"/>
            <a:chExt cx="10572750" cy="38100"/>
          </a:xfrm>
        </p:grpSpPr>
        <p:sp>
          <p:nvSpPr>
            <p:cNvPr id="5" name="Freeform 5"/>
            <p:cNvSpPr/>
            <p:nvPr/>
          </p:nvSpPr>
          <p:spPr>
            <a:xfrm>
              <a:off x="0" y="0"/>
              <a:ext cx="10572750" cy="38100"/>
            </a:xfrm>
            <a:custGeom>
              <a:avLst/>
              <a:gdLst/>
              <a:ahLst/>
              <a:cxnLst/>
              <a:rect l="l" t="t" r="r" b="b"/>
              <a:pathLst>
                <a:path w="10572750" h="38100">
                  <a:moveTo>
                    <a:pt x="0" y="0"/>
                  </a:moveTo>
                  <a:lnTo>
                    <a:pt x="10572750" y="0"/>
                  </a:lnTo>
                  <a:lnTo>
                    <a:pt x="10572750" y="38100"/>
                  </a:lnTo>
                  <a:lnTo>
                    <a:pt x="0" y="38100"/>
                  </a:lnTo>
                  <a:close/>
                </a:path>
              </a:pathLst>
            </a:custGeom>
            <a:solidFill>
              <a:srgbClr val="48A6D8"/>
            </a:solidFill>
          </p:spPr>
          <p:txBody>
            <a:bodyPr/>
            <a:lstStyle/>
            <a:p>
              <a:endParaRPr lang="vi-VN"/>
            </a:p>
          </p:txBody>
        </p:sp>
      </p:grpSp>
      <p:grpSp>
        <p:nvGrpSpPr>
          <p:cNvPr id="6" name="Group 6"/>
          <p:cNvGrpSpPr/>
          <p:nvPr/>
        </p:nvGrpSpPr>
        <p:grpSpPr>
          <a:xfrm>
            <a:off x="8986838" y="0"/>
            <a:ext cx="9301162" cy="4930499"/>
            <a:chOff x="0" y="0"/>
            <a:chExt cx="12401550" cy="6573999"/>
          </a:xfrm>
        </p:grpSpPr>
        <p:sp>
          <p:nvSpPr>
            <p:cNvPr id="7" name="Freeform 7"/>
            <p:cNvSpPr/>
            <p:nvPr/>
          </p:nvSpPr>
          <p:spPr>
            <a:xfrm>
              <a:off x="0" y="0"/>
              <a:ext cx="12401550" cy="6573999"/>
            </a:xfrm>
            <a:custGeom>
              <a:avLst/>
              <a:gdLst/>
              <a:ahLst/>
              <a:cxnLst/>
              <a:rect l="l" t="t" r="r" b="b"/>
              <a:pathLst>
                <a:path w="12401550" h="6573999">
                  <a:moveTo>
                    <a:pt x="0" y="0"/>
                  </a:moveTo>
                  <a:lnTo>
                    <a:pt x="12401550" y="0"/>
                  </a:lnTo>
                  <a:lnTo>
                    <a:pt x="12401550" y="6573999"/>
                  </a:lnTo>
                  <a:lnTo>
                    <a:pt x="0" y="6573999"/>
                  </a:lnTo>
                  <a:lnTo>
                    <a:pt x="0" y="0"/>
                  </a:lnTo>
                  <a:close/>
                </a:path>
              </a:pathLst>
            </a:custGeom>
            <a:blipFill>
              <a:blip r:embed="rId4"/>
              <a:stretch>
                <a:fillRect t="-10366" b="-10366"/>
              </a:stretch>
            </a:blipFill>
          </p:spPr>
          <p:txBody>
            <a:bodyPr/>
            <a:lstStyle/>
            <a:p>
              <a:endParaRPr lang="vi-VN"/>
            </a:p>
          </p:txBody>
        </p:sp>
      </p:grpSp>
      <p:grpSp>
        <p:nvGrpSpPr>
          <p:cNvPr id="8" name="Group 8"/>
          <p:cNvGrpSpPr/>
          <p:nvPr/>
        </p:nvGrpSpPr>
        <p:grpSpPr>
          <a:xfrm>
            <a:off x="857250" y="4547892"/>
            <a:ext cx="157162" cy="271462"/>
            <a:chOff x="0" y="0"/>
            <a:chExt cx="209550" cy="361950"/>
          </a:xfrm>
        </p:grpSpPr>
        <p:sp>
          <p:nvSpPr>
            <p:cNvPr id="9" name="Freeform 9"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5"/>
              <a:stretch>
                <a:fillRect/>
              </a:stretch>
            </a:blipFill>
          </p:spPr>
          <p:txBody>
            <a:bodyPr/>
            <a:lstStyle/>
            <a:p>
              <a:endParaRPr lang="vi-VN"/>
            </a:p>
          </p:txBody>
        </p:sp>
      </p:grpSp>
      <p:grpSp>
        <p:nvGrpSpPr>
          <p:cNvPr id="10" name="Group 10"/>
          <p:cNvGrpSpPr/>
          <p:nvPr/>
        </p:nvGrpSpPr>
        <p:grpSpPr>
          <a:xfrm>
            <a:off x="857250" y="5953649"/>
            <a:ext cx="157162" cy="271462"/>
            <a:chOff x="0" y="0"/>
            <a:chExt cx="209550" cy="361950"/>
          </a:xfrm>
        </p:grpSpPr>
        <p:sp>
          <p:nvSpPr>
            <p:cNvPr id="11" name="Freeform 11"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5"/>
              <a:stretch>
                <a:fillRect/>
              </a:stretch>
            </a:blipFill>
          </p:spPr>
          <p:txBody>
            <a:bodyPr/>
            <a:lstStyle/>
            <a:p>
              <a:endParaRPr lang="vi-VN"/>
            </a:p>
          </p:txBody>
        </p:sp>
      </p:grpSp>
      <p:grpSp>
        <p:nvGrpSpPr>
          <p:cNvPr id="12" name="Group 12"/>
          <p:cNvGrpSpPr/>
          <p:nvPr/>
        </p:nvGrpSpPr>
        <p:grpSpPr>
          <a:xfrm>
            <a:off x="857250" y="7359396"/>
            <a:ext cx="157162" cy="271462"/>
            <a:chOff x="0" y="0"/>
            <a:chExt cx="209550" cy="361950"/>
          </a:xfrm>
        </p:grpSpPr>
        <p:sp>
          <p:nvSpPr>
            <p:cNvPr id="13" name="Freeform 13"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5"/>
              <a:stretch>
                <a:fillRect/>
              </a:stretch>
            </a:blipFill>
          </p:spPr>
          <p:txBody>
            <a:bodyPr/>
            <a:lstStyle/>
            <a:p>
              <a:endParaRPr lang="vi-VN"/>
            </a:p>
          </p:txBody>
        </p:sp>
      </p:grpSp>
      <p:grpSp>
        <p:nvGrpSpPr>
          <p:cNvPr id="14" name="Group 14"/>
          <p:cNvGrpSpPr/>
          <p:nvPr/>
        </p:nvGrpSpPr>
        <p:grpSpPr>
          <a:xfrm>
            <a:off x="8986837" y="4930499"/>
            <a:ext cx="9301162" cy="5356501"/>
            <a:chOff x="0" y="0"/>
            <a:chExt cx="12401550" cy="7142001"/>
          </a:xfrm>
        </p:grpSpPr>
        <p:sp>
          <p:nvSpPr>
            <p:cNvPr id="15" name="Freeform 15"/>
            <p:cNvSpPr/>
            <p:nvPr/>
          </p:nvSpPr>
          <p:spPr>
            <a:xfrm>
              <a:off x="0" y="0"/>
              <a:ext cx="12401550" cy="7142001"/>
            </a:xfrm>
            <a:custGeom>
              <a:avLst/>
              <a:gdLst/>
              <a:ahLst/>
              <a:cxnLst/>
              <a:rect l="l" t="t" r="r" b="b"/>
              <a:pathLst>
                <a:path w="12401550" h="7142001">
                  <a:moveTo>
                    <a:pt x="0" y="0"/>
                  </a:moveTo>
                  <a:lnTo>
                    <a:pt x="12401550" y="0"/>
                  </a:lnTo>
                  <a:lnTo>
                    <a:pt x="12401550" y="7142001"/>
                  </a:lnTo>
                  <a:lnTo>
                    <a:pt x="0" y="7142001"/>
                  </a:lnTo>
                  <a:lnTo>
                    <a:pt x="0" y="0"/>
                  </a:lnTo>
                  <a:close/>
                </a:path>
              </a:pathLst>
            </a:custGeom>
            <a:blipFill>
              <a:blip r:embed="rId6"/>
              <a:stretch>
                <a:fillRect t="-3069" b="-3069"/>
              </a:stretch>
            </a:blipFill>
          </p:spPr>
          <p:txBody>
            <a:bodyPr/>
            <a:lstStyle/>
            <a:p>
              <a:endParaRPr lang="vi-VN"/>
            </a:p>
          </p:txBody>
        </p:sp>
      </p:grpSp>
      <p:sp>
        <p:nvSpPr>
          <p:cNvPr id="16" name="TextBox 16"/>
          <p:cNvSpPr txBox="1"/>
          <p:nvPr/>
        </p:nvSpPr>
        <p:spPr>
          <a:xfrm>
            <a:off x="857250" y="857250"/>
            <a:ext cx="8326041" cy="1371600"/>
          </a:xfrm>
          <a:prstGeom prst="rect">
            <a:avLst/>
          </a:prstGeom>
        </p:spPr>
        <p:txBody>
          <a:bodyPr lIns="0" tIns="0" rIns="0" bIns="0" rtlCol="0" anchor="t">
            <a:spAutoFit/>
          </a:bodyPr>
          <a:lstStyle/>
          <a:p>
            <a:pPr algn="l">
              <a:lnSpc>
                <a:spcPts val="5130"/>
              </a:lnSpc>
            </a:pPr>
            <a:r>
              <a:rPr lang="en-US" sz="4275" b="1">
                <a:solidFill>
                  <a:srgbClr val="164673"/>
                </a:solidFill>
                <a:latin typeface="Montserrat Bold"/>
                <a:ea typeface="Montserrat Bold"/>
                <a:cs typeface="Montserrat Bold"/>
                <a:sym typeface="Montserrat Bold"/>
              </a:rPr>
              <a:t>FLEET INTELLIGENCE DASHBOARD</a:t>
            </a:r>
          </a:p>
        </p:txBody>
      </p:sp>
      <p:sp>
        <p:nvSpPr>
          <p:cNvPr id="17" name="TextBox 17"/>
          <p:cNvSpPr txBox="1"/>
          <p:nvPr/>
        </p:nvSpPr>
        <p:spPr>
          <a:xfrm>
            <a:off x="857250" y="3890667"/>
            <a:ext cx="8326041" cy="414338"/>
          </a:xfrm>
          <a:prstGeom prst="rect">
            <a:avLst/>
          </a:prstGeom>
        </p:spPr>
        <p:txBody>
          <a:bodyPr lIns="0" tIns="0" rIns="0" bIns="0" rtlCol="0" anchor="t">
            <a:spAutoFit/>
          </a:bodyPr>
          <a:lstStyle/>
          <a:p>
            <a:pPr algn="l">
              <a:lnSpc>
                <a:spcPts val="3240"/>
              </a:lnSpc>
            </a:pPr>
            <a:r>
              <a:rPr lang="en-US" sz="2700">
                <a:solidFill>
                  <a:srgbClr val="164673"/>
                </a:solidFill>
                <a:latin typeface="Montserrat"/>
                <a:ea typeface="Montserrat"/>
                <a:cs typeface="Montserrat"/>
                <a:sym typeface="Montserrat"/>
              </a:rPr>
              <a:t>Kỹ thuật Non-blocking UI (Streamlit)</a:t>
            </a:r>
          </a:p>
        </p:txBody>
      </p:sp>
      <p:sp>
        <p:nvSpPr>
          <p:cNvPr id="18" name="TextBox 18"/>
          <p:cNvSpPr txBox="1"/>
          <p:nvPr/>
        </p:nvSpPr>
        <p:spPr>
          <a:xfrm>
            <a:off x="1214438" y="4376442"/>
            <a:ext cx="7572375" cy="1377182"/>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Dashboard Chính (port 8501):</a:t>
            </a:r>
            <a:r>
              <a:rPr lang="en-US" sz="2025">
                <a:solidFill>
                  <a:srgbClr val="475569"/>
                </a:solidFill>
                <a:latin typeface="Open Sans"/>
                <a:ea typeface="Open Sans"/>
                <a:cs typeface="Open Sans"/>
                <a:sym typeface="Open Sans"/>
              </a:rPr>
              <a:t> Cập nhật mỗi 3s. Hiển thị Throughput, Latency, Anomaly rate, Scatter plot và danh sách 500 anomaly gần nhất.</a:t>
            </a:r>
          </a:p>
        </p:txBody>
      </p:sp>
      <p:sp>
        <p:nvSpPr>
          <p:cNvPr id="19" name="TextBox 19"/>
          <p:cNvSpPr txBox="1"/>
          <p:nvPr/>
        </p:nvSpPr>
        <p:spPr>
          <a:xfrm>
            <a:off x="1214438" y="5782199"/>
            <a:ext cx="7572375" cy="1377182"/>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Benchmark Evaluator (port 8502):</a:t>
            </a:r>
            <a:r>
              <a:rPr lang="en-US" sz="2025">
                <a:solidFill>
                  <a:srgbClr val="475569"/>
                </a:solidFill>
                <a:latin typeface="Open Sans"/>
                <a:ea typeface="Open Sans"/>
                <a:cs typeface="Open Sans"/>
                <a:sym typeface="Open Sans"/>
              </a:rPr>
              <a:t> Cập nhật mỗi 30s. So sánh Streaming vs AI Ground Truth, tính toán Precision, Recall, F1-Score, Confusion Matrix.</a:t>
            </a:r>
          </a:p>
        </p:txBody>
      </p:sp>
      <p:sp>
        <p:nvSpPr>
          <p:cNvPr id="20" name="TextBox 20"/>
          <p:cNvSpPr txBox="1"/>
          <p:nvPr/>
        </p:nvSpPr>
        <p:spPr>
          <a:xfrm>
            <a:off x="1214438" y="7187946"/>
            <a:ext cx="7572375" cy="980037"/>
          </a:xfrm>
          <a:prstGeom prst="rect">
            <a:avLst/>
          </a:prstGeom>
        </p:spPr>
        <p:txBody>
          <a:bodyPr lIns="0" tIns="0" rIns="0" bIns="0" rtlCol="0" anchor="t">
            <a:spAutoFit/>
          </a:bodyPr>
          <a:lstStyle/>
          <a:p>
            <a:pPr algn="l">
              <a:lnSpc>
                <a:spcPts val="3887"/>
              </a:lnSpc>
            </a:pPr>
            <a:r>
              <a:rPr lang="en-US" sz="2025">
                <a:solidFill>
                  <a:srgbClr val="475569"/>
                </a:solidFill>
                <a:latin typeface="Open Sans"/>
                <a:ea typeface="Open Sans"/>
                <a:cs typeface="Open Sans"/>
                <a:sym typeface="Open Sans"/>
              </a:rPr>
              <a:t>Sử dụng @st.fragment(run_every=N) để chỉ render lại phần dynamic, tránh giật lag UI khi cập nhật tần suất cực cao.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grpSp>
        <p:nvGrpSpPr>
          <p:cNvPr id="4" name="Group 4"/>
          <p:cNvGrpSpPr/>
          <p:nvPr/>
        </p:nvGrpSpPr>
        <p:grpSpPr>
          <a:xfrm>
            <a:off x="857250" y="2128838"/>
            <a:ext cx="5238826" cy="7300912"/>
            <a:chOff x="0" y="0"/>
            <a:chExt cx="6985102" cy="9734550"/>
          </a:xfrm>
        </p:grpSpPr>
        <p:sp>
          <p:nvSpPr>
            <p:cNvPr id="5" name="Freeform 5" descr="image.png"/>
            <p:cNvSpPr/>
            <p:nvPr/>
          </p:nvSpPr>
          <p:spPr>
            <a:xfrm>
              <a:off x="0" y="0"/>
              <a:ext cx="6985127" cy="9734550"/>
            </a:xfrm>
            <a:custGeom>
              <a:avLst/>
              <a:gdLst/>
              <a:ahLst/>
              <a:cxnLst/>
              <a:rect l="l" t="t" r="r" b="b"/>
              <a:pathLst>
                <a:path w="6985127" h="9734550">
                  <a:moveTo>
                    <a:pt x="0" y="0"/>
                  </a:moveTo>
                  <a:lnTo>
                    <a:pt x="6985127" y="0"/>
                  </a:lnTo>
                  <a:lnTo>
                    <a:pt x="6985127" y="9734550"/>
                  </a:lnTo>
                  <a:lnTo>
                    <a:pt x="0" y="9734550"/>
                  </a:lnTo>
                  <a:lnTo>
                    <a:pt x="0" y="0"/>
                  </a:lnTo>
                  <a:close/>
                </a:path>
              </a:pathLst>
            </a:custGeom>
            <a:blipFill>
              <a:blip r:embed="rId4"/>
              <a:stretch>
                <a:fillRect r="-89"/>
              </a:stretch>
            </a:blipFill>
          </p:spPr>
          <p:txBody>
            <a:bodyPr/>
            <a:lstStyle/>
            <a:p>
              <a:endParaRPr lang="vi-VN"/>
            </a:p>
          </p:txBody>
        </p:sp>
      </p:grpSp>
      <p:grpSp>
        <p:nvGrpSpPr>
          <p:cNvPr id="6" name="Group 6"/>
          <p:cNvGrpSpPr/>
          <p:nvPr/>
        </p:nvGrpSpPr>
        <p:grpSpPr>
          <a:xfrm>
            <a:off x="6524701" y="2128838"/>
            <a:ext cx="5238826" cy="7300912"/>
            <a:chOff x="0" y="0"/>
            <a:chExt cx="6985102" cy="9734550"/>
          </a:xfrm>
        </p:grpSpPr>
        <p:sp>
          <p:nvSpPr>
            <p:cNvPr id="7" name="Freeform 7" descr="image.png"/>
            <p:cNvSpPr/>
            <p:nvPr/>
          </p:nvSpPr>
          <p:spPr>
            <a:xfrm>
              <a:off x="0" y="0"/>
              <a:ext cx="6985127" cy="9734550"/>
            </a:xfrm>
            <a:custGeom>
              <a:avLst/>
              <a:gdLst/>
              <a:ahLst/>
              <a:cxnLst/>
              <a:rect l="l" t="t" r="r" b="b"/>
              <a:pathLst>
                <a:path w="6985127" h="9734550">
                  <a:moveTo>
                    <a:pt x="0" y="0"/>
                  </a:moveTo>
                  <a:lnTo>
                    <a:pt x="6985127" y="0"/>
                  </a:lnTo>
                  <a:lnTo>
                    <a:pt x="6985127" y="9734550"/>
                  </a:lnTo>
                  <a:lnTo>
                    <a:pt x="0" y="9734550"/>
                  </a:lnTo>
                  <a:lnTo>
                    <a:pt x="0" y="0"/>
                  </a:lnTo>
                  <a:close/>
                </a:path>
              </a:pathLst>
            </a:custGeom>
            <a:blipFill>
              <a:blip r:embed="rId5"/>
              <a:stretch>
                <a:fillRect r="-361"/>
              </a:stretch>
            </a:blipFill>
          </p:spPr>
          <p:txBody>
            <a:bodyPr/>
            <a:lstStyle/>
            <a:p>
              <a:endParaRPr lang="vi-VN"/>
            </a:p>
          </p:txBody>
        </p:sp>
      </p:grpSp>
      <p:grpSp>
        <p:nvGrpSpPr>
          <p:cNvPr id="8" name="Group 8"/>
          <p:cNvGrpSpPr/>
          <p:nvPr/>
        </p:nvGrpSpPr>
        <p:grpSpPr>
          <a:xfrm>
            <a:off x="12192152" y="2128838"/>
            <a:ext cx="5238826" cy="7300912"/>
            <a:chOff x="0" y="0"/>
            <a:chExt cx="6985102" cy="9734550"/>
          </a:xfrm>
        </p:grpSpPr>
        <p:sp>
          <p:nvSpPr>
            <p:cNvPr id="9" name="Freeform 9" descr="image.png"/>
            <p:cNvSpPr/>
            <p:nvPr/>
          </p:nvSpPr>
          <p:spPr>
            <a:xfrm>
              <a:off x="0" y="0"/>
              <a:ext cx="6985127" cy="9734550"/>
            </a:xfrm>
            <a:custGeom>
              <a:avLst/>
              <a:gdLst/>
              <a:ahLst/>
              <a:cxnLst/>
              <a:rect l="l" t="t" r="r" b="b"/>
              <a:pathLst>
                <a:path w="6985127" h="9734550">
                  <a:moveTo>
                    <a:pt x="0" y="0"/>
                  </a:moveTo>
                  <a:lnTo>
                    <a:pt x="6985127" y="0"/>
                  </a:lnTo>
                  <a:lnTo>
                    <a:pt x="6985127" y="9734550"/>
                  </a:lnTo>
                  <a:lnTo>
                    <a:pt x="0" y="9734550"/>
                  </a:lnTo>
                  <a:lnTo>
                    <a:pt x="0" y="0"/>
                  </a:lnTo>
                  <a:close/>
                </a:path>
              </a:pathLst>
            </a:custGeom>
            <a:blipFill>
              <a:blip r:embed="rId6"/>
              <a:stretch>
                <a:fillRect r="-361"/>
              </a:stretch>
            </a:blipFill>
          </p:spPr>
          <p:txBody>
            <a:bodyPr/>
            <a:lstStyle/>
            <a:p>
              <a:endParaRPr lang="vi-VN"/>
            </a:p>
          </p:txBody>
        </p:sp>
      </p:grpSp>
      <p:grpSp>
        <p:nvGrpSpPr>
          <p:cNvPr id="10" name="Group 10"/>
          <p:cNvGrpSpPr/>
          <p:nvPr/>
        </p:nvGrpSpPr>
        <p:grpSpPr>
          <a:xfrm>
            <a:off x="2976486" y="2571750"/>
            <a:ext cx="1000125" cy="1000125"/>
            <a:chOff x="0" y="0"/>
            <a:chExt cx="1333500" cy="1333500"/>
          </a:xfrm>
        </p:grpSpPr>
        <p:sp>
          <p:nvSpPr>
            <p:cNvPr id="11" name="Freeform 11" descr="image.png"/>
            <p:cNvSpPr/>
            <p:nvPr/>
          </p:nvSpPr>
          <p:spPr>
            <a:xfrm>
              <a:off x="0" y="0"/>
              <a:ext cx="1333500" cy="1333500"/>
            </a:xfrm>
            <a:custGeom>
              <a:avLst/>
              <a:gdLst/>
              <a:ahLst/>
              <a:cxnLst/>
              <a:rect l="l" t="t" r="r" b="b"/>
              <a:pathLst>
                <a:path w="1333500" h="1333500">
                  <a:moveTo>
                    <a:pt x="0" y="0"/>
                  </a:moveTo>
                  <a:lnTo>
                    <a:pt x="1333500" y="0"/>
                  </a:lnTo>
                  <a:lnTo>
                    <a:pt x="1333500" y="1333500"/>
                  </a:lnTo>
                  <a:lnTo>
                    <a:pt x="0" y="1333500"/>
                  </a:lnTo>
                  <a:lnTo>
                    <a:pt x="0" y="0"/>
                  </a:lnTo>
                  <a:close/>
                </a:path>
              </a:pathLst>
            </a:custGeom>
            <a:blipFill>
              <a:blip r:embed="rId7"/>
              <a:stretch>
                <a:fillRect r="-1428"/>
              </a:stretch>
            </a:blipFill>
          </p:spPr>
          <p:txBody>
            <a:bodyPr/>
            <a:lstStyle/>
            <a:p>
              <a:endParaRPr lang="vi-VN"/>
            </a:p>
          </p:txBody>
        </p:sp>
      </p:grpSp>
      <p:sp>
        <p:nvSpPr>
          <p:cNvPr id="12" name="TextBox 12"/>
          <p:cNvSpPr txBox="1"/>
          <p:nvPr/>
        </p:nvSpPr>
        <p:spPr>
          <a:xfrm>
            <a:off x="1856346" y="3857625"/>
            <a:ext cx="3240405" cy="414338"/>
          </a:xfrm>
          <a:prstGeom prst="rect">
            <a:avLst/>
          </a:prstGeom>
        </p:spPr>
        <p:txBody>
          <a:bodyPr lIns="0" tIns="0" rIns="0" bIns="0" rtlCol="0" anchor="t">
            <a:spAutoFit/>
          </a:bodyPr>
          <a:lstStyle/>
          <a:p>
            <a:pPr algn="ctr">
              <a:lnSpc>
                <a:spcPts val="3240"/>
              </a:lnSpc>
            </a:pPr>
            <a:r>
              <a:rPr lang="en-US" sz="2700">
                <a:solidFill>
                  <a:srgbClr val="164673"/>
                </a:solidFill>
                <a:latin typeface="Montserrat"/>
                <a:ea typeface="Montserrat"/>
                <a:cs typeface="Montserrat"/>
                <a:sym typeface="Montserrat"/>
              </a:rPr>
              <a:t>Lĩnh vực trực tiếp</a:t>
            </a:r>
          </a:p>
        </p:txBody>
      </p:sp>
      <p:sp>
        <p:nvSpPr>
          <p:cNvPr id="13" name="TextBox 13"/>
          <p:cNvSpPr txBox="1"/>
          <p:nvPr/>
        </p:nvSpPr>
        <p:spPr>
          <a:xfrm>
            <a:off x="1300162" y="4371975"/>
            <a:ext cx="4353001" cy="1942652"/>
          </a:xfrm>
          <a:prstGeom prst="rect">
            <a:avLst/>
          </a:prstGeom>
        </p:spPr>
        <p:txBody>
          <a:bodyPr lIns="0" tIns="0" rIns="0" bIns="0" rtlCol="0" anchor="t">
            <a:spAutoFit/>
          </a:bodyPr>
          <a:lstStyle/>
          <a:p>
            <a:pPr algn="ctr">
              <a:lnSpc>
                <a:spcPts val="3456"/>
              </a:lnSpc>
            </a:pPr>
            <a:r>
              <a:rPr lang="en-US" sz="1800">
                <a:solidFill>
                  <a:srgbClr val="64748B"/>
                </a:solidFill>
                <a:latin typeface="Open Sans"/>
                <a:ea typeface="Open Sans"/>
                <a:cs typeface="Open Sans"/>
                <a:sym typeface="Open Sans"/>
              </a:rPr>
              <a:t>Công ty taxi / ride-hailing (Grab, Be, Gojek). Phát hiện gian lận cước, lái xe quá tốc độ, cảnh báo trong 230 ms. Dễ dàng mở rộng cho xe buýt, xe tải logistics bằng cách thay Kafka producer.</a:t>
            </a:r>
          </a:p>
        </p:txBody>
      </p:sp>
      <p:grpSp>
        <p:nvGrpSpPr>
          <p:cNvPr id="14" name="Group 14"/>
          <p:cNvGrpSpPr/>
          <p:nvPr/>
        </p:nvGrpSpPr>
        <p:grpSpPr>
          <a:xfrm>
            <a:off x="8643938" y="2571750"/>
            <a:ext cx="1000125" cy="1000125"/>
            <a:chOff x="0" y="0"/>
            <a:chExt cx="1333500" cy="1333500"/>
          </a:xfrm>
        </p:grpSpPr>
        <p:sp>
          <p:nvSpPr>
            <p:cNvPr id="15" name="Freeform 15" descr="image.png"/>
            <p:cNvSpPr/>
            <p:nvPr/>
          </p:nvSpPr>
          <p:spPr>
            <a:xfrm>
              <a:off x="0" y="0"/>
              <a:ext cx="1333500" cy="1333500"/>
            </a:xfrm>
            <a:custGeom>
              <a:avLst/>
              <a:gdLst/>
              <a:ahLst/>
              <a:cxnLst/>
              <a:rect l="l" t="t" r="r" b="b"/>
              <a:pathLst>
                <a:path w="1333500" h="1333500">
                  <a:moveTo>
                    <a:pt x="0" y="0"/>
                  </a:moveTo>
                  <a:lnTo>
                    <a:pt x="1333500" y="0"/>
                  </a:lnTo>
                  <a:lnTo>
                    <a:pt x="1333500" y="1333500"/>
                  </a:lnTo>
                  <a:lnTo>
                    <a:pt x="0" y="1333500"/>
                  </a:lnTo>
                  <a:lnTo>
                    <a:pt x="0" y="0"/>
                  </a:lnTo>
                  <a:close/>
                </a:path>
              </a:pathLst>
            </a:custGeom>
            <a:blipFill>
              <a:blip r:embed="rId8"/>
              <a:stretch>
                <a:fillRect r="-1428"/>
              </a:stretch>
            </a:blipFill>
          </p:spPr>
          <p:txBody>
            <a:bodyPr/>
            <a:lstStyle/>
            <a:p>
              <a:endParaRPr lang="vi-VN"/>
            </a:p>
          </p:txBody>
        </p:sp>
      </p:grpSp>
      <p:sp>
        <p:nvSpPr>
          <p:cNvPr id="16" name="TextBox 16"/>
          <p:cNvSpPr txBox="1"/>
          <p:nvPr/>
        </p:nvSpPr>
        <p:spPr>
          <a:xfrm>
            <a:off x="7448788" y="3857625"/>
            <a:ext cx="3390424" cy="414338"/>
          </a:xfrm>
          <a:prstGeom prst="rect">
            <a:avLst/>
          </a:prstGeom>
        </p:spPr>
        <p:txBody>
          <a:bodyPr lIns="0" tIns="0" rIns="0" bIns="0" rtlCol="0" anchor="t">
            <a:spAutoFit/>
          </a:bodyPr>
          <a:lstStyle/>
          <a:p>
            <a:pPr algn="ctr">
              <a:lnSpc>
                <a:spcPts val="3240"/>
              </a:lnSpc>
            </a:pPr>
            <a:r>
              <a:rPr lang="en-US" sz="2700">
                <a:solidFill>
                  <a:srgbClr val="164673"/>
                </a:solidFill>
                <a:latin typeface="Montserrat"/>
                <a:ea typeface="Montserrat"/>
                <a:cs typeface="Montserrat"/>
                <a:sym typeface="Montserrat"/>
              </a:rPr>
              <a:t>Lĩnh vực liên quan</a:t>
            </a:r>
          </a:p>
        </p:txBody>
      </p:sp>
      <p:sp>
        <p:nvSpPr>
          <p:cNvPr id="17" name="TextBox 17"/>
          <p:cNvSpPr txBox="1"/>
          <p:nvPr/>
        </p:nvSpPr>
        <p:spPr>
          <a:xfrm>
            <a:off x="6967614" y="4371975"/>
            <a:ext cx="4353001" cy="1942652"/>
          </a:xfrm>
          <a:prstGeom prst="rect">
            <a:avLst/>
          </a:prstGeom>
        </p:spPr>
        <p:txBody>
          <a:bodyPr lIns="0" tIns="0" rIns="0" bIns="0" rtlCol="0" anchor="t">
            <a:spAutoFit/>
          </a:bodyPr>
          <a:lstStyle/>
          <a:p>
            <a:pPr algn="ctr">
              <a:lnSpc>
                <a:spcPts val="3456"/>
              </a:lnSpc>
            </a:pPr>
            <a:r>
              <a:rPr lang="en-US" sz="1800">
                <a:solidFill>
                  <a:srgbClr val="64748B"/>
                </a:solidFill>
                <a:latin typeface="Open Sans"/>
                <a:ea typeface="Open Sans"/>
                <a:cs typeface="Open Sans"/>
                <a:sym typeface="Open Sans"/>
              </a:rPr>
              <a:t>Áp dụng Strict Ensemble Voting và Feature Engineering cho hệ thống bảo hiểm xe (InsurTech) để phát hiện hồ sơ bồi thường giả mạo (Usage-Based Insurance).</a:t>
            </a:r>
          </a:p>
        </p:txBody>
      </p:sp>
      <p:grpSp>
        <p:nvGrpSpPr>
          <p:cNvPr id="18" name="Group 18"/>
          <p:cNvGrpSpPr/>
          <p:nvPr/>
        </p:nvGrpSpPr>
        <p:grpSpPr>
          <a:xfrm>
            <a:off x="14311389" y="2571750"/>
            <a:ext cx="1000125" cy="1000125"/>
            <a:chOff x="0" y="0"/>
            <a:chExt cx="1333500" cy="1333500"/>
          </a:xfrm>
        </p:grpSpPr>
        <p:sp>
          <p:nvSpPr>
            <p:cNvPr id="19" name="Freeform 19" descr="image.png"/>
            <p:cNvSpPr/>
            <p:nvPr/>
          </p:nvSpPr>
          <p:spPr>
            <a:xfrm>
              <a:off x="0" y="0"/>
              <a:ext cx="1333500" cy="1333500"/>
            </a:xfrm>
            <a:custGeom>
              <a:avLst/>
              <a:gdLst/>
              <a:ahLst/>
              <a:cxnLst/>
              <a:rect l="l" t="t" r="r" b="b"/>
              <a:pathLst>
                <a:path w="1333500" h="1333500">
                  <a:moveTo>
                    <a:pt x="0" y="0"/>
                  </a:moveTo>
                  <a:lnTo>
                    <a:pt x="1333500" y="0"/>
                  </a:lnTo>
                  <a:lnTo>
                    <a:pt x="1333500" y="1333500"/>
                  </a:lnTo>
                  <a:lnTo>
                    <a:pt x="0" y="1333500"/>
                  </a:lnTo>
                  <a:lnTo>
                    <a:pt x="0" y="0"/>
                  </a:lnTo>
                  <a:close/>
                </a:path>
              </a:pathLst>
            </a:custGeom>
            <a:blipFill>
              <a:blip r:embed="rId9"/>
              <a:stretch>
                <a:fillRect r="-1428"/>
              </a:stretch>
            </a:blipFill>
          </p:spPr>
          <p:txBody>
            <a:bodyPr/>
            <a:lstStyle/>
            <a:p>
              <a:endParaRPr lang="vi-VN"/>
            </a:p>
          </p:txBody>
        </p:sp>
      </p:grpSp>
      <p:sp>
        <p:nvSpPr>
          <p:cNvPr id="20" name="TextBox 20"/>
          <p:cNvSpPr txBox="1"/>
          <p:nvPr/>
        </p:nvSpPr>
        <p:spPr>
          <a:xfrm>
            <a:off x="12681185" y="3857625"/>
            <a:ext cx="4260532" cy="414338"/>
          </a:xfrm>
          <a:prstGeom prst="rect">
            <a:avLst/>
          </a:prstGeom>
        </p:spPr>
        <p:txBody>
          <a:bodyPr lIns="0" tIns="0" rIns="0" bIns="0" rtlCol="0" anchor="t">
            <a:spAutoFit/>
          </a:bodyPr>
          <a:lstStyle/>
          <a:p>
            <a:pPr algn="ctr">
              <a:lnSpc>
                <a:spcPts val="3240"/>
              </a:lnSpc>
            </a:pPr>
            <a:r>
              <a:rPr lang="en-US" sz="2700">
                <a:solidFill>
                  <a:srgbClr val="164673"/>
                </a:solidFill>
                <a:latin typeface="Montserrat"/>
                <a:ea typeface="Montserrat"/>
                <a:cs typeface="Montserrat"/>
                <a:sym typeface="Montserrat"/>
              </a:rPr>
              <a:t>Scale trong Production</a:t>
            </a:r>
          </a:p>
        </p:txBody>
      </p:sp>
      <p:sp>
        <p:nvSpPr>
          <p:cNvPr id="21" name="TextBox 21"/>
          <p:cNvSpPr txBox="1"/>
          <p:nvPr/>
        </p:nvSpPr>
        <p:spPr>
          <a:xfrm>
            <a:off x="12635065" y="4371975"/>
            <a:ext cx="4353001" cy="1576978"/>
          </a:xfrm>
          <a:prstGeom prst="rect">
            <a:avLst/>
          </a:prstGeom>
        </p:spPr>
        <p:txBody>
          <a:bodyPr lIns="0" tIns="0" rIns="0" bIns="0" rtlCol="0" anchor="t">
            <a:spAutoFit/>
          </a:bodyPr>
          <a:lstStyle/>
          <a:p>
            <a:pPr algn="ctr">
              <a:lnSpc>
                <a:spcPts val="3456"/>
              </a:lnSpc>
            </a:pPr>
            <a:r>
              <a:rPr lang="en-US" sz="1800">
                <a:solidFill>
                  <a:srgbClr val="64748B"/>
                </a:solidFill>
                <a:latin typeface="Open Sans"/>
                <a:ea typeface="Open Sans"/>
                <a:cs typeface="Open Sans"/>
                <a:sym typeface="Open Sans"/>
              </a:rPr>
              <a:t>Kiến trúc dễ scale lên Kubernetes + Spark YARN/K8s + Kafka multi-broker. Xử lý hàng chục triệu bản ghi/ngày mà </a:t>
            </a:r>
            <a:r>
              <a:rPr lang="en-US" sz="1800">
                <a:solidFill>
                  <a:srgbClr val="1E293B"/>
                </a:solidFill>
                <a:latin typeface="Open Sans"/>
                <a:ea typeface="Open Sans"/>
                <a:cs typeface="Open Sans"/>
                <a:sym typeface="Open Sans"/>
              </a:rPr>
              <a:t>không cần thay đổi business logic</a:t>
            </a:r>
            <a:r>
              <a:rPr lang="en-US" sz="1800">
                <a:solidFill>
                  <a:srgbClr val="64748B"/>
                </a:solidFill>
                <a:latin typeface="Open Sans"/>
                <a:ea typeface="Open Sans"/>
                <a:cs typeface="Open Sans"/>
                <a:sym typeface="Open Sans"/>
              </a:rPr>
              <a:t>.</a:t>
            </a:r>
          </a:p>
        </p:txBody>
      </p:sp>
      <p:grpSp>
        <p:nvGrpSpPr>
          <p:cNvPr id="22" name="Group 22"/>
          <p:cNvGrpSpPr/>
          <p:nvPr/>
        </p:nvGrpSpPr>
        <p:grpSpPr>
          <a:xfrm>
            <a:off x="3247949" y="2843212"/>
            <a:ext cx="457200" cy="457200"/>
            <a:chOff x="0" y="0"/>
            <a:chExt cx="609600" cy="609600"/>
          </a:xfrm>
        </p:grpSpPr>
        <p:sp>
          <p:nvSpPr>
            <p:cNvPr id="23" name="Freeform 23" descr="image.png"/>
            <p:cNvSpPr/>
            <p:nvPr/>
          </p:nvSpPr>
          <p:spPr>
            <a:xfrm>
              <a:off x="0" y="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blipFill>
              <a:blip r:embed="rId10"/>
              <a:stretch>
                <a:fillRect r="-3125"/>
              </a:stretch>
            </a:blipFill>
          </p:spPr>
          <p:txBody>
            <a:bodyPr/>
            <a:lstStyle/>
            <a:p>
              <a:endParaRPr lang="vi-VN"/>
            </a:p>
          </p:txBody>
        </p:sp>
      </p:grpSp>
      <p:grpSp>
        <p:nvGrpSpPr>
          <p:cNvPr id="24" name="Group 24"/>
          <p:cNvGrpSpPr/>
          <p:nvPr/>
        </p:nvGrpSpPr>
        <p:grpSpPr>
          <a:xfrm>
            <a:off x="8915400" y="2843212"/>
            <a:ext cx="457200" cy="457200"/>
            <a:chOff x="0" y="0"/>
            <a:chExt cx="609600" cy="609600"/>
          </a:xfrm>
        </p:grpSpPr>
        <p:sp>
          <p:nvSpPr>
            <p:cNvPr id="25" name="Freeform 25" descr="image.png"/>
            <p:cNvSpPr/>
            <p:nvPr/>
          </p:nvSpPr>
          <p:spPr>
            <a:xfrm>
              <a:off x="0" y="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blipFill>
              <a:blip r:embed="rId11"/>
              <a:stretch>
                <a:fillRect r="-3125"/>
              </a:stretch>
            </a:blipFill>
          </p:spPr>
          <p:txBody>
            <a:bodyPr/>
            <a:lstStyle/>
            <a:p>
              <a:endParaRPr lang="vi-VN"/>
            </a:p>
          </p:txBody>
        </p:sp>
      </p:grpSp>
      <p:grpSp>
        <p:nvGrpSpPr>
          <p:cNvPr id="26" name="Group 26"/>
          <p:cNvGrpSpPr/>
          <p:nvPr/>
        </p:nvGrpSpPr>
        <p:grpSpPr>
          <a:xfrm>
            <a:off x="14525701" y="2843212"/>
            <a:ext cx="571500" cy="457200"/>
            <a:chOff x="0" y="0"/>
            <a:chExt cx="762000" cy="609600"/>
          </a:xfrm>
        </p:grpSpPr>
        <p:sp>
          <p:nvSpPr>
            <p:cNvPr id="27" name="Freeform 27" descr="image.png"/>
            <p:cNvSpPr/>
            <p:nvPr/>
          </p:nvSpPr>
          <p:spPr>
            <a:xfrm>
              <a:off x="0" y="0"/>
              <a:ext cx="762000" cy="609600"/>
            </a:xfrm>
            <a:custGeom>
              <a:avLst/>
              <a:gdLst/>
              <a:ahLst/>
              <a:cxnLst/>
              <a:rect l="l" t="t" r="r" b="b"/>
              <a:pathLst>
                <a:path w="762000" h="609600">
                  <a:moveTo>
                    <a:pt x="0" y="0"/>
                  </a:moveTo>
                  <a:lnTo>
                    <a:pt x="762000" y="0"/>
                  </a:lnTo>
                  <a:lnTo>
                    <a:pt x="762000" y="609600"/>
                  </a:lnTo>
                  <a:lnTo>
                    <a:pt x="0" y="609600"/>
                  </a:lnTo>
                  <a:lnTo>
                    <a:pt x="0" y="0"/>
                  </a:lnTo>
                  <a:close/>
                </a:path>
              </a:pathLst>
            </a:custGeom>
            <a:blipFill>
              <a:blip r:embed="rId12"/>
              <a:stretch>
                <a:fillRect r="-2500"/>
              </a:stretch>
            </a:blipFill>
          </p:spPr>
          <p:txBody>
            <a:bodyPr/>
            <a:lstStyle/>
            <a:p>
              <a:endParaRPr lang="vi-VN"/>
            </a:p>
          </p:txBody>
        </p:sp>
      </p:grpSp>
      <p:sp>
        <p:nvSpPr>
          <p:cNvPr id="28" name="TextBox 28"/>
          <p:cNvSpPr txBox="1"/>
          <p:nvPr/>
        </p:nvSpPr>
        <p:spPr>
          <a:xfrm>
            <a:off x="857250" y="857250"/>
            <a:ext cx="17402175" cy="700088"/>
          </a:xfrm>
          <a:prstGeom prst="rect">
            <a:avLst/>
          </a:prstGeom>
        </p:spPr>
        <p:txBody>
          <a:bodyPr lIns="0" tIns="0" rIns="0" bIns="0" rtlCol="0" anchor="t">
            <a:spAutoFit/>
          </a:bodyPr>
          <a:lstStyle/>
          <a:p>
            <a:pPr algn="l">
              <a:lnSpc>
                <a:spcPts val="5130"/>
              </a:lnSpc>
            </a:pPr>
            <a:r>
              <a:rPr lang="en-US" sz="4275" b="1">
                <a:solidFill>
                  <a:srgbClr val="164673"/>
                </a:solidFill>
                <a:latin typeface="Montserrat Bold"/>
                <a:ea typeface="Montserrat Bold"/>
                <a:cs typeface="Montserrat Bold"/>
                <a:sym typeface="Montserrat Bold"/>
              </a:rPr>
              <a:t>KHẢ NĂNG ÁP DỤNG THỰC TIỄN</a:t>
            </a:r>
          </a:p>
        </p:txBody>
      </p:sp>
      <p:grpSp>
        <p:nvGrpSpPr>
          <p:cNvPr id="29" name="Group 29"/>
          <p:cNvGrpSpPr/>
          <p:nvPr/>
        </p:nvGrpSpPr>
        <p:grpSpPr>
          <a:xfrm>
            <a:off x="857250" y="1671638"/>
            <a:ext cx="16573500" cy="28575"/>
            <a:chOff x="0" y="0"/>
            <a:chExt cx="22098000" cy="38100"/>
          </a:xfrm>
        </p:grpSpPr>
        <p:sp>
          <p:nvSpPr>
            <p:cNvPr id="30" name="Freeform 30"/>
            <p:cNvSpPr/>
            <p:nvPr/>
          </p:nvSpPr>
          <p:spPr>
            <a:xfrm>
              <a:off x="0" y="0"/>
              <a:ext cx="22098000" cy="38100"/>
            </a:xfrm>
            <a:custGeom>
              <a:avLst/>
              <a:gdLst/>
              <a:ahLst/>
              <a:cxnLst/>
              <a:rect l="l" t="t" r="r" b="b"/>
              <a:pathLst>
                <a:path w="22098000" h="38100">
                  <a:moveTo>
                    <a:pt x="0" y="0"/>
                  </a:moveTo>
                  <a:lnTo>
                    <a:pt x="22098000" y="0"/>
                  </a:lnTo>
                  <a:lnTo>
                    <a:pt x="22098000" y="38100"/>
                  </a:lnTo>
                  <a:lnTo>
                    <a:pt x="0" y="38100"/>
                  </a:lnTo>
                  <a:close/>
                </a:path>
              </a:pathLst>
            </a:custGeom>
            <a:solidFill>
              <a:srgbClr val="48A6D8"/>
            </a:solidFill>
          </p:spPr>
          <p:txBody>
            <a:bodyPr/>
            <a:lstStyle/>
            <a:p>
              <a:endParaRPr lang="vi-VN"/>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sp>
        <p:nvSpPr>
          <p:cNvPr id="4" name="TextBox 4"/>
          <p:cNvSpPr txBox="1"/>
          <p:nvPr/>
        </p:nvSpPr>
        <p:spPr>
          <a:xfrm>
            <a:off x="1085850" y="3604917"/>
            <a:ext cx="1435034" cy="409608"/>
          </a:xfrm>
          <a:prstGeom prst="rect">
            <a:avLst/>
          </a:prstGeom>
        </p:spPr>
        <p:txBody>
          <a:bodyPr lIns="0" tIns="0" rIns="0" bIns="0" rtlCol="0" anchor="t">
            <a:spAutoFit/>
          </a:bodyPr>
          <a:lstStyle/>
          <a:p>
            <a:pPr algn="l">
              <a:lnSpc>
                <a:spcPts val="3240"/>
              </a:lnSpc>
            </a:pPr>
            <a:r>
              <a:rPr lang="en-US" sz="2700">
                <a:solidFill>
                  <a:srgbClr val="EF4444"/>
                </a:solidFill>
                <a:latin typeface="Montserrat"/>
                <a:ea typeface="Montserrat"/>
                <a:cs typeface="Montserrat"/>
                <a:sym typeface="Montserrat"/>
              </a:rPr>
              <a:t>Hạn chế</a:t>
            </a:r>
          </a:p>
        </p:txBody>
      </p:sp>
      <p:sp>
        <p:nvSpPr>
          <p:cNvPr id="5" name="TextBox 5"/>
          <p:cNvSpPr txBox="1"/>
          <p:nvPr/>
        </p:nvSpPr>
        <p:spPr>
          <a:xfrm>
            <a:off x="9658350" y="3574780"/>
            <a:ext cx="8172450" cy="414338"/>
          </a:xfrm>
          <a:prstGeom prst="rect">
            <a:avLst/>
          </a:prstGeom>
        </p:spPr>
        <p:txBody>
          <a:bodyPr lIns="0" tIns="0" rIns="0" bIns="0" rtlCol="0" anchor="t">
            <a:spAutoFit/>
          </a:bodyPr>
          <a:lstStyle/>
          <a:p>
            <a:pPr algn="l">
              <a:lnSpc>
                <a:spcPts val="3240"/>
              </a:lnSpc>
            </a:pPr>
            <a:r>
              <a:rPr lang="en-US" sz="2700">
                <a:solidFill>
                  <a:srgbClr val="10B981"/>
                </a:solidFill>
                <a:latin typeface="Montserrat"/>
                <a:ea typeface="Montserrat"/>
                <a:cs typeface="Montserrat"/>
                <a:sym typeface="Montserrat"/>
              </a:rPr>
              <a:t>Hướng phát triển tiếp theo</a:t>
            </a:r>
          </a:p>
        </p:txBody>
      </p:sp>
      <p:grpSp>
        <p:nvGrpSpPr>
          <p:cNvPr id="6" name="Group 6"/>
          <p:cNvGrpSpPr/>
          <p:nvPr/>
        </p:nvGrpSpPr>
        <p:grpSpPr>
          <a:xfrm>
            <a:off x="685800" y="3604917"/>
            <a:ext cx="342900" cy="342900"/>
            <a:chOff x="0" y="0"/>
            <a:chExt cx="457200" cy="457200"/>
          </a:xfrm>
        </p:grpSpPr>
        <p:sp>
          <p:nvSpPr>
            <p:cNvPr id="7" name="Freeform 7" descr="image.png"/>
            <p:cNvSpPr/>
            <p:nvPr/>
          </p:nvSpPr>
          <p:spPr>
            <a:xfrm>
              <a:off x="0" y="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blipFill>
              <a:blip r:embed="rId4"/>
              <a:stretch>
                <a:fillRect b="-4166"/>
              </a:stretch>
            </a:blipFill>
          </p:spPr>
          <p:txBody>
            <a:bodyPr/>
            <a:lstStyle/>
            <a:p>
              <a:endParaRPr lang="vi-VN"/>
            </a:p>
          </p:txBody>
        </p:sp>
      </p:grpSp>
      <p:graphicFrame>
        <p:nvGraphicFramePr>
          <p:cNvPr id="8" name="Table 8"/>
          <p:cNvGraphicFramePr>
            <a:graphicFrameLocks noGrp="1"/>
          </p:cNvGraphicFramePr>
          <p:nvPr/>
        </p:nvGraphicFramePr>
        <p:xfrm>
          <a:off x="857250" y="4447876"/>
          <a:ext cx="7981950" cy="3429000"/>
        </p:xfrm>
        <a:graphic>
          <a:graphicData uri="http://schemas.openxmlformats.org/drawingml/2006/table">
            <a:tbl>
              <a:tblPr/>
              <a:tblGrid>
                <a:gridCol w="6312859">
                  <a:extLst>
                    <a:ext uri="{9D8B030D-6E8A-4147-A177-3AD203B41FA5}">
                      <a16:colId xmlns:a16="http://schemas.microsoft.com/office/drawing/2014/main" val="20000"/>
                    </a:ext>
                  </a:extLst>
                </a:gridCol>
                <a:gridCol w="1669091">
                  <a:extLst>
                    <a:ext uri="{9D8B030D-6E8A-4147-A177-3AD203B41FA5}">
                      <a16:colId xmlns:a16="http://schemas.microsoft.com/office/drawing/2014/main" val="20001"/>
                    </a:ext>
                  </a:extLst>
                </a:gridCol>
              </a:tblGrid>
              <a:tr h="685800">
                <a:tc>
                  <a:txBody>
                    <a:bodyPr/>
                    <a:lstStyle/>
                    <a:p>
                      <a:pPr algn="ctr">
                        <a:lnSpc>
                          <a:spcPts val="2160"/>
                        </a:lnSpc>
                        <a:defRPr/>
                      </a:pPr>
                      <a:r>
                        <a:rPr lang="en-US" sz="1800" b="1">
                          <a:solidFill>
                            <a:srgbClr val="FFFFFF"/>
                          </a:solidFill>
                          <a:latin typeface="Montserrat Bold"/>
                          <a:ea typeface="Montserrat Bold"/>
                          <a:cs typeface="Montserrat Bold"/>
                          <a:sym typeface="Montserrat Bold"/>
                        </a:rPr>
                        <a:t>Hạn chế</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tc>
                  <a:txBody>
                    <a:bodyPr/>
                    <a:lstStyle/>
                    <a:p>
                      <a:pPr algn="ctr">
                        <a:lnSpc>
                          <a:spcPts val="2160"/>
                        </a:lnSpc>
                        <a:defRPr/>
                      </a:pPr>
                      <a:r>
                        <a:rPr lang="en-US" sz="1800" b="1">
                          <a:solidFill>
                            <a:srgbClr val="FFFFFF"/>
                          </a:solidFill>
                          <a:latin typeface="Montserrat Bold"/>
                          <a:ea typeface="Montserrat Bold"/>
                          <a:cs typeface="Montserrat Bold"/>
                          <a:sym typeface="Montserrat Bold"/>
                        </a:rPr>
                        <a:t>Mức độ</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164673"/>
                    </a:solidFill>
                  </a:tcPr>
                </a:tc>
                <a:extLst>
                  <a:ext uri="{0D108BD9-81ED-4DB2-BD59-A6C34878D82A}">
                    <a16:rowId xmlns:a16="http://schemas.microsoft.com/office/drawing/2014/main" val="10000"/>
                  </a:ext>
                </a:extLst>
              </a:tr>
              <a:tr h="685800">
                <a:tc>
                  <a:txBody>
                    <a:bodyPr/>
                    <a:lstStyle/>
                    <a:p>
                      <a:pPr algn="ctr">
                        <a:lnSpc>
                          <a:spcPts val="2160"/>
                        </a:lnSpc>
                        <a:defRPr/>
                      </a:pPr>
                      <a:r>
                        <a:rPr lang="en-US" sz="1800">
                          <a:solidFill>
                            <a:srgbClr val="475569"/>
                          </a:solidFill>
                          <a:latin typeface="Open Sans"/>
                          <a:ea typeface="Open Sans"/>
                          <a:cs typeface="Open Sans"/>
                          <a:sym typeface="Open Sans"/>
                        </a:rPr>
                        <a:t>CV = 1,24 &gt; 0,3 (Rate dao động lúc cold-start)</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a:solidFill>
                            <a:srgbClr val="475569"/>
                          </a:solidFill>
                          <a:latin typeface="Open Sans"/>
                          <a:ea typeface="Open Sans"/>
                          <a:cs typeface="Open Sans"/>
                          <a:sym typeface="Open Sans"/>
                        </a:rPr>
                        <a:t>⚠️</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1"/>
                  </a:ext>
                </a:extLst>
              </a:tr>
              <a:tr h="685800">
                <a:tc>
                  <a:txBody>
                    <a:bodyPr/>
                    <a:lstStyle/>
                    <a:p>
                      <a:pPr algn="ctr">
                        <a:lnSpc>
                          <a:spcPts val="2160"/>
                        </a:lnSpc>
                        <a:defRPr/>
                      </a:pPr>
                      <a:r>
                        <a:rPr lang="en-US" sz="1800">
                          <a:solidFill>
                            <a:srgbClr val="475569"/>
                          </a:solidFill>
                          <a:latin typeface="Open Sans"/>
                          <a:ea typeface="Open Sans"/>
                          <a:cs typeface="Open Sans"/>
                          <a:sym typeface="Open Sans"/>
                        </a:rPr>
                        <a:t>Rule Overlap 33,1% &lt; 40% (Cần thêm luật)</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a:solidFill>
                            <a:srgbClr val="475569"/>
                          </a:solidFill>
                          <a:latin typeface="Open Sans"/>
                          <a:ea typeface="Open Sans"/>
                          <a:cs typeface="Open Sans"/>
                          <a:sym typeface="Open Sans"/>
                        </a:rPr>
                        <a:t>⚠️</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685800">
                <a:tc>
                  <a:txBody>
                    <a:bodyPr/>
                    <a:lstStyle/>
                    <a:p>
                      <a:pPr algn="ctr">
                        <a:lnSpc>
                          <a:spcPts val="2160"/>
                        </a:lnSpc>
                        <a:defRPr/>
                      </a:pPr>
                      <a:r>
                        <a:rPr lang="en-US" sz="1800">
                          <a:solidFill>
                            <a:srgbClr val="475569"/>
                          </a:solidFill>
                          <a:latin typeface="Open Sans"/>
                          <a:ea typeface="Open Sans"/>
                          <a:cs typeface="Open Sans"/>
                          <a:sym typeface="Open Sans"/>
                        </a:rPr>
                        <a:t>Ground Truth do AI tạo (Thiếu chuyên gia xác nhận)</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tc>
                  <a:txBody>
                    <a:bodyPr/>
                    <a:lstStyle/>
                    <a:p>
                      <a:pPr algn="ctr">
                        <a:lnSpc>
                          <a:spcPts val="2160"/>
                        </a:lnSpc>
                        <a:defRPr/>
                      </a:pPr>
                      <a:r>
                        <a:rPr lang="en-US" sz="1800">
                          <a:solidFill>
                            <a:srgbClr val="475569"/>
                          </a:solidFill>
                          <a:latin typeface="Open Sans"/>
                          <a:ea typeface="Open Sans"/>
                          <a:cs typeface="Open Sans"/>
                          <a:sym typeface="Open Sans"/>
                        </a:rPr>
                        <a:t>⚠️</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FD7E7"/>
                    </a:solidFill>
                  </a:tcPr>
                </a:tc>
                <a:extLst>
                  <a:ext uri="{0D108BD9-81ED-4DB2-BD59-A6C34878D82A}">
                    <a16:rowId xmlns:a16="http://schemas.microsoft.com/office/drawing/2014/main" val="10003"/>
                  </a:ext>
                </a:extLst>
              </a:tr>
              <a:tr h="685800">
                <a:tc>
                  <a:txBody>
                    <a:bodyPr/>
                    <a:lstStyle/>
                    <a:p>
                      <a:pPr algn="ctr">
                        <a:lnSpc>
                          <a:spcPts val="2160"/>
                        </a:lnSpc>
                        <a:defRPr/>
                      </a:pPr>
                      <a:r>
                        <a:rPr lang="en-US" sz="1800">
                          <a:solidFill>
                            <a:srgbClr val="475569"/>
                          </a:solidFill>
                          <a:latin typeface="Open Sans"/>
                          <a:ea typeface="Open Sans"/>
                          <a:cs typeface="Open Sans"/>
                          <a:sym typeface="Open Sans"/>
                        </a:rPr>
                        <a:t>Chỉ dùng 1 tháng dữ liệu (Thiếu tính mùa vụ)</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tc>
                  <a:txBody>
                    <a:bodyPr/>
                    <a:lstStyle/>
                    <a:p>
                      <a:pPr algn="ctr">
                        <a:lnSpc>
                          <a:spcPts val="2160"/>
                        </a:lnSpc>
                        <a:defRPr/>
                      </a:pPr>
                      <a:r>
                        <a:rPr lang="en-US" sz="1800">
                          <a:solidFill>
                            <a:srgbClr val="475569"/>
                          </a:solidFill>
                          <a:latin typeface="Open Sans"/>
                          <a:ea typeface="Open Sans"/>
                          <a:cs typeface="Open Sans"/>
                          <a:sym typeface="Open Sans"/>
                        </a:rPr>
                        <a:t>⚠️</a:t>
                      </a:r>
                      <a:endParaRPr lang="en-US" sz="1100"/>
                    </a:p>
                  </a:txBody>
                  <a:tcPr marL="63500" marR="63500" marT="63500" marB="635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bl>
          </a:graphicData>
        </a:graphic>
      </p:graphicFrame>
      <p:grpSp>
        <p:nvGrpSpPr>
          <p:cNvPr id="9" name="Group 9"/>
          <p:cNvGrpSpPr/>
          <p:nvPr/>
        </p:nvGrpSpPr>
        <p:grpSpPr>
          <a:xfrm>
            <a:off x="9215438" y="3640636"/>
            <a:ext cx="342900" cy="342900"/>
            <a:chOff x="0" y="0"/>
            <a:chExt cx="457200" cy="457200"/>
          </a:xfrm>
        </p:grpSpPr>
        <p:sp>
          <p:nvSpPr>
            <p:cNvPr id="10" name="Freeform 10" descr="image.png"/>
            <p:cNvSpPr/>
            <p:nvPr/>
          </p:nvSpPr>
          <p:spPr>
            <a:xfrm>
              <a:off x="0" y="0"/>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blipFill>
              <a:blip r:embed="rId5"/>
              <a:stretch>
                <a:fillRect b="-4166"/>
              </a:stretch>
            </a:blipFill>
          </p:spPr>
          <p:txBody>
            <a:bodyPr/>
            <a:lstStyle/>
            <a:p>
              <a:endParaRPr lang="vi-VN"/>
            </a:p>
          </p:txBody>
        </p:sp>
      </p:grpSp>
      <p:sp>
        <p:nvSpPr>
          <p:cNvPr id="11" name="TextBox 11"/>
          <p:cNvSpPr txBox="1"/>
          <p:nvPr/>
        </p:nvSpPr>
        <p:spPr>
          <a:xfrm>
            <a:off x="9786938" y="4274868"/>
            <a:ext cx="7643812" cy="965749"/>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Apache Flink:</a:t>
            </a:r>
            <a:r>
              <a:rPr lang="en-US" sz="2025">
                <a:solidFill>
                  <a:srgbClr val="475569"/>
                </a:solidFill>
                <a:latin typeface="Open Sans"/>
                <a:ea typeface="Open Sans"/>
                <a:cs typeface="Open Sans"/>
                <a:sym typeface="Open Sans"/>
              </a:rPr>
              <a:t> Chuyển đổi từ Spark sang Flink để đạt true event-time processing, giảm độ trễ xuống &lt; 50ms.</a:t>
            </a:r>
          </a:p>
        </p:txBody>
      </p:sp>
      <p:sp>
        <p:nvSpPr>
          <p:cNvPr id="12" name="TextBox 12"/>
          <p:cNvSpPr txBox="1"/>
          <p:nvPr/>
        </p:nvSpPr>
        <p:spPr>
          <a:xfrm>
            <a:off x="9786938" y="5269182"/>
            <a:ext cx="7643812" cy="965749"/>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Deep Learning:</a:t>
            </a:r>
            <a:r>
              <a:rPr lang="en-US" sz="2025">
                <a:solidFill>
                  <a:srgbClr val="475569"/>
                </a:solidFill>
                <a:latin typeface="Open Sans"/>
                <a:ea typeface="Open Sans"/>
                <a:cs typeface="Open Sans"/>
                <a:sym typeface="Open Sans"/>
              </a:rPr>
              <a:t> Tích hợp LSTM/Transformer để phát hiện bất thường chuỗi thời gian (Collective Anomaly).</a:t>
            </a:r>
          </a:p>
        </p:txBody>
      </p:sp>
      <p:sp>
        <p:nvSpPr>
          <p:cNvPr id="13" name="TextBox 13"/>
          <p:cNvSpPr txBox="1"/>
          <p:nvPr/>
        </p:nvSpPr>
        <p:spPr>
          <a:xfrm>
            <a:off x="9786938" y="6263507"/>
            <a:ext cx="7643812" cy="965749"/>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Human-in-the-loop:</a:t>
            </a:r>
            <a:r>
              <a:rPr lang="en-US" sz="2025">
                <a:solidFill>
                  <a:srgbClr val="475569"/>
                </a:solidFill>
                <a:latin typeface="Open Sans"/>
                <a:ea typeface="Open Sans"/>
                <a:cs typeface="Open Sans"/>
                <a:sym typeface="Open Sans"/>
              </a:rPr>
              <a:t> Xây dựng cơ chế Operator phản hồi để cải thiện Ground Truth liên tục.</a:t>
            </a:r>
          </a:p>
        </p:txBody>
      </p:sp>
      <p:sp>
        <p:nvSpPr>
          <p:cNvPr id="14" name="TextBox 14"/>
          <p:cNvSpPr txBox="1"/>
          <p:nvPr/>
        </p:nvSpPr>
        <p:spPr>
          <a:xfrm>
            <a:off x="9786938" y="7257831"/>
            <a:ext cx="7643812" cy="554307"/>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Mở rộng:</a:t>
            </a:r>
            <a:r>
              <a:rPr lang="en-US" sz="2025">
                <a:solidFill>
                  <a:srgbClr val="475569"/>
                </a:solidFill>
                <a:latin typeface="Open Sans"/>
                <a:ea typeface="Open Sans"/>
                <a:cs typeface="Open Sans"/>
                <a:sym typeface="Open Sans"/>
              </a:rPr>
              <a:t> Hỗ trợ luồng dữ liệu Uber, Lyft.</a:t>
            </a:r>
          </a:p>
        </p:txBody>
      </p:sp>
      <p:grpSp>
        <p:nvGrpSpPr>
          <p:cNvPr id="15" name="Group 15"/>
          <p:cNvGrpSpPr/>
          <p:nvPr/>
        </p:nvGrpSpPr>
        <p:grpSpPr>
          <a:xfrm>
            <a:off x="9429750" y="4446318"/>
            <a:ext cx="157162" cy="271462"/>
            <a:chOff x="0" y="0"/>
            <a:chExt cx="209550" cy="361950"/>
          </a:xfrm>
        </p:grpSpPr>
        <p:sp>
          <p:nvSpPr>
            <p:cNvPr id="16" name="Freeform 16"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6"/>
              <a:stretch>
                <a:fillRect/>
              </a:stretch>
            </a:blipFill>
          </p:spPr>
          <p:txBody>
            <a:bodyPr/>
            <a:lstStyle/>
            <a:p>
              <a:endParaRPr lang="vi-VN"/>
            </a:p>
          </p:txBody>
        </p:sp>
      </p:grpSp>
      <p:grpSp>
        <p:nvGrpSpPr>
          <p:cNvPr id="17" name="Group 17"/>
          <p:cNvGrpSpPr/>
          <p:nvPr/>
        </p:nvGrpSpPr>
        <p:grpSpPr>
          <a:xfrm>
            <a:off x="9429750" y="5440632"/>
            <a:ext cx="157162" cy="271462"/>
            <a:chOff x="0" y="0"/>
            <a:chExt cx="209550" cy="361950"/>
          </a:xfrm>
        </p:grpSpPr>
        <p:sp>
          <p:nvSpPr>
            <p:cNvPr id="18" name="Freeform 18"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6"/>
              <a:stretch>
                <a:fillRect/>
              </a:stretch>
            </a:blipFill>
          </p:spPr>
          <p:txBody>
            <a:bodyPr/>
            <a:lstStyle/>
            <a:p>
              <a:endParaRPr lang="vi-VN"/>
            </a:p>
          </p:txBody>
        </p:sp>
      </p:grpSp>
      <p:grpSp>
        <p:nvGrpSpPr>
          <p:cNvPr id="19" name="Group 19"/>
          <p:cNvGrpSpPr/>
          <p:nvPr/>
        </p:nvGrpSpPr>
        <p:grpSpPr>
          <a:xfrm>
            <a:off x="9429750" y="6434957"/>
            <a:ext cx="157162" cy="271462"/>
            <a:chOff x="0" y="0"/>
            <a:chExt cx="209550" cy="361950"/>
          </a:xfrm>
        </p:grpSpPr>
        <p:sp>
          <p:nvSpPr>
            <p:cNvPr id="20" name="Freeform 20"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6"/>
              <a:stretch>
                <a:fillRect/>
              </a:stretch>
            </a:blipFill>
          </p:spPr>
          <p:txBody>
            <a:bodyPr/>
            <a:lstStyle/>
            <a:p>
              <a:endParaRPr lang="vi-VN"/>
            </a:p>
          </p:txBody>
        </p:sp>
      </p:grpSp>
      <p:grpSp>
        <p:nvGrpSpPr>
          <p:cNvPr id="21" name="Group 21"/>
          <p:cNvGrpSpPr/>
          <p:nvPr/>
        </p:nvGrpSpPr>
        <p:grpSpPr>
          <a:xfrm>
            <a:off x="9429750" y="7429281"/>
            <a:ext cx="157162" cy="271462"/>
            <a:chOff x="0" y="0"/>
            <a:chExt cx="209550" cy="361950"/>
          </a:xfrm>
        </p:grpSpPr>
        <p:sp>
          <p:nvSpPr>
            <p:cNvPr id="22" name="Freeform 22"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6"/>
              <a:stretch>
                <a:fillRect/>
              </a:stretch>
            </a:blipFill>
          </p:spPr>
          <p:txBody>
            <a:bodyPr/>
            <a:lstStyle/>
            <a:p>
              <a:endParaRPr lang="vi-VN"/>
            </a:p>
          </p:txBody>
        </p:sp>
      </p:grpSp>
      <p:grpSp>
        <p:nvGrpSpPr>
          <p:cNvPr id="23" name="Group 23"/>
          <p:cNvGrpSpPr/>
          <p:nvPr/>
        </p:nvGrpSpPr>
        <p:grpSpPr>
          <a:xfrm>
            <a:off x="857250" y="5785094"/>
            <a:ext cx="6344545" cy="14288"/>
            <a:chOff x="0" y="0"/>
            <a:chExt cx="8459394" cy="19050"/>
          </a:xfrm>
        </p:grpSpPr>
        <p:sp>
          <p:nvSpPr>
            <p:cNvPr id="24" name="Freeform 24"/>
            <p:cNvSpPr/>
            <p:nvPr/>
          </p:nvSpPr>
          <p:spPr>
            <a:xfrm>
              <a:off x="0" y="0"/>
              <a:ext cx="8459343" cy="19050"/>
            </a:xfrm>
            <a:custGeom>
              <a:avLst/>
              <a:gdLst/>
              <a:ahLst/>
              <a:cxnLst/>
              <a:rect l="l" t="t" r="r" b="b"/>
              <a:pathLst>
                <a:path w="8459343" h="19050">
                  <a:moveTo>
                    <a:pt x="0" y="0"/>
                  </a:moveTo>
                  <a:lnTo>
                    <a:pt x="8459343" y="0"/>
                  </a:lnTo>
                  <a:lnTo>
                    <a:pt x="8459343" y="19050"/>
                  </a:lnTo>
                  <a:lnTo>
                    <a:pt x="0" y="19050"/>
                  </a:lnTo>
                  <a:close/>
                </a:path>
              </a:pathLst>
            </a:custGeom>
            <a:solidFill>
              <a:srgbClr val="E2E8F0"/>
            </a:solidFill>
          </p:spPr>
          <p:txBody>
            <a:bodyPr/>
            <a:lstStyle/>
            <a:p>
              <a:endParaRPr lang="vi-VN"/>
            </a:p>
          </p:txBody>
        </p:sp>
      </p:grpSp>
      <p:grpSp>
        <p:nvGrpSpPr>
          <p:cNvPr id="25" name="Group 25"/>
          <p:cNvGrpSpPr/>
          <p:nvPr/>
        </p:nvGrpSpPr>
        <p:grpSpPr>
          <a:xfrm>
            <a:off x="7201795" y="5785094"/>
            <a:ext cx="1656455" cy="14288"/>
            <a:chOff x="0" y="0"/>
            <a:chExt cx="2208606" cy="19050"/>
          </a:xfrm>
        </p:grpSpPr>
        <p:sp>
          <p:nvSpPr>
            <p:cNvPr id="26" name="Freeform 26"/>
            <p:cNvSpPr/>
            <p:nvPr/>
          </p:nvSpPr>
          <p:spPr>
            <a:xfrm>
              <a:off x="0" y="0"/>
              <a:ext cx="2208657" cy="19050"/>
            </a:xfrm>
            <a:custGeom>
              <a:avLst/>
              <a:gdLst/>
              <a:ahLst/>
              <a:cxnLst/>
              <a:rect l="l" t="t" r="r" b="b"/>
              <a:pathLst>
                <a:path w="2208657" h="19050">
                  <a:moveTo>
                    <a:pt x="0" y="0"/>
                  </a:moveTo>
                  <a:lnTo>
                    <a:pt x="2208657" y="0"/>
                  </a:lnTo>
                  <a:lnTo>
                    <a:pt x="2208657" y="19050"/>
                  </a:lnTo>
                  <a:lnTo>
                    <a:pt x="0" y="19050"/>
                  </a:lnTo>
                  <a:close/>
                </a:path>
              </a:pathLst>
            </a:custGeom>
            <a:solidFill>
              <a:srgbClr val="E2E8F0"/>
            </a:solidFill>
          </p:spPr>
          <p:txBody>
            <a:bodyPr/>
            <a:lstStyle/>
            <a:p>
              <a:endParaRPr lang="vi-VN"/>
            </a:p>
          </p:txBody>
        </p:sp>
      </p:grpSp>
      <p:grpSp>
        <p:nvGrpSpPr>
          <p:cNvPr id="27" name="Group 27"/>
          <p:cNvGrpSpPr/>
          <p:nvPr/>
        </p:nvGrpSpPr>
        <p:grpSpPr>
          <a:xfrm>
            <a:off x="857250" y="6507956"/>
            <a:ext cx="6344545" cy="14288"/>
            <a:chOff x="0" y="0"/>
            <a:chExt cx="8459394" cy="19050"/>
          </a:xfrm>
        </p:grpSpPr>
        <p:sp>
          <p:nvSpPr>
            <p:cNvPr id="28" name="Freeform 28"/>
            <p:cNvSpPr/>
            <p:nvPr/>
          </p:nvSpPr>
          <p:spPr>
            <a:xfrm>
              <a:off x="0" y="0"/>
              <a:ext cx="8459343" cy="19050"/>
            </a:xfrm>
            <a:custGeom>
              <a:avLst/>
              <a:gdLst/>
              <a:ahLst/>
              <a:cxnLst/>
              <a:rect l="l" t="t" r="r" b="b"/>
              <a:pathLst>
                <a:path w="8459343" h="19050">
                  <a:moveTo>
                    <a:pt x="0" y="0"/>
                  </a:moveTo>
                  <a:lnTo>
                    <a:pt x="8459343" y="0"/>
                  </a:lnTo>
                  <a:lnTo>
                    <a:pt x="8459343" y="19050"/>
                  </a:lnTo>
                  <a:lnTo>
                    <a:pt x="0" y="19050"/>
                  </a:lnTo>
                  <a:close/>
                </a:path>
              </a:pathLst>
            </a:custGeom>
            <a:solidFill>
              <a:srgbClr val="E2E8F0"/>
            </a:solidFill>
          </p:spPr>
          <p:txBody>
            <a:bodyPr/>
            <a:lstStyle/>
            <a:p>
              <a:endParaRPr lang="vi-VN"/>
            </a:p>
          </p:txBody>
        </p:sp>
      </p:grpSp>
      <p:grpSp>
        <p:nvGrpSpPr>
          <p:cNvPr id="29" name="Group 29"/>
          <p:cNvGrpSpPr/>
          <p:nvPr/>
        </p:nvGrpSpPr>
        <p:grpSpPr>
          <a:xfrm>
            <a:off x="7201795" y="6507956"/>
            <a:ext cx="1656455" cy="14288"/>
            <a:chOff x="0" y="0"/>
            <a:chExt cx="2208606" cy="19050"/>
          </a:xfrm>
        </p:grpSpPr>
        <p:sp>
          <p:nvSpPr>
            <p:cNvPr id="30" name="Freeform 30"/>
            <p:cNvSpPr/>
            <p:nvPr/>
          </p:nvSpPr>
          <p:spPr>
            <a:xfrm>
              <a:off x="0" y="0"/>
              <a:ext cx="2208657" cy="19050"/>
            </a:xfrm>
            <a:custGeom>
              <a:avLst/>
              <a:gdLst/>
              <a:ahLst/>
              <a:cxnLst/>
              <a:rect l="l" t="t" r="r" b="b"/>
              <a:pathLst>
                <a:path w="2208657" h="19050">
                  <a:moveTo>
                    <a:pt x="0" y="0"/>
                  </a:moveTo>
                  <a:lnTo>
                    <a:pt x="2208657" y="0"/>
                  </a:lnTo>
                  <a:lnTo>
                    <a:pt x="2208657" y="19050"/>
                  </a:lnTo>
                  <a:lnTo>
                    <a:pt x="0" y="19050"/>
                  </a:lnTo>
                  <a:close/>
                </a:path>
              </a:pathLst>
            </a:custGeom>
            <a:solidFill>
              <a:srgbClr val="E2E8F0"/>
            </a:solidFill>
          </p:spPr>
          <p:txBody>
            <a:bodyPr/>
            <a:lstStyle/>
            <a:p>
              <a:endParaRPr lang="vi-VN"/>
            </a:p>
          </p:txBody>
        </p:sp>
      </p:grpSp>
      <p:grpSp>
        <p:nvGrpSpPr>
          <p:cNvPr id="31" name="Group 31"/>
          <p:cNvGrpSpPr/>
          <p:nvPr/>
        </p:nvGrpSpPr>
        <p:grpSpPr>
          <a:xfrm>
            <a:off x="857250" y="7230808"/>
            <a:ext cx="6344545" cy="14288"/>
            <a:chOff x="0" y="0"/>
            <a:chExt cx="8459394" cy="19050"/>
          </a:xfrm>
        </p:grpSpPr>
        <p:sp>
          <p:nvSpPr>
            <p:cNvPr id="32" name="Freeform 32"/>
            <p:cNvSpPr/>
            <p:nvPr/>
          </p:nvSpPr>
          <p:spPr>
            <a:xfrm>
              <a:off x="0" y="0"/>
              <a:ext cx="8459343" cy="19050"/>
            </a:xfrm>
            <a:custGeom>
              <a:avLst/>
              <a:gdLst/>
              <a:ahLst/>
              <a:cxnLst/>
              <a:rect l="l" t="t" r="r" b="b"/>
              <a:pathLst>
                <a:path w="8459343" h="19050">
                  <a:moveTo>
                    <a:pt x="0" y="0"/>
                  </a:moveTo>
                  <a:lnTo>
                    <a:pt x="8459343" y="0"/>
                  </a:lnTo>
                  <a:lnTo>
                    <a:pt x="8459343" y="19050"/>
                  </a:lnTo>
                  <a:lnTo>
                    <a:pt x="0" y="19050"/>
                  </a:lnTo>
                  <a:close/>
                </a:path>
              </a:pathLst>
            </a:custGeom>
            <a:solidFill>
              <a:srgbClr val="E2E8F0"/>
            </a:solidFill>
          </p:spPr>
          <p:txBody>
            <a:bodyPr/>
            <a:lstStyle/>
            <a:p>
              <a:endParaRPr lang="vi-VN"/>
            </a:p>
          </p:txBody>
        </p:sp>
      </p:grpSp>
      <p:grpSp>
        <p:nvGrpSpPr>
          <p:cNvPr id="33" name="Group 33"/>
          <p:cNvGrpSpPr/>
          <p:nvPr/>
        </p:nvGrpSpPr>
        <p:grpSpPr>
          <a:xfrm>
            <a:off x="7201795" y="7230808"/>
            <a:ext cx="1656455" cy="14288"/>
            <a:chOff x="0" y="0"/>
            <a:chExt cx="2208606" cy="19050"/>
          </a:xfrm>
        </p:grpSpPr>
        <p:sp>
          <p:nvSpPr>
            <p:cNvPr id="34" name="Freeform 34"/>
            <p:cNvSpPr/>
            <p:nvPr/>
          </p:nvSpPr>
          <p:spPr>
            <a:xfrm>
              <a:off x="0" y="0"/>
              <a:ext cx="2208657" cy="19050"/>
            </a:xfrm>
            <a:custGeom>
              <a:avLst/>
              <a:gdLst/>
              <a:ahLst/>
              <a:cxnLst/>
              <a:rect l="l" t="t" r="r" b="b"/>
              <a:pathLst>
                <a:path w="2208657" h="19050">
                  <a:moveTo>
                    <a:pt x="0" y="0"/>
                  </a:moveTo>
                  <a:lnTo>
                    <a:pt x="2208657" y="0"/>
                  </a:lnTo>
                  <a:lnTo>
                    <a:pt x="2208657" y="19050"/>
                  </a:lnTo>
                  <a:lnTo>
                    <a:pt x="0" y="19050"/>
                  </a:lnTo>
                  <a:close/>
                </a:path>
              </a:pathLst>
            </a:custGeom>
            <a:solidFill>
              <a:srgbClr val="E2E8F0"/>
            </a:solidFill>
          </p:spPr>
          <p:txBody>
            <a:bodyPr/>
            <a:lstStyle/>
            <a:p>
              <a:endParaRPr lang="vi-VN"/>
            </a:p>
          </p:txBody>
        </p:sp>
      </p:grpSp>
      <p:sp>
        <p:nvSpPr>
          <p:cNvPr id="35" name="TextBox 35"/>
          <p:cNvSpPr txBox="1"/>
          <p:nvPr/>
        </p:nvSpPr>
        <p:spPr>
          <a:xfrm>
            <a:off x="857250" y="857250"/>
            <a:ext cx="17402175" cy="700088"/>
          </a:xfrm>
          <a:prstGeom prst="rect">
            <a:avLst/>
          </a:prstGeom>
        </p:spPr>
        <p:txBody>
          <a:bodyPr lIns="0" tIns="0" rIns="0" bIns="0" rtlCol="0" anchor="t">
            <a:spAutoFit/>
          </a:bodyPr>
          <a:lstStyle/>
          <a:p>
            <a:pPr algn="l">
              <a:lnSpc>
                <a:spcPts val="5130"/>
              </a:lnSpc>
            </a:pPr>
            <a:r>
              <a:rPr lang="en-US" sz="4275" b="1">
                <a:solidFill>
                  <a:srgbClr val="164673"/>
                </a:solidFill>
                <a:latin typeface="Montserrat Bold"/>
                <a:ea typeface="Montserrat Bold"/>
                <a:cs typeface="Montserrat Bold"/>
                <a:sym typeface="Montserrat Bold"/>
              </a:rPr>
              <a:t>HẠN CHẾ &amp; HƯỚNG PHÁT TRIỂN</a:t>
            </a:r>
          </a:p>
        </p:txBody>
      </p:sp>
      <p:grpSp>
        <p:nvGrpSpPr>
          <p:cNvPr id="36" name="Group 36"/>
          <p:cNvGrpSpPr/>
          <p:nvPr/>
        </p:nvGrpSpPr>
        <p:grpSpPr>
          <a:xfrm>
            <a:off x="857250" y="1671638"/>
            <a:ext cx="16573500" cy="28575"/>
            <a:chOff x="0" y="0"/>
            <a:chExt cx="22098000" cy="38100"/>
          </a:xfrm>
        </p:grpSpPr>
        <p:sp>
          <p:nvSpPr>
            <p:cNvPr id="37" name="Freeform 37"/>
            <p:cNvSpPr/>
            <p:nvPr/>
          </p:nvSpPr>
          <p:spPr>
            <a:xfrm>
              <a:off x="0" y="0"/>
              <a:ext cx="22098000" cy="38100"/>
            </a:xfrm>
            <a:custGeom>
              <a:avLst/>
              <a:gdLst/>
              <a:ahLst/>
              <a:cxnLst/>
              <a:rect l="l" t="t" r="r" b="b"/>
              <a:pathLst>
                <a:path w="22098000" h="38100">
                  <a:moveTo>
                    <a:pt x="0" y="0"/>
                  </a:moveTo>
                  <a:lnTo>
                    <a:pt x="22098000" y="0"/>
                  </a:lnTo>
                  <a:lnTo>
                    <a:pt x="22098000" y="38100"/>
                  </a:lnTo>
                  <a:lnTo>
                    <a:pt x="0" y="38100"/>
                  </a:lnTo>
                  <a:close/>
                </a:path>
              </a:pathLst>
            </a:custGeom>
            <a:solidFill>
              <a:srgbClr val="48A6D8"/>
            </a:solidFill>
          </p:spPr>
          <p:txBody>
            <a:bodyPr/>
            <a:lstStyle/>
            <a:p>
              <a:endParaRPr lang="vi-VN"/>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grpSp>
        <p:nvGrpSpPr>
          <p:cNvPr id="4" name="Group 4"/>
          <p:cNvGrpSpPr/>
          <p:nvPr/>
        </p:nvGrpSpPr>
        <p:grpSpPr>
          <a:xfrm>
            <a:off x="857250" y="3237462"/>
            <a:ext cx="5238826" cy="6192288"/>
            <a:chOff x="0" y="0"/>
            <a:chExt cx="6985102" cy="8256384"/>
          </a:xfrm>
        </p:grpSpPr>
        <p:sp>
          <p:nvSpPr>
            <p:cNvPr id="5" name="Freeform 5" descr="image.png"/>
            <p:cNvSpPr/>
            <p:nvPr/>
          </p:nvSpPr>
          <p:spPr>
            <a:xfrm>
              <a:off x="0" y="0"/>
              <a:ext cx="6985127" cy="8256397"/>
            </a:xfrm>
            <a:custGeom>
              <a:avLst/>
              <a:gdLst/>
              <a:ahLst/>
              <a:cxnLst/>
              <a:rect l="l" t="t" r="r" b="b"/>
              <a:pathLst>
                <a:path w="6985127" h="8256397">
                  <a:moveTo>
                    <a:pt x="0" y="0"/>
                  </a:moveTo>
                  <a:lnTo>
                    <a:pt x="6985127" y="0"/>
                  </a:lnTo>
                  <a:lnTo>
                    <a:pt x="6985127" y="8256397"/>
                  </a:lnTo>
                  <a:lnTo>
                    <a:pt x="0" y="8256397"/>
                  </a:lnTo>
                  <a:lnTo>
                    <a:pt x="0" y="0"/>
                  </a:lnTo>
                  <a:close/>
                </a:path>
              </a:pathLst>
            </a:custGeom>
            <a:blipFill>
              <a:blip r:embed="rId4"/>
              <a:stretch>
                <a:fillRect b="-47"/>
              </a:stretch>
            </a:blipFill>
          </p:spPr>
          <p:txBody>
            <a:bodyPr/>
            <a:lstStyle/>
            <a:p>
              <a:endParaRPr lang="vi-VN"/>
            </a:p>
          </p:txBody>
        </p:sp>
      </p:grpSp>
      <p:grpSp>
        <p:nvGrpSpPr>
          <p:cNvPr id="6" name="Group 6"/>
          <p:cNvGrpSpPr/>
          <p:nvPr/>
        </p:nvGrpSpPr>
        <p:grpSpPr>
          <a:xfrm>
            <a:off x="6524701" y="3237462"/>
            <a:ext cx="5238826" cy="6192288"/>
            <a:chOff x="0" y="0"/>
            <a:chExt cx="6985102" cy="8256384"/>
          </a:xfrm>
        </p:grpSpPr>
        <p:sp>
          <p:nvSpPr>
            <p:cNvPr id="7" name="Freeform 7" descr="image.png"/>
            <p:cNvSpPr/>
            <p:nvPr/>
          </p:nvSpPr>
          <p:spPr>
            <a:xfrm>
              <a:off x="0" y="0"/>
              <a:ext cx="6985127" cy="8256397"/>
            </a:xfrm>
            <a:custGeom>
              <a:avLst/>
              <a:gdLst/>
              <a:ahLst/>
              <a:cxnLst/>
              <a:rect l="l" t="t" r="r" b="b"/>
              <a:pathLst>
                <a:path w="6985127" h="8256397">
                  <a:moveTo>
                    <a:pt x="0" y="0"/>
                  </a:moveTo>
                  <a:lnTo>
                    <a:pt x="6985127" y="0"/>
                  </a:lnTo>
                  <a:lnTo>
                    <a:pt x="6985127" y="8256397"/>
                  </a:lnTo>
                  <a:lnTo>
                    <a:pt x="0" y="8256397"/>
                  </a:lnTo>
                  <a:lnTo>
                    <a:pt x="0" y="0"/>
                  </a:lnTo>
                  <a:close/>
                </a:path>
              </a:pathLst>
            </a:custGeom>
            <a:blipFill>
              <a:blip r:embed="rId5"/>
              <a:stretch>
                <a:fillRect r="-224"/>
              </a:stretch>
            </a:blipFill>
          </p:spPr>
          <p:txBody>
            <a:bodyPr/>
            <a:lstStyle/>
            <a:p>
              <a:endParaRPr lang="vi-VN"/>
            </a:p>
          </p:txBody>
        </p:sp>
      </p:grpSp>
      <p:grpSp>
        <p:nvGrpSpPr>
          <p:cNvPr id="8" name="Group 8"/>
          <p:cNvGrpSpPr/>
          <p:nvPr/>
        </p:nvGrpSpPr>
        <p:grpSpPr>
          <a:xfrm>
            <a:off x="12192152" y="3237462"/>
            <a:ext cx="5238826" cy="6192288"/>
            <a:chOff x="0" y="0"/>
            <a:chExt cx="6985102" cy="8256384"/>
          </a:xfrm>
        </p:grpSpPr>
        <p:sp>
          <p:nvSpPr>
            <p:cNvPr id="9" name="Freeform 9" descr="image.png"/>
            <p:cNvSpPr/>
            <p:nvPr/>
          </p:nvSpPr>
          <p:spPr>
            <a:xfrm>
              <a:off x="0" y="0"/>
              <a:ext cx="6985127" cy="8256397"/>
            </a:xfrm>
            <a:custGeom>
              <a:avLst/>
              <a:gdLst/>
              <a:ahLst/>
              <a:cxnLst/>
              <a:rect l="l" t="t" r="r" b="b"/>
              <a:pathLst>
                <a:path w="6985127" h="8256397">
                  <a:moveTo>
                    <a:pt x="0" y="0"/>
                  </a:moveTo>
                  <a:lnTo>
                    <a:pt x="6985127" y="0"/>
                  </a:lnTo>
                  <a:lnTo>
                    <a:pt x="6985127" y="8256397"/>
                  </a:lnTo>
                  <a:lnTo>
                    <a:pt x="0" y="8256397"/>
                  </a:lnTo>
                  <a:lnTo>
                    <a:pt x="0" y="0"/>
                  </a:lnTo>
                  <a:close/>
                </a:path>
              </a:pathLst>
            </a:custGeom>
            <a:blipFill>
              <a:blip r:embed="rId6"/>
              <a:stretch>
                <a:fillRect r="-224"/>
              </a:stretch>
            </a:blipFill>
          </p:spPr>
          <p:txBody>
            <a:bodyPr/>
            <a:lstStyle/>
            <a:p>
              <a:endParaRPr lang="vi-VN"/>
            </a:p>
          </p:txBody>
        </p:sp>
      </p:grpSp>
      <p:sp>
        <p:nvSpPr>
          <p:cNvPr id="10" name="TextBox 10"/>
          <p:cNvSpPr txBox="1"/>
          <p:nvPr/>
        </p:nvSpPr>
        <p:spPr>
          <a:xfrm>
            <a:off x="857250" y="1985962"/>
            <a:ext cx="16573500" cy="929391"/>
          </a:xfrm>
          <a:prstGeom prst="rect">
            <a:avLst/>
          </a:prstGeom>
        </p:spPr>
        <p:txBody>
          <a:bodyPr lIns="0" tIns="0" rIns="0" bIns="0" rtlCol="0" anchor="t">
            <a:spAutoFit/>
          </a:bodyPr>
          <a:lstStyle/>
          <a:p>
            <a:pPr algn="ctr">
              <a:lnSpc>
                <a:spcPts val="3887"/>
              </a:lnSpc>
            </a:pPr>
            <a:r>
              <a:rPr lang="en-US" sz="2025">
                <a:solidFill>
                  <a:srgbClr val="475569"/>
                </a:solidFill>
                <a:latin typeface="Open Sans"/>
                <a:ea typeface="Open Sans"/>
                <a:cs typeface="Open Sans"/>
                <a:sym typeface="Open Sans"/>
              </a:rPr>
              <a:t>Nhóm đã mô phỏng và cải tiến kiến trúc của Nalla (2025), áp dụng thành công vào phát hiện bất thường dữ liệu taxi NYC với 3 kết quả cốt lõi:</a:t>
            </a:r>
          </a:p>
        </p:txBody>
      </p:sp>
      <p:grpSp>
        <p:nvGrpSpPr>
          <p:cNvPr id="11" name="Group 11"/>
          <p:cNvGrpSpPr/>
          <p:nvPr/>
        </p:nvGrpSpPr>
        <p:grpSpPr>
          <a:xfrm>
            <a:off x="2976486" y="3680374"/>
            <a:ext cx="1000125" cy="1000125"/>
            <a:chOff x="0" y="0"/>
            <a:chExt cx="1333500" cy="1333500"/>
          </a:xfrm>
        </p:grpSpPr>
        <p:sp>
          <p:nvSpPr>
            <p:cNvPr id="12" name="Freeform 12" descr="image.png"/>
            <p:cNvSpPr/>
            <p:nvPr/>
          </p:nvSpPr>
          <p:spPr>
            <a:xfrm>
              <a:off x="0" y="0"/>
              <a:ext cx="1333500" cy="1333500"/>
            </a:xfrm>
            <a:custGeom>
              <a:avLst/>
              <a:gdLst/>
              <a:ahLst/>
              <a:cxnLst/>
              <a:rect l="l" t="t" r="r" b="b"/>
              <a:pathLst>
                <a:path w="1333500" h="1333500">
                  <a:moveTo>
                    <a:pt x="0" y="0"/>
                  </a:moveTo>
                  <a:lnTo>
                    <a:pt x="1333500" y="0"/>
                  </a:lnTo>
                  <a:lnTo>
                    <a:pt x="1333500" y="1333500"/>
                  </a:lnTo>
                  <a:lnTo>
                    <a:pt x="0" y="1333500"/>
                  </a:lnTo>
                  <a:lnTo>
                    <a:pt x="0" y="0"/>
                  </a:lnTo>
                  <a:close/>
                </a:path>
              </a:pathLst>
            </a:custGeom>
            <a:blipFill>
              <a:blip r:embed="rId7"/>
              <a:stretch>
                <a:fillRect/>
              </a:stretch>
            </a:blipFill>
          </p:spPr>
          <p:txBody>
            <a:bodyPr/>
            <a:lstStyle/>
            <a:p>
              <a:endParaRPr lang="vi-VN"/>
            </a:p>
          </p:txBody>
        </p:sp>
      </p:grpSp>
      <p:sp>
        <p:nvSpPr>
          <p:cNvPr id="13" name="TextBox 13"/>
          <p:cNvSpPr txBox="1"/>
          <p:nvPr/>
        </p:nvSpPr>
        <p:spPr>
          <a:xfrm>
            <a:off x="1191339" y="4966249"/>
            <a:ext cx="4570647" cy="828675"/>
          </a:xfrm>
          <a:prstGeom prst="rect">
            <a:avLst/>
          </a:prstGeom>
        </p:spPr>
        <p:txBody>
          <a:bodyPr lIns="0" tIns="0" rIns="0" bIns="0" rtlCol="0" anchor="t">
            <a:spAutoFit/>
          </a:bodyPr>
          <a:lstStyle/>
          <a:p>
            <a:pPr algn="ctr">
              <a:lnSpc>
                <a:spcPts val="3240"/>
              </a:lnSpc>
            </a:pPr>
            <a:r>
              <a:rPr lang="en-US" sz="2700">
                <a:solidFill>
                  <a:srgbClr val="164673"/>
                </a:solidFill>
                <a:latin typeface="Montserrat"/>
                <a:ea typeface="Montserrat"/>
                <a:cs typeface="Montserrat"/>
                <a:sym typeface="Montserrat"/>
              </a:rPr>
              <a:t>Hiệu năng thời gian thực</a:t>
            </a:r>
          </a:p>
        </p:txBody>
      </p:sp>
      <p:sp>
        <p:nvSpPr>
          <p:cNvPr id="14" name="TextBox 14"/>
          <p:cNvSpPr txBox="1"/>
          <p:nvPr/>
        </p:nvSpPr>
        <p:spPr>
          <a:xfrm>
            <a:off x="1300162" y="5894937"/>
            <a:ext cx="4353001" cy="1211313"/>
          </a:xfrm>
          <a:prstGeom prst="rect">
            <a:avLst/>
          </a:prstGeom>
        </p:spPr>
        <p:txBody>
          <a:bodyPr lIns="0" tIns="0" rIns="0" bIns="0" rtlCol="0" anchor="t">
            <a:spAutoFit/>
          </a:bodyPr>
          <a:lstStyle/>
          <a:p>
            <a:pPr algn="ctr">
              <a:lnSpc>
                <a:spcPts val="3456"/>
              </a:lnSpc>
            </a:pPr>
            <a:r>
              <a:rPr lang="en-US" sz="1800">
                <a:solidFill>
                  <a:srgbClr val="64748B"/>
                </a:solidFill>
                <a:latin typeface="Open Sans"/>
                <a:ea typeface="Open Sans"/>
                <a:cs typeface="Open Sans"/>
                <a:sym typeface="Open Sans"/>
              </a:rPr>
              <a:t>Đạt Throughput TB ~400 rows/s (peak ~800), Latency TB 230ms, vượt xa kiến trúc batch truyền thống.</a:t>
            </a:r>
          </a:p>
        </p:txBody>
      </p:sp>
      <p:grpSp>
        <p:nvGrpSpPr>
          <p:cNvPr id="15" name="Group 15"/>
          <p:cNvGrpSpPr/>
          <p:nvPr/>
        </p:nvGrpSpPr>
        <p:grpSpPr>
          <a:xfrm>
            <a:off x="8643938" y="3680374"/>
            <a:ext cx="1000125" cy="1000125"/>
            <a:chOff x="0" y="0"/>
            <a:chExt cx="1333500" cy="1333500"/>
          </a:xfrm>
        </p:grpSpPr>
        <p:sp>
          <p:nvSpPr>
            <p:cNvPr id="16" name="Freeform 16" descr="image.png"/>
            <p:cNvSpPr/>
            <p:nvPr/>
          </p:nvSpPr>
          <p:spPr>
            <a:xfrm>
              <a:off x="0" y="0"/>
              <a:ext cx="1333500" cy="1333500"/>
            </a:xfrm>
            <a:custGeom>
              <a:avLst/>
              <a:gdLst/>
              <a:ahLst/>
              <a:cxnLst/>
              <a:rect l="l" t="t" r="r" b="b"/>
              <a:pathLst>
                <a:path w="1333500" h="1333500">
                  <a:moveTo>
                    <a:pt x="0" y="0"/>
                  </a:moveTo>
                  <a:lnTo>
                    <a:pt x="1333500" y="0"/>
                  </a:lnTo>
                  <a:lnTo>
                    <a:pt x="1333500" y="1333500"/>
                  </a:lnTo>
                  <a:lnTo>
                    <a:pt x="0" y="1333500"/>
                  </a:lnTo>
                  <a:lnTo>
                    <a:pt x="0" y="0"/>
                  </a:lnTo>
                  <a:close/>
                </a:path>
              </a:pathLst>
            </a:custGeom>
            <a:blipFill>
              <a:blip r:embed="rId8"/>
              <a:stretch>
                <a:fillRect/>
              </a:stretch>
            </a:blipFill>
          </p:spPr>
          <p:txBody>
            <a:bodyPr/>
            <a:lstStyle/>
            <a:p>
              <a:endParaRPr lang="vi-VN"/>
            </a:p>
          </p:txBody>
        </p:sp>
      </p:grpSp>
      <p:sp>
        <p:nvSpPr>
          <p:cNvPr id="17" name="TextBox 17"/>
          <p:cNvSpPr txBox="1"/>
          <p:nvPr/>
        </p:nvSpPr>
        <p:spPr>
          <a:xfrm>
            <a:off x="7186251" y="4966249"/>
            <a:ext cx="3915489" cy="414338"/>
          </a:xfrm>
          <a:prstGeom prst="rect">
            <a:avLst/>
          </a:prstGeom>
        </p:spPr>
        <p:txBody>
          <a:bodyPr lIns="0" tIns="0" rIns="0" bIns="0" rtlCol="0" anchor="t">
            <a:spAutoFit/>
          </a:bodyPr>
          <a:lstStyle/>
          <a:p>
            <a:pPr algn="ctr">
              <a:lnSpc>
                <a:spcPts val="3240"/>
              </a:lnSpc>
            </a:pPr>
            <a:r>
              <a:rPr lang="en-US" sz="2700">
                <a:solidFill>
                  <a:srgbClr val="164673"/>
                </a:solidFill>
                <a:latin typeface="Montserrat"/>
                <a:ea typeface="Montserrat"/>
                <a:cs typeface="Montserrat"/>
                <a:sym typeface="Montserrat"/>
              </a:rPr>
              <a:t>Chất lượng phát hiện</a:t>
            </a:r>
          </a:p>
        </p:txBody>
      </p:sp>
      <p:sp>
        <p:nvSpPr>
          <p:cNvPr id="18" name="TextBox 18"/>
          <p:cNvSpPr txBox="1"/>
          <p:nvPr/>
        </p:nvSpPr>
        <p:spPr>
          <a:xfrm>
            <a:off x="6967614" y="5480599"/>
            <a:ext cx="4353001" cy="1211313"/>
          </a:xfrm>
          <a:prstGeom prst="rect">
            <a:avLst/>
          </a:prstGeom>
        </p:spPr>
        <p:txBody>
          <a:bodyPr lIns="0" tIns="0" rIns="0" bIns="0" rtlCol="0" anchor="t">
            <a:spAutoFit/>
          </a:bodyPr>
          <a:lstStyle/>
          <a:p>
            <a:pPr algn="ctr">
              <a:lnSpc>
                <a:spcPts val="3456"/>
              </a:lnSpc>
            </a:pPr>
            <a:r>
              <a:rPr lang="en-US" sz="1800">
                <a:solidFill>
                  <a:srgbClr val="64748B"/>
                </a:solidFill>
                <a:latin typeface="Open Sans"/>
                <a:ea typeface="Open Sans"/>
                <a:cs typeface="Open Sans"/>
                <a:sym typeface="Open Sans"/>
              </a:rPr>
              <a:t>Cohen's d = 2.65 minh chứng khả năng tách biệt xuất sắc; mô hình ML tự học được 33.1% luật nghiệp vụ.</a:t>
            </a:r>
          </a:p>
        </p:txBody>
      </p:sp>
      <p:grpSp>
        <p:nvGrpSpPr>
          <p:cNvPr id="19" name="Group 19"/>
          <p:cNvGrpSpPr/>
          <p:nvPr/>
        </p:nvGrpSpPr>
        <p:grpSpPr>
          <a:xfrm>
            <a:off x="14311389" y="3680374"/>
            <a:ext cx="1000125" cy="1000125"/>
            <a:chOff x="0" y="0"/>
            <a:chExt cx="1333500" cy="1333500"/>
          </a:xfrm>
        </p:grpSpPr>
        <p:sp>
          <p:nvSpPr>
            <p:cNvPr id="20" name="Freeform 20" descr="image.png"/>
            <p:cNvSpPr/>
            <p:nvPr/>
          </p:nvSpPr>
          <p:spPr>
            <a:xfrm>
              <a:off x="0" y="0"/>
              <a:ext cx="1333500" cy="1333500"/>
            </a:xfrm>
            <a:custGeom>
              <a:avLst/>
              <a:gdLst/>
              <a:ahLst/>
              <a:cxnLst/>
              <a:rect l="l" t="t" r="r" b="b"/>
              <a:pathLst>
                <a:path w="1333500" h="1333500">
                  <a:moveTo>
                    <a:pt x="0" y="0"/>
                  </a:moveTo>
                  <a:lnTo>
                    <a:pt x="1333500" y="0"/>
                  </a:lnTo>
                  <a:lnTo>
                    <a:pt x="1333500" y="1333500"/>
                  </a:lnTo>
                  <a:lnTo>
                    <a:pt x="0" y="1333500"/>
                  </a:lnTo>
                  <a:lnTo>
                    <a:pt x="0" y="0"/>
                  </a:lnTo>
                  <a:close/>
                </a:path>
              </a:pathLst>
            </a:custGeom>
            <a:blipFill>
              <a:blip r:embed="rId9"/>
              <a:stretch>
                <a:fillRect/>
              </a:stretch>
            </a:blipFill>
          </p:spPr>
          <p:txBody>
            <a:bodyPr/>
            <a:lstStyle/>
            <a:p>
              <a:endParaRPr lang="vi-VN"/>
            </a:p>
          </p:txBody>
        </p:sp>
      </p:grpSp>
      <p:sp>
        <p:nvSpPr>
          <p:cNvPr id="21" name="TextBox 21"/>
          <p:cNvSpPr txBox="1"/>
          <p:nvPr/>
        </p:nvSpPr>
        <p:spPr>
          <a:xfrm>
            <a:off x="12786198" y="4966249"/>
            <a:ext cx="4050506" cy="414338"/>
          </a:xfrm>
          <a:prstGeom prst="rect">
            <a:avLst/>
          </a:prstGeom>
        </p:spPr>
        <p:txBody>
          <a:bodyPr lIns="0" tIns="0" rIns="0" bIns="0" rtlCol="0" anchor="t">
            <a:spAutoFit/>
          </a:bodyPr>
          <a:lstStyle/>
          <a:p>
            <a:pPr algn="ctr">
              <a:lnSpc>
                <a:spcPts val="3240"/>
              </a:lnSpc>
            </a:pPr>
            <a:r>
              <a:rPr lang="en-US" sz="2700">
                <a:solidFill>
                  <a:srgbClr val="164673"/>
                </a:solidFill>
                <a:latin typeface="Montserrat"/>
                <a:ea typeface="Montserrat"/>
                <a:cs typeface="Montserrat"/>
                <a:sym typeface="Montserrat"/>
              </a:rPr>
              <a:t>Sản phẩm hoàn chỉnh</a:t>
            </a:r>
          </a:p>
        </p:txBody>
      </p:sp>
      <p:sp>
        <p:nvSpPr>
          <p:cNvPr id="22" name="TextBox 22"/>
          <p:cNvSpPr txBox="1"/>
          <p:nvPr/>
        </p:nvSpPr>
        <p:spPr>
          <a:xfrm>
            <a:off x="12635065" y="5480599"/>
            <a:ext cx="4353001" cy="1211313"/>
          </a:xfrm>
          <a:prstGeom prst="rect">
            <a:avLst/>
          </a:prstGeom>
        </p:spPr>
        <p:txBody>
          <a:bodyPr lIns="0" tIns="0" rIns="0" bIns="0" rtlCol="0" anchor="t">
            <a:spAutoFit/>
          </a:bodyPr>
          <a:lstStyle/>
          <a:p>
            <a:pPr algn="ctr">
              <a:lnSpc>
                <a:spcPts val="3456"/>
              </a:lnSpc>
            </a:pPr>
            <a:r>
              <a:rPr lang="en-US" sz="1800">
                <a:solidFill>
                  <a:srgbClr val="64748B"/>
                </a:solidFill>
                <a:latin typeface="Open Sans"/>
                <a:ea typeface="Open Sans"/>
                <a:cs typeface="Open Sans"/>
                <a:sym typeface="Open Sans"/>
              </a:rPr>
              <a:t>Phát hiện 8 loại bất thường đa dạng. Mã nguồn mở MIT, sẵn sàng deploy 1-click kèm Ground Truth 4M bản ghi.</a:t>
            </a:r>
          </a:p>
        </p:txBody>
      </p:sp>
      <p:grpSp>
        <p:nvGrpSpPr>
          <p:cNvPr id="23" name="Group 23"/>
          <p:cNvGrpSpPr/>
          <p:nvPr/>
        </p:nvGrpSpPr>
        <p:grpSpPr>
          <a:xfrm>
            <a:off x="3247949" y="3951837"/>
            <a:ext cx="457200" cy="457200"/>
            <a:chOff x="0" y="0"/>
            <a:chExt cx="609600" cy="609600"/>
          </a:xfrm>
        </p:grpSpPr>
        <p:sp>
          <p:nvSpPr>
            <p:cNvPr id="24" name="Freeform 24" descr="image.png"/>
            <p:cNvSpPr/>
            <p:nvPr/>
          </p:nvSpPr>
          <p:spPr>
            <a:xfrm>
              <a:off x="0" y="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blipFill>
              <a:blip r:embed="rId10"/>
              <a:stretch>
                <a:fillRect/>
              </a:stretch>
            </a:blipFill>
          </p:spPr>
          <p:txBody>
            <a:bodyPr/>
            <a:lstStyle/>
            <a:p>
              <a:endParaRPr lang="vi-VN"/>
            </a:p>
          </p:txBody>
        </p:sp>
      </p:grpSp>
      <p:grpSp>
        <p:nvGrpSpPr>
          <p:cNvPr id="25" name="Group 25"/>
          <p:cNvGrpSpPr/>
          <p:nvPr/>
        </p:nvGrpSpPr>
        <p:grpSpPr>
          <a:xfrm>
            <a:off x="8943975" y="3951837"/>
            <a:ext cx="400050" cy="457200"/>
            <a:chOff x="0" y="0"/>
            <a:chExt cx="533400" cy="609600"/>
          </a:xfrm>
        </p:grpSpPr>
        <p:sp>
          <p:nvSpPr>
            <p:cNvPr id="26" name="Freeform 26" descr="image.png"/>
            <p:cNvSpPr/>
            <p:nvPr/>
          </p:nvSpPr>
          <p:spPr>
            <a:xfrm>
              <a:off x="0" y="0"/>
              <a:ext cx="533400" cy="609600"/>
            </a:xfrm>
            <a:custGeom>
              <a:avLst/>
              <a:gdLst/>
              <a:ahLst/>
              <a:cxnLst/>
              <a:rect l="l" t="t" r="r" b="b"/>
              <a:pathLst>
                <a:path w="533400" h="609600">
                  <a:moveTo>
                    <a:pt x="0" y="0"/>
                  </a:moveTo>
                  <a:lnTo>
                    <a:pt x="533400" y="0"/>
                  </a:lnTo>
                  <a:lnTo>
                    <a:pt x="533400" y="609600"/>
                  </a:lnTo>
                  <a:lnTo>
                    <a:pt x="0" y="609600"/>
                  </a:lnTo>
                  <a:lnTo>
                    <a:pt x="0" y="0"/>
                  </a:lnTo>
                  <a:close/>
                </a:path>
              </a:pathLst>
            </a:custGeom>
            <a:blipFill>
              <a:blip r:embed="rId11"/>
              <a:stretch>
                <a:fillRect r="-433"/>
              </a:stretch>
            </a:blipFill>
          </p:spPr>
          <p:txBody>
            <a:bodyPr/>
            <a:lstStyle/>
            <a:p>
              <a:endParaRPr lang="vi-VN"/>
            </a:p>
          </p:txBody>
        </p:sp>
      </p:grpSp>
      <p:grpSp>
        <p:nvGrpSpPr>
          <p:cNvPr id="27" name="Group 27"/>
          <p:cNvGrpSpPr/>
          <p:nvPr/>
        </p:nvGrpSpPr>
        <p:grpSpPr>
          <a:xfrm>
            <a:off x="14525701" y="3951837"/>
            <a:ext cx="571500" cy="457200"/>
            <a:chOff x="0" y="0"/>
            <a:chExt cx="762000" cy="609600"/>
          </a:xfrm>
        </p:grpSpPr>
        <p:sp>
          <p:nvSpPr>
            <p:cNvPr id="28" name="Freeform 28" descr="image.png"/>
            <p:cNvSpPr/>
            <p:nvPr/>
          </p:nvSpPr>
          <p:spPr>
            <a:xfrm>
              <a:off x="0" y="0"/>
              <a:ext cx="762000" cy="609600"/>
            </a:xfrm>
            <a:custGeom>
              <a:avLst/>
              <a:gdLst/>
              <a:ahLst/>
              <a:cxnLst/>
              <a:rect l="l" t="t" r="r" b="b"/>
              <a:pathLst>
                <a:path w="762000" h="609600">
                  <a:moveTo>
                    <a:pt x="0" y="0"/>
                  </a:moveTo>
                  <a:lnTo>
                    <a:pt x="762000" y="0"/>
                  </a:lnTo>
                  <a:lnTo>
                    <a:pt x="762000" y="609600"/>
                  </a:lnTo>
                  <a:lnTo>
                    <a:pt x="0" y="609600"/>
                  </a:lnTo>
                  <a:lnTo>
                    <a:pt x="0" y="0"/>
                  </a:lnTo>
                  <a:close/>
                </a:path>
              </a:pathLst>
            </a:custGeom>
            <a:blipFill>
              <a:blip r:embed="rId12"/>
              <a:stretch>
                <a:fillRect b="-610"/>
              </a:stretch>
            </a:blipFill>
          </p:spPr>
          <p:txBody>
            <a:bodyPr/>
            <a:lstStyle/>
            <a:p>
              <a:endParaRPr lang="vi-VN"/>
            </a:p>
          </p:txBody>
        </p:sp>
      </p:grpSp>
      <p:sp>
        <p:nvSpPr>
          <p:cNvPr id="29" name="TextBox 29"/>
          <p:cNvSpPr txBox="1"/>
          <p:nvPr/>
        </p:nvSpPr>
        <p:spPr>
          <a:xfrm>
            <a:off x="857250" y="857250"/>
            <a:ext cx="17402175" cy="700088"/>
          </a:xfrm>
          <a:prstGeom prst="rect">
            <a:avLst/>
          </a:prstGeom>
        </p:spPr>
        <p:txBody>
          <a:bodyPr lIns="0" tIns="0" rIns="0" bIns="0" rtlCol="0" anchor="t">
            <a:spAutoFit/>
          </a:bodyPr>
          <a:lstStyle/>
          <a:p>
            <a:pPr algn="l">
              <a:lnSpc>
                <a:spcPts val="5130"/>
              </a:lnSpc>
            </a:pPr>
            <a:r>
              <a:rPr lang="en-US" sz="4275" b="1">
                <a:solidFill>
                  <a:srgbClr val="164673"/>
                </a:solidFill>
                <a:latin typeface="Montserrat Bold"/>
                <a:ea typeface="Montserrat Bold"/>
                <a:cs typeface="Montserrat Bold"/>
                <a:sym typeface="Montserrat Bold"/>
              </a:rPr>
              <a:t>KẾT LUẬN</a:t>
            </a:r>
          </a:p>
        </p:txBody>
      </p:sp>
      <p:grpSp>
        <p:nvGrpSpPr>
          <p:cNvPr id="30" name="Group 30"/>
          <p:cNvGrpSpPr/>
          <p:nvPr/>
        </p:nvGrpSpPr>
        <p:grpSpPr>
          <a:xfrm>
            <a:off x="857250" y="1671638"/>
            <a:ext cx="16573500" cy="28575"/>
            <a:chOff x="0" y="0"/>
            <a:chExt cx="22098000" cy="38100"/>
          </a:xfrm>
        </p:grpSpPr>
        <p:sp>
          <p:nvSpPr>
            <p:cNvPr id="31" name="Freeform 31"/>
            <p:cNvSpPr/>
            <p:nvPr/>
          </p:nvSpPr>
          <p:spPr>
            <a:xfrm>
              <a:off x="0" y="0"/>
              <a:ext cx="22098000" cy="38100"/>
            </a:xfrm>
            <a:custGeom>
              <a:avLst/>
              <a:gdLst/>
              <a:ahLst/>
              <a:cxnLst/>
              <a:rect l="l" t="t" r="r" b="b"/>
              <a:pathLst>
                <a:path w="22098000" h="38100">
                  <a:moveTo>
                    <a:pt x="0" y="0"/>
                  </a:moveTo>
                  <a:lnTo>
                    <a:pt x="22098000" y="0"/>
                  </a:lnTo>
                  <a:lnTo>
                    <a:pt x="22098000" y="38100"/>
                  </a:lnTo>
                  <a:lnTo>
                    <a:pt x="0" y="38100"/>
                  </a:lnTo>
                  <a:close/>
                </a:path>
              </a:pathLst>
            </a:custGeom>
            <a:solidFill>
              <a:srgbClr val="48A6D8"/>
            </a:solidFill>
          </p:spPr>
          <p:txBody>
            <a:bodyPr/>
            <a:lstStyle/>
            <a:p>
              <a:endParaRPr lang="vi-VN"/>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sp>
        <p:nvSpPr>
          <p:cNvPr id="4" name="TextBox 4"/>
          <p:cNvSpPr txBox="1"/>
          <p:nvPr/>
        </p:nvSpPr>
        <p:spPr>
          <a:xfrm>
            <a:off x="1643062" y="1985963"/>
            <a:ext cx="15787688" cy="965749"/>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[Nalla, 2025]</a:t>
            </a:r>
            <a:r>
              <a:rPr lang="en-US" sz="2025">
                <a:solidFill>
                  <a:srgbClr val="475569"/>
                </a:solidFill>
                <a:latin typeface="Open Sans"/>
                <a:ea typeface="Open Sans"/>
                <a:cs typeface="Open Sans"/>
                <a:sym typeface="Open Sans"/>
              </a:rPr>
              <a:t> N. R. Nalla, </a:t>
            </a:r>
            <a:r>
              <a:rPr lang="en-US" sz="2025" i="1">
                <a:solidFill>
                  <a:srgbClr val="475569"/>
                </a:solidFill>
                <a:latin typeface="Open Sans Italics"/>
                <a:ea typeface="Open Sans Italics"/>
                <a:cs typeface="Open Sans Italics"/>
                <a:sym typeface="Open Sans Italics"/>
              </a:rPr>
              <a:t>"Real-Time Data Processing Pipelines: Enhancing Decision Intelligence with Apache Spark and Kafka"</a:t>
            </a:r>
            <a:r>
              <a:rPr lang="en-US" sz="2025">
                <a:solidFill>
                  <a:srgbClr val="475569"/>
                </a:solidFill>
                <a:latin typeface="Open Sans"/>
                <a:ea typeface="Open Sans"/>
                <a:cs typeface="Open Sans"/>
                <a:sym typeface="Open Sans"/>
              </a:rPr>
              <a:t>, IJSRCSEIT, vol. 11, no. 2, 2025. </a:t>
            </a:r>
            <a:r>
              <a:rPr lang="en-US" sz="2025">
                <a:solidFill>
                  <a:srgbClr val="48A6D8"/>
                </a:solidFill>
                <a:latin typeface="Open Sans"/>
                <a:ea typeface="Open Sans"/>
                <a:cs typeface="Open Sans"/>
                <a:sym typeface="Open Sans"/>
              </a:rPr>
              <a:t>(Bài báo gốc nhóm mô phỏng)</a:t>
            </a:r>
          </a:p>
        </p:txBody>
      </p:sp>
      <p:sp>
        <p:nvSpPr>
          <p:cNvPr id="5" name="TextBox 5"/>
          <p:cNvSpPr txBox="1"/>
          <p:nvPr/>
        </p:nvSpPr>
        <p:spPr>
          <a:xfrm>
            <a:off x="1643062" y="2980287"/>
            <a:ext cx="15787688" cy="554307"/>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[Liu, 2008]</a:t>
            </a:r>
            <a:r>
              <a:rPr lang="en-US" sz="2025">
                <a:solidFill>
                  <a:srgbClr val="475569"/>
                </a:solidFill>
                <a:latin typeface="Open Sans"/>
                <a:ea typeface="Open Sans"/>
                <a:cs typeface="Open Sans"/>
                <a:sym typeface="Open Sans"/>
              </a:rPr>
              <a:t> F.-T. Liu, K. M. Ting, Z.-H. Zhou, </a:t>
            </a:r>
            <a:r>
              <a:rPr lang="en-US" sz="2025" i="1">
                <a:solidFill>
                  <a:srgbClr val="475569"/>
                </a:solidFill>
                <a:latin typeface="Open Sans Italics"/>
                <a:ea typeface="Open Sans Italics"/>
                <a:cs typeface="Open Sans Italics"/>
                <a:sym typeface="Open Sans Italics"/>
              </a:rPr>
              <a:t>"Isolation Forest"</a:t>
            </a:r>
            <a:r>
              <a:rPr lang="en-US" sz="2025">
                <a:solidFill>
                  <a:srgbClr val="475569"/>
                </a:solidFill>
                <a:latin typeface="Open Sans"/>
                <a:ea typeface="Open Sans"/>
                <a:cs typeface="Open Sans"/>
                <a:sym typeface="Open Sans"/>
              </a:rPr>
              <a:t>, IEEE ICDM, 2008.</a:t>
            </a:r>
          </a:p>
        </p:txBody>
      </p:sp>
      <p:sp>
        <p:nvSpPr>
          <p:cNvPr id="6" name="TextBox 6"/>
          <p:cNvSpPr txBox="1"/>
          <p:nvPr/>
        </p:nvSpPr>
        <p:spPr>
          <a:xfrm>
            <a:off x="1643062" y="3563169"/>
            <a:ext cx="15787688" cy="554307"/>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[Rousseeuw, 1999]</a:t>
            </a:r>
            <a:r>
              <a:rPr lang="en-US" sz="2025">
                <a:solidFill>
                  <a:srgbClr val="475569"/>
                </a:solidFill>
                <a:latin typeface="Open Sans"/>
                <a:ea typeface="Open Sans"/>
                <a:cs typeface="Open Sans"/>
                <a:sym typeface="Open Sans"/>
              </a:rPr>
              <a:t> P. J. Rousseeuw &amp; K. V. Driessen, </a:t>
            </a:r>
            <a:r>
              <a:rPr lang="en-US" sz="2025" i="1">
                <a:solidFill>
                  <a:srgbClr val="475569"/>
                </a:solidFill>
                <a:latin typeface="Open Sans Italics"/>
                <a:ea typeface="Open Sans Italics"/>
                <a:cs typeface="Open Sans Italics"/>
                <a:sym typeface="Open Sans Italics"/>
              </a:rPr>
              <a:t>"A fast algorithm for the MCD estimator"</a:t>
            </a:r>
            <a:r>
              <a:rPr lang="en-US" sz="2025">
                <a:solidFill>
                  <a:srgbClr val="475569"/>
                </a:solidFill>
                <a:latin typeface="Open Sans"/>
                <a:ea typeface="Open Sans"/>
                <a:cs typeface="Open Sans"/>
                <a:sym typeface="Open Sans"/>
              </a:rPr>
              <a:t>, Technometrics, 1999.</a:t>
            </a:r>
          </a:p>
        </p:txBody>
      </p:sp>
      <p:sp>
        <p:nvSpPr>
          <p:cNvPr id="7" name="TextBox 7"/>
          <p:cNvSpPr txBox="1"/>
          <p:nvPr/>
        </p:nvSpPr>
        <p:spPr>
          <a:xfrm>
            <a:off x="1643062" y="4146052"/>
            <a:ext cx="15787688" cy="554307"/>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[NYC TLC, 2026]</a:t>
            </a:r>
            <a:r>
              <a:rPr lang="en-US" sz="2025">
                <a:solidFill>
                  <a:srgbClr val="475569"/>
                </a:solidFill>
                <a:latin typeface="Open Sans"/>
                <a:ea typeface="Open Sans"/>
                <a:cs typeface="Open Sans"/>
                <a:sym typeface="Open Sans"/>
              </a:rPr>
              <a:t> NYC TLC, </a:t>
            </a:r>
            <a:r>
              <a:rPr lang="en-US" sz="2025" i="1">
                <a:solidFill>
                  <a:srgbClr val="475569"/>
                </a:solidFill>
                <a:latin typeface="Open Sans Italics"/>
                <a:ea typeface="Open Sans Italics"/>
                <a:cs typeface="Open Sans Italics"/>
                <a:sym typeface="Open Sans Italics"/>
              </a:rPr>
              <a:t>"TLC Trip Record Data — March 2026"</a:t>
            </a:r>
            <a:r>
              <a:rPr lang="en-US" sz="2025">
                <a:solidFill>
                  <a:srgbClr val="475569"/>
                </a:solidFill>
                <a:latin typeface="Open Sans"/>
                <a:ea typeface="Open Sans"/>
                <a:cs typeface="Open Sans"/>
                <a:sym typeface="Open Sans"/>
              </a:rPr>
              <a:t>, NYC Open Data Portal.</a:t>
            </a:r>
          </a:p>
        </p:txBody>
      </p:sp>
      <p:sp>
        <p:nvSpPr>
          <p:cNvPr id="8" name="TextBox 8"/>
          <p:cNvSpPr txBox="1"/>
          <p:nvPr/>
        </p:nvSpPr>
        <p:spPr>
          <a:xfrm>
            <a:off x="1643062" y="4728943"/>
            <a:ext cx="15787688" cy="554307"/>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[Kreps, 2011]</a:t>
            </a:r>
            <a:r>
              <a:rPr lang="en-US" sz="2025">
                <a:solidFill>
                  <a:srgbClr val="475569"/>
                </a:solidFill>
                <a:latin typeface="Open Sans"/>
                <a:ea typeface="Open Sans"/>
                <a:cs typeface="Open Sans"/>
                <a:sym typeface="Open Sans"/>
              </a:rPr>
              <a:t> J. Kreps, N. Narkhede, J. Rao, </a:t>
            </a:r>
            <a:r>
              <a:rPr lang="en-US" sz="2025" i="1">
                <a:solidFill>
                  <a:srgbClr val="475569"/>
                </a:solidFill>
                <a:latin typeface="Open Sans Italics"/>
                <a:ea typeface="Open Sans Italics"/>
                <a:cs typeface="Open Sans Italics"/>
                <a:sym typeface="Open Sans Italics"/>
              </a:rPr>
              <a:t>"Kafka: A Distributed Messaging System for Log Processing"</a:t>
            </a:r>
            <a:r>
              <a:rPr lang="en-US" sz="2025">
                <a:solidFill>
                  <a:srgbClr val="475569"/>
                </a:solidFill>
                <a:latin typeface="Open Sans"/>
                <a:ea typeface="Open Sans"/>
                <a:cs typeface="Open Sans"/>
                <a:sym typeface="Open Sans"/>
              </a:rPr>
              <a:t>, NetDB 2011.</a:t>
            </a:r>
          </a:p>
        </p:txBody>
      </p:sp>
      <p:sp>
        <p:nvSpPr>
          <p:cNvPr id="9" name="TextBox 9"/>
          <p:cNvSpPr txBox="1"/>
          <p:nvPr/>
        </p:nvSpPr>
        <p:spPr>
          <a:xfrm>
            <a:off x="1643062" y="5311826"/>
            <a:ext cx="15787688" cy="554307"/>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[Chandola, 2009]</a:t>
            </a:r>
            <a:r>
              <a:rPr lang="en-US" sz="2025">
                <a:solidFill>
                  <a:srgbClr val="475569"/>
                </a:solidFill>
                <a:latin typeface="Open Sans"/>
                <a:ea typeface="Open Sans"/>
                <a:cs typeface="Open Sans"/>
                <a:sym typeface="Open Sans"/>
              </a:rPr>
              <a:t> V. Chandola et al., </a:t>
            </a:r>
            <a:r>
              <a:rPr lang="en-US" sz="2025" i="1">
                <a:solidFill>
                  <a:srgbClr val="475569"/>
                </a:solidFill>
                <a:latin typeface="Open Sans Italics"/>
                <a:ea typeface="Open Sans Italics"/>
                <a:cs typeface="Open Sans Italics"/>
                <a:sym typeface="Open Sans Italics"/>
              </a:rPr>
              <a:t>"Anomaly detection: A survey"</a:t>
            </a:r>
            <a:r>
              <a:rPr lang="en-US" sz="2025">
                <a:solidFill>
                  <a:srgbClr val="475569"/>
                </a:solidFill>
                <a:latin typeface="Open Sans"/>
                <a:ea typeface="Open Sans"/>
                <a:cs typeface="Open Sans"/>
                <a:sym typeface="Open Sans"/>
              </a:rPr>
              <a:t>, ACM Comput. Surv., 2009.</a:t>
            </a:r>
          </a:p>
        </p:txBody>
      </p:sp>
      <p:sp>
        <p:nvSpPr>
          <p:cNvPr id="10" name="TextBox 10"/>
          <p:cNvSpPr txBox="1"/>
          <p:nvPr/>
        </p:nvSpPr>
        <p:spPr>
          <a:xfrm>
            <a:off x="1643062" y="5894708"/>
            <a:ext cx="15787688" cy="554307"/>
          </a:xfrm>
          <a:prstGeom prst="rect">
            <a:avLst/>
          </a:prstGeom>
        </p:spPr>
        <p:txBody>
          <a:bodyPr lIns="0" tIns="0" rIns="0" bIns="0" rtlCol="0" anchor="t">
            <a:spAutoFit/>
          </a:bodyPr>
          <a:lstStyle/>
          <a:p>
            <a:pPr algn="l">
              <a:lnSpc>
                <a:spcPts val="3887"/>
              </a:lnSpc>
            </a:pPr>
            <a:r>
              <a:rPr lang="en-US" sz="2025">
                <a:solidFill>
                  <a:srgbClr val="1E293B"/>
                </a:solidFill>
                <a:latin typeface="Open Sans"/>
                <a:ea typeface="Open Sans"/>
                <a:cs typeface="Open Sans"/>
                <a:sym typeface="Open Sans"/>
              </a:rPr>
              <a:t>[Apache Spark, 2025]</a:t>
            </a:r>
            <a:r>
              <a:rPr lang="en-US" sz="2025">
                <a:solidFill>
                  <a:srgbClr val="475569"/>
                </a:solidFill>
                <a:latin typeface="Open Sans"/>
                <a:ea typeface="Open Sans"/>
                <a:cs typeface="Open Sans"/>
                <a:sym typeface="Open Sans"/>
              </a:rPr>
              <a:t> </a:t>
            </a:r>
            <a:r>
              <a:rPr lang="en-US" sz="2025" i="1">
                <a:solidFill>
                  <a:srgbClr val="475569"/>
                </a:solidFill>
                <a:latin typeface="Open Sans Italics"/>
                <a:ea typeface="Open Sans Italics"/>
                <a:cs typeface="Open Sans Italics"/>
                <a:sym typeface="Open Sans Italics"/>
              </a:rPr>
              <a:t>"Structured Streaming Programming Guide"</a:t>
            </a:r>
            <a:r>
              <a:rPr lang="en-US" sz="2025">
                <a:solidFill>
                  <a:srgbClr val="475569"/>
                </a:solidFill>
                <a:latin typeface="Open Sans"/>
                <a:ea typeface="Open Sans"/>
                <a:cs typeface="Open Sans"/>
                <a:sym typeface="Open Sans"/>
              </a:rPr>
              <a:t>, Apache Spark v4.1.1 Documentation.</a:t>
            </a:r>
          </a:p>
        </p:txBody>
      </p:sp>
      <p:sp>
        <p:nvSpPr>
          <p:cNvPr id="11" name="TextBox 11"/>
          <p:cNvSpPr txBox="1"/>
          <p:nvPr/>
        </p:nvSpPr>
        <p:spPr>
          <a:xfrm>
            <a:off x="857250" y="857250"/>
            <a:ext cx="17402175" cy="700088"/>
          </a:xfrm>
          <a:prstGeom prst="rect">
            <a:avLst/>
          </a:prstGeom>
        </p:spPr>
        <p:txBody>
          <a:bodyPr lIns="0" tIns="0" rIns="0" bIns="0" rtlCol="0" anchor="t">
            <a:spAutoFit/>
          </a:bodyPr>
          <a:lstStyle/>
          <a:p>
            <a:pPr algn="l">
              <a:lnSpc>
                <a:spcPts val="5130"/>
              </a:lnSpc>
            </a:pPr>
            <a:r>
              <a:rPr lang="en-US" sz="4275" b="1">
                <a:solidFill>
                  <a:srgbClr val="164673"/>
                </a:solidFill>
                <a:latin typeface="Montserrat Bold"/>
                <a:ea typeface="Montserrat Bold"/>
                <a:cs typeface="Montserrat Bold"/>
                <a:sym typeface="Montserrat Bold"/>
              </a:rPr>
              <a:t>TÀI LIỆU THAM KHẢO CHÍNH</a:t>
            </a:r>
          </a:p>
        </p:txBody>
      </p:sp>
      <p:grpSp>
        <p:nvGrpSpPr>
          <p:cNvPr id="12" name="Group 12"/>
          <p:cNvGrpSpPr/>
          <p:nvPr/>
        </p:nvGrpSpPr>
        <p:grpSpPr>
          <a:xfrm>
            <a:off x="857250" y="1671638"/>
            <a:ext cx="16573500" cy="28575"/>
            <a:chOff x="0" y="0"/>
            <a:chExt cx="22098000" cy="38100"/>
          </a:xfrm>
        </p:grpSpPr>
        <p:sp>
          <p:nvSpPr>
            <p:cNvPr id="13" name="Freeform 13"/>
            <p:cNvSpPr/>
            <p:nvPr/>
          </p:nvSpPr>
          <p:spPr>
            <a:xfrm>
              <a:off x="0" y="0"/>
              <a:ext cx="22098000" cy="38100"/>
            </a:xfrm>
            <a:custGeom>
              <a:avLst/>
              <a:gdLst/>
              <a:ahLst/>
              <a:cxnLst/>
              <a:rect l="l" t="t" r="r" b="b"/>
              <a:pathLst>
                <a:path w="22098000" h="38100">
                  <a:moveTo>
                    <a:pt x="0" y="0"/>
                  </a:moveTo>
                  <a:lnTo>
                    <a:pt x="22098000" y="0"/>
                  </a:lnTo>
                  <a:lnTo>
                    <a:pt x="22098000" y="38100"/>
                  </a:lnTo>
                  <a:lnTo>
                    <a:pt x="0" y="38100"/>
                  </a:lnTo>
                  <a:close/>
                </a:path>
              </a:pathLst>
            </a:custGeom>
            <a:solidFill>
              <a:srgbClr val="48A6D8"/>
            </a:solidFill>
          </p:spPr>
          <p:txBody>
            <a:bodyPr/>
            <a:lstStyle/>
            <a:p>
              <a:endParaRPr lang="vi-VN"/>
            </a:p>
          </p:txBody>
        </p:sp>
      </p:grpSp>
      <p:grpSp>
        <p:nvGrpSpPr>
          <p:cNvPr id="14" name="Group 14"/>
          <p:cNvGrpSpPr/>
          <p:nvPr/>
        </p:nvGrpSpPr>
        <p:grpSpPr>
          <a:xfrm>
            <a:off x="1285875" y="2157412"/>
            <a:ext cx="157162" cy="271462"/>
            <a:chOff x="0" y="0"/>
            <a:chExt cx="209550" cy="361950"/>
          </a:xfrm>
        </p:grpSpPr>
        <p:sp>
          <p:nvSpPr>
            <p:cNvPr id="15" name="Freeform 15"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4"/>
              <a:stretch>
                <a:fillRect/>
              </a:stretch>
            </a:blipFill>
          </p:spPr>
          <p:txBody>
            <a:bodyPr/>
            <a:lstStyle/>
            <a:p>
              <a:endParaRPr lang="vi-VN"/>
            </a:p>
          </p:txBody>
        </p:sp>
      </p:grpSp>
      <p:grpSp>
        <p:nvGrpSpPr>
          <p:cNvPr id="16" name="Group 16"/>
          <p:cNvGrpSpPr/>
          <p:nvPr/>
        </p:nvGrpSpPr>
        <p:grpSpPr>
          <a:xfrm>
            <a:off x="1285875" y="3151737"/>
            <a:ext cx="157162" cy="271462"/>
            <a:chOff x="0" y="0"/>
            <a:chExt cx="209550" cy="361950"/>
          </a:xfrm>
        </p:grpSpPr>
        <p:sp>
          <p:nvSpPr>
            <p:cNvPr id="17" name="Freeform 17"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4"/>
              <a:stretch>
                <a:fillRect/>
              </a:stretch>
            </a:blipFill>
          </p:spPr>
          <p:txBody>
            <a:bodyPr/>
            <a:lstStyle/>
            <a:p>
              <a:endParaRPr lang="vi-VN"/>
            </a:p>
          </p:txBody>
        </p:sp>
      </p:grpSp>
      <p:grpSp>
        <p:nvGrpSpPr>
          <p:cNvPr id="18" name="Group 18"/>
          <p:cNvGrpSpPr/>
          <p:nvPr/>
        </p:nvGrpSpPr>
        <p:grpSpPr>
          <a:xfrm>
            <a:off x="1285875" y="3734619"/>
            <a:ext cx="157162" cy="271462"/>
            <a:chOff x="0" y="0"/>
            <a:chExt cx="209550" cy="361950"/>
          </a:xfrm>
        </p:grpSpPr>
        <p:sp>
          <p:nvSpPr>
            <p:cNvPr id="19" name="Freeform 19"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4"/>
              <a:stretch>
                <a:fillRect/>
              </a:stretch>
            </a:blipFill>
          </p:spPr>
          <p:txBody>
            <a:bodyPr/>
            <a:lstStyle/>
            <a:p>
              <a:endParaRPr lang="vi-VN"/>
            </a:p>
          </p:txBody>
        </p:sp>
      </p:grpSp>
      <p:grpSp>
        <p:nvGrpSpPr>
          <p:cNvPr id="20" name="Group 20"/>
          <p:cNvGrpSpPr/>
          <p:nvPr/>
        </p:nvGrpSpPr>
        <p:grpSpPr>
          <a:xfrm>
            <a:off x="1285875" y="4317502"/>
            <a:ext cx="157162" cy="271462"/>
            <a:chOff x="0" y="0"/>
            <a:chExt cx="209550" cy="361950"/>
          </a:xfrm>
        </p:grpSpPr>
        <p:sp>
          <p:nvSpPr>
            <p:cNvPr id="21" name="Freeform 21"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4"/>
              <a:stretch>
                <a:fillRect/>
              </a:stretch>
            </a:blipFill>
          </p:spPr>
          <p:txBody>
            <a:bodyPr/>
            <a:lstStyle/>
            <a:p>
              <a:endParaRPr lang="vi-VN"/>
            </a:p>
          </p:txBody>
        </p:sp>
      </p:grpSp>
      <p:grpSp>
        <p:nvGrpSpPr>
          <p:cNvPr id="22" name="Group 22"/>
          <p:cNvGrpSpPr/>
          <p:nvPr/>
        </p:nvGrpSpPr>
        <p:grpSpPr>
          <a:xfrm>
            <a:off x="1285875" y="4900393"/>
            <a:ext cx="157162" cy="271462"/>
            <a:chOff x="0" y="0"/>
            <a:chExt cx="209550" cy="361950"/>
          </a:xfrm>
        </p:grpSpPr>
        <p:sp>
          <p:nvSpPr>
            <p:cNvPr id="23" name="Freeform 23"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4"/>
              <a:stretch>
                <a:fillRect/>
              </a:stretch>
            </a:blipFill>
          </p:spPr>
          <p:txBody>
            <a:bodyPr/>
            <a:lstStyle/>
            <a:p>
              <a:endParaRPr lang="vi-VN"/>
            </a:p>
          </p:txBody>
        </p:sp>
      </p:grpSp>
      <p:grpSp>
        <p:nvGrpSpPr>
          <p:cNvPr id="24" name="Group 24"/>
          <p:cNvGrpSpPr/>
          <p:nvPr/>
        </p:nvGrpSpPr>
        <p:grpSpPr>
          <a:xfrm>
            <a:off x="1285875" y="5483276"/>
            <a:ext cx="157162" cy="271462"/>
            <a:chOff x="0" y="0"/>
            <a:chExt cx="209550" cy="361950"/>
          </a:xfrm>
        </p:grpSpPr>
        <p:sp>
          <p:nvSpPr>
            <p:cNvPr id="25" name="Freeform 25"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4"/>
              <a:stretch>
                <a:fillRect/>
              </a:stretch>
            </a:blipFill>
          </p:spPr>
          <p:txBody>
            <a:bodyPr/>
            <a:lstStyle/>
            <a:p>
              <a:endParaRPr lang="vi-VN"/>
            </a:p>
          </p:txBody>
        </p:sp>
      </p:grpSp>
      <p:grpSp>
        <p:nvGrpSpPr>
          <p:cNvPr id="26" name="Group 26"/>
          <p:cNvGrpSpPr/>
          <p:nvPr/>
        </p:nvGrpSpPr>
        <p:grpSpPr>
          <a:xfrm>
            <a:off x="1285875" y="6066158"/>
            <a:ext cx="157162" cy="271462"/>
            <a:chOff x="0" y="0"/>
            <a:chExt cx="209550" cy="361950"/>
          </a:xfrm>
        </p:grpSpPr>
        <p:sp>
          <p:nvSpPr>
            <p:cNvPr id="27" name="Freeform 27" descr="image.png"/>
            <p:cNvSpPr/>
            <p:nvPr/>
          </p:nvSpPr>
          <p:spPr>
            <a:xfrm>
              <a:off x="0" y="0"/>
              <a:ext cx="209550" cy="361950"/>
            </a:xfrm>
            <a:custGeom>
              <a:avLst/>
              <a:gdLst/>
              <a:ahLst/>
              <a:cxnLst/>
              <a:rect l="l" t="t" r="r" b="b"/>
              <a:pathLst>
                <a:path w="209550" h="361950">
                  <a:moveTo>
                    <a:pt x="0" y="0"/>
                  </a:moveTo>
                  <a:lnTo>
                    <a:pt x="209550" y="0"/>
                  </a:lnTo>
                  <a:lnTo>
                    <a:pt x="209550" y="361950"/>
                  </a:lnTo>
                  <a:lnTo>
                    <a:pt x="0" y="361950"/>
                  </a:lnTo>
                  <a:lnTo>
                    <a:pt x="0" y="0"/>
                  </a:lnTo>
                  <a:close/>
                </a:path>
              </a:pathLst>
            </a:custGeom>
            <a:blipFill>
              <a:blip r:embed="rId4"/>
              <a:stretch>
                <a:fillRect/>
              </a:stretch>
            </a:blipFill>
          </p:spPr>
          <p:txBody>
            <a:bodyPr/>
            <a:lstStyle/>
            <a:p>
              <a:endParaRPr lang="vi-VN"/>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descr="image.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txBody>
            <a:bodyPr/>
            <a:lstStyle/>
            <a:p>
              <a:endParaRPr lang="vi-VN"/>
            </a:p>
          </p:txBody>
        </p:sp>
      </p:grpSp>
      <p:grpSp>
        <p:nvGrpSpPr>
          <p:cNvPr id="4" name="Group 4"/>
          <p:cNvGrpSpPr/>
          <p:nvPr/>
        </p:nvGrpSpPr>
        <p:grpSpPr>
          <a:xfrm>
            <a:off x="4007644" y="4991919"/>
            <a:ext cx="10272712" cy="3151727"/>
            <a:chOff x="0" y="0"/>
            <a:chExt cx="13696950" cy="4202303"/>
          </a:xfrm>
        </p:grpSpPr>
        <p:sp>
          <p:nvSpPr>
            <p:cNvPr id="5" name="Freeform 5" descr="image.png"/>
            <p:cNvSpPr/>
            <p:nvPr/>
          </p:nvSpPr>
          <p:spPr>
            <a:xfrm>
              <a:off x="0" y="0"/>
              <a:ext cx="13696950" cy="4202303"/>
            </a:xfrm>
            <a:custGeom>
              <a:avLst/>
              <a:gdLst/>
              <a:ahLst/>
              <a:cxnLst/>
              <a:rect l="l" t="t" r="r" b="b"/>
              <a:pathLst>
                <a:path w="13696950" h="4202303">
                  <a:moveTo>
                    <a:pt x="0" y="0"/>
                  </a:moveTo>
                  <a:lnTo>
                    <a:pt x="13696950" y="0"/>
                  </a:lnTo>
                  <a:lnTo>
                    <a:pt x="13696950" y="4202303"/>
                  </a:lnTo>
                  <a:lnTo>
                    <a:pt x="0" y="4202303"/>
                  </a:lnTo>
                  <a:lnTo>
                    <a:pt x="0" y="0"/>
                  </a:lnTo>
                  <a:close/>
                </a:path>
              </a:pathLst>
            </a:custGeom>
            <a:blipFill>
              <a:blip r:embed="rId4"/>
              <a:stretch>
                <a:fillRect b="-45"/>
              </a:stretch>
            </a:blipFill>
          </p:spPr>
          <p:txBody>
            <a:bodyPr/>
            <a:lstStyle/>
            <a:p>
              <a:endParaRPr lang="vi-VN" dirty="0"/>
            </a:p>
          </p:txBody>
        </p:sp>
      </p:grpSp>
      <p:sp>
        <p:nvSpPr>
          <p:cNvPr id="6" name="TextBox 6"/>
          <p:cNvSpPr txBox="1"/>
          <p:nvPr/>
        </p:nvSpPr>
        <p:spPr>
          <a:xfrm>
            <a:off x="442912" y="2143125"/>
            <a:ext cx="17402175" cy="1228725"/>
          </a:xfrm>
          <a:prstGeom prst="rect">
            <a:avLst/>
          </a:prstGeom>
        </p:spPr>
        <p:txBody>
          <a:bodyPr lIns="0" tIns="0" rIns="0" bIns="0" rtlCol="0" anchor="t">
            <a:spAutoFit/>
          </a:bodyPr>
          <a:lstStyle/>
          <a:p>
            <a:pPr algn="ctr">
              <a:lnSpc>
                <a:spcPts val="9450"/>
              </a:lnSpc>
            </a:pPr>
            <a:r>
              <a:rPr lang="en-US" sz="7875" b="1">
                <a:solidFill>
                  <a:srgbClr val="FFFFFF"/>
                </a:solidFill>
                <a:latin typeface="Montserrat Bold"/>
                <a:ea typeface="Montserrat Bold"/>
                <a:cs typeface="Montserrat Bold"/>
                <a:sym typeface="Montserrat Bold"/>
              </a:rPr>
              <a:t>XIN CẢM ƠN!</a:t>
            </a:r>
          </a:p>
        </p:txBody>
      </p:sp>
      <p:sp>
        <p:nvSpPr>
          <p:cNvPr id="7" name="TextBox 7"/>
          <p:cNvSpPr txBox="1"/>
          <p:nvPr/>
        </p:nvSpPr>
        <p:spPr>
          <a:xfrm>
            <a:off x="857250" y="3467100"/>
            <a:ext cx="16573500" cy="601001"/>
          </a:xfrm>
          <a:prstGeom prst="rect">
            <a:avLst/>
          </a:prstGeom>
        </p:spPr>
        <p:txBody>
          <a:bodyPr lIns="0" tIns="0" rIns="0" bIns="0" rtlCol="0" anchor="t">
            <a:spAutoFit/>
          </a:bodyPr>
          <a:lstStyle/>
          <a:p>
            <a:pPr algn="ctr">
              <a:lnSpc>
                <a:spcPts val="5182"/>
              </a:lnSpc>
            </a:pPr>
            <a:r>
              <a:rPr lang="en-US" sz="2700">
                <a:solidFill>
                  <a:srgbClr val="FFFFFF"/>
                </a:solidFill>
                <a:latin typeface="Open Sans"/>
                <a:ea typeface="Open Sans"/>
                <a:cs typeface="Open Sans"/>
                <a:sym typeface="Open Sans"/>
              </a:rPr>
              <a:t>Thầy/Cô đã chú ý lắng nghe.</a:t>
            </a:r>
          </a:p>
        </p:txBody>
      </p:sp>
      <p:sp>
        <p:nvSpPr>
          <p:cNvPr id="8" name="TextBox 8"/>
          <p:cNvSpPr txBox="1"/>
          <p:nvPr/>
        </p:nvSpPr>
        <p:spPr>
          <a:xfrm>
            <a:off x="4450556" y="5282432"/>
            <a:ext cx="9387002" cy="498900"/>
          </a:xfrm>
          <a:prstGeom prst="rect">
            <a:avLst/>
          </a:prstGeom>
        </p:spPr>
        <p:txBody>
          <a:bodyPr lIns="0" tIns="0" rIns="0" bIns="0" rtlCol="0" anchor="t">
            <a:spAutoFit/>
          </a:bodyPr>
          <a:lstStyle/>
          <a:p>
            <a:pPr algn="ctr">
              <a:lnSpc>
                <a:spcPts val="4320"/>
              </a:lnSpc>
            </a:pPr>
            <a:r>
              <a:rPr lang="en-US" sz="2250">
                <a:solidFill>
                  <a:srgbClr val="FFFFFF"/>
                </a:solidFill>
                <a:latin typeface="Open Sans"/>
                <a:ea typeface="Open Sans"/>
                <a:cs typeface="Open Sans"/>
                <a:sym typeface="Open Sans"/>
              </a:rPr>
              <a:t>Phạm Hùng Quốc Việt | 23521783</a:t>
            </a:r>
          </a:p>
        </p:txBody>
      </p:sp>
      <p:sp>
        <p:nvSpPr>
          <p:cNvPr id="9" name="TextBox 9"/>
          <p:cNvSpPr txBox="1"/>
          <p:nvPr/>
        </p:nvSpPr>
        <p:spPr>
          <a:xfrm>
            <a:off x="7024827" y="5882507"/>
            <a:ext cx="4238460" cy="489552"/>
          </a:xfrm>
          <a:prstGeom prst="rect">
            <a:avLst/>
          </a:prstGeom>
        </p:spPr>
        <p:txBody>
          <a:bodyPr lIns="0" tIns="0" rIns="0" bIns="0" rtlCol="0" anchor="t">
            <a:spAutoFit/>
          </a:bodyPr>
          <a:lstStyle/>
          <a:p>
            <a:pPr algn="ctr">
              <a:lnSpc>
                <a:spcPts val="4320"/>
              </a:lnSpc>
            </a:pPr>
            <a:r>
              <a:rPr lang="en-US" sz="2250" dirty="0">
                <a:solidFill>
                  <a:srgbClr val="FFFFFF"/>
                </a:solidFill>
                <a:latin typeface="Open Sans"/>
                <a:ea typeface="Open Sans"/>
                <a:cs typeface="Open Sans"/>
                <a:sym typeface="Open Sans"/>
              </a:rPr>
              <a:t>Lê Ngô Minh Hoàng |23520523</a:t>
            </a:r>
          </a:p>
        </p:txBody>
      </p:sp>
      <p:grpSp>
        <p:nvGrpSpPr>
          <p:cNvPr id="10" name="Group 10"/>
          <p:cNvGrpSpPr/>
          <p:nvPr/>
        </p:nvGrpSpPr>
        <p:grpSpPr>
          <a:xfrm>
            <a:off x="4450556" y="6706419"/>
            <a:ext cx="9386888" cy="28575"/>
            <a:chOff x="0" y="0"/>
            <a:chExt cx="12515850" cy="38100"/>
          </a:xfrm>
        </p:grpSpPr>
        <p:sp>
          <p:nvSpPr>
            <p:cNvPr id="11" name="Freeform 11"/>
            <p:cNvSpPr/>
            <p:nvPr/>
          </p:nvSpPr>
          <p:spPr>
            <a:xfrm>
              <a:off x="0" y="0"/>
              <a:ext cx="12515850" cy="38100"/>
            </a:xfrm>
            <a:custGeom>
              <a:avLst/>
              <a:gdLst/>
              <a:ahLst/>
              <a:cxnLst/>
              <a:rect l="l" t="t" r="r" b="b"/>
              <a:pathLst>
                <a:path w="12515850" h="38100">
                  <a:moveTo>
                    <a:pt x="0" y="0"/>
                  </a:moveTo>
                  <a:lnTo>
                    <a:pt x="12515850" y="0"/>
                  </a:lnTo>
                  <a:lnTo>
                    <a:pt x="12515850" y="38100"/>
                  </a:lnTo>
                  <a:lnTo>
                    <a:pt x="0" y="38100"/>
                  </a:lnTo>
                  <a:close/>
                </a:path>
              </a:pathLst>
            </a:custGeom>
            <a:solidFill>
              <a:srgbClr val="FFFFFF"/>
            </a:solidFill>
          </p:spPr>
          <p:txBody>
            <a:bodyPr/>
            <a:lstStyle/>
            <a:p>
              <a:endParaRPr lang="vi-VN"/>
            </a:p>
          </p:txBody>
        </p:sp>
      </p:grpSp>
      <p:sp>
        <p:nvSpPr>
          <p:cNvPr id="12" name="TextBox 12"/>
          <p:cNvSpPr txBox="1"/>
          <p:nvPr/>
        </p:nvSpPr>
        <p:spPr>
          <a:xfrm>
            <a:off x="4450556" y="6835007"/>
            <a:ext cx="9386888" cy="479974"/>
          </a:xfrm>
          <a:prstGeom prst="rect">
            <a:avLst/>
          </a:prstGeom>
        </p:spPr>
        <p:txBody>
          <a:bodyPr lIns="0" tIns="0" rIns="0" bIns="0" rtlCol="0" anchor="t">
            <a:spAutoFit/>
          </a:bodyPr>
          <a:lstStyle/>
          <a:p>
            <a:pPr algn="ctr">
              <a:lnSpc>
                <a:spcPts val="3456"/>
              </a:lnSpc>
            </a:pPr>
            <a:r>
              <a:rPr lang="en-US" sz="1800">
                <a:solidFill>
                  <a:srgbClr val="CBD5E1"/>
                </a:solidFill>
                <a:latin typeface="Open Sans"/>
                <a:ea typeface="Open Sans"/>
                <a:cs typeface="Open Sans"/>
                <a:sym typeface="Open Sans"/>
              </a:rPr>
              <a:t>Source Code &amp; Dashboard:</a:t>
            </a:r>
          </a:p>
        </p:txBody>
      </p:sp>
      <p:sp>
        <p:nvSpPr>
          <p:cNvPr id="13" name="TextBox 13"/>
          <p:cNvSpPr txBox="1"/>
          <p:nvPr/>
        </p:nvSpPr>
        <p:spPr>
          <a:xfrm>
            <a:off x="4450556" y="7395943"/>
            <a:ext cx="9386888" cy="304800"/>
          </a:xfrm>
          <a:prstGeom prst="rect">
            <a:avLst/>
          </a:prstGeom>
        </p:spPr>
        <p:txBody>
          <a:bodyPr lIns="0" tIns="0" rIns="0" bIns="0" rtlCol="0" anchor="t">
            <a:spAutoFit/>
          </a:bodyPr>
          <a:lstStyle/>
          <a:p>
            <a:pPr algn="ctr">
              <a:lnSpc>
                <a:spcPts val="2160"/>
              </a:lnSpc>
            </a:pPr>
            <a:r>
              <a:rPr lang="en-US" sz="1800">
                <a:solidFill>
                  <a:srgbClr val="48A6D8"/>
                </a:solidFill>
                <a:latin typeface="Open Sans"/>
                <a:ea typeface="Open Sans"/>
                <a:cs typeface="Open Sans"/>
                <a:sym typeface="Open Sans"/>
              </a:rPr>
              <a:t>github.com/vietpham10205/real-time-Fleet-Intelligence-anomally-detection-dashboard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3614</Words>
  <Application>Microsoft Office PowerPoint</Application>
  <PresentationFormat>Custom</PresentationFormat>
  <Paragraphs>389</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Montserrat Bold</vt:lpstr>
      <vt:lpstr>Calibri</vt:lpstr>
      <vt:lpstr>Open Sans</vt:lpstr>
      <vt:lpstr>Open Sans Italics</vt:lpstr>
      <vt:lpstr>Open Sans Bold</vt:lpstr>
      <vt:lpstr>Arial</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Fleet Intelligence Pipeline</dc:title>
  <cp:lastModifiedBy>Phạm Hùng Quốc Việt</cp:lastModifiedBy>
  <cp:revision>3</cp:revision>
  <dcterms:created xsi:type="dcterms:W3CDTF">2006-08-16T00:00:00Z</dcterms:created>
  <dcterms:modified xsi:type="dcterms:W3CDTF">2026-06-05T04:19:01Z</dcterms:modified>
  <dc:identifier>DAHLlEdfKnE</dc:identifier>
</cp:coreProperties>
</file>